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90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91E1686-C78F-4C0E-93FF-2A181AD9075D}" v="1" dt="2026-05-16T13:08:34.8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theme" Target="theme/theme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5/10/relationships/revisionInfo" Target="revisionInfo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presProps" Target="presProps.xml"/><Relationship Id="rId40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ssimo Petrolati" userId="e7daa978-26e3-4c4e-8847-ea9e36559ae5" providerId="ADAL" clId="{A7182F9C-EEA7-476B-8E0E-53730D456657}"/>
    <pc:docChg chg="addSld modSld sldOrd">
      <pc:chgData name="Massimo Petrolati" userId="e7daa978-26e3-4c4e-8847-ea9e36559ae5" providerId="ADAL" clId="{A7182F9C-EEA7-476B-8E0E-53730D456657}" dt="2026-05-16T13:08:57.108" v="39" actId="20577"/>
      <pc:docMkLst>
        <pc:docMk/>
      </pc:docMkLst>
      <pc:sldChg chg="modSp add mod ord modTransition">
        <pc:chgData name="Massimo Petrolati" userId="e7daa978-26e3-4c4e-8847-ea9e36559ae5" providerId="ADAL" clId="{A7182F9C-EEA7-476B-8E0E-53730D456657}" dt="2026-05-16T13:08:57.108" v="39" actId="20577"/>
        <pc:sldMkLst>
          <pc:docMk/>
          <pc:sldMk cId="2685233201" sldId="290"/>
        </pc:sldMkLst>
        <pc:spChg chg="mod">
          <ac:chgData name="Massimo Petrolati" userId="e7daa978-26e3-4c4e-8847-ea9e36559ae5" providerId="ADAL" clId="{A7182F9C-EEA7-476B-8E0E-53730D456657}" dt="2026-05-16T13:08:57.108" v="39" actId="20577"/>
          <ac:spMkLst>
            <pc:docMk/>
            <pc:sldMk cId="2685233201" sldId="290"/>
            <ac:spMk id="17" creationId="{E660CF5B-BDDE-A2B6-465D-1938C343BA01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magine 6">
            <a:extLst>
              <a:ext uri="{FF2B5EF4-FFF2-40B4-BE49-F238E27FC236}">
                <a16:creationId xmlns:a16="http://schemas.microsoft.com/office/drawing/2014/main" id="{09C6A910-B62B-D5C1-D10E-82D425941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01632072-FBA4-DEF6-3FF9-6E3E001DD4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54200" y="5811443"/>
            <a:ext cx="7035800" cy="987517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B183F8F2-7E4B-0C63-41FC-E499C02BED1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7824" y="2932044"/>
            <a:ext cx="8216348" cy="1128248"/>
          </a:xfrm>
          <a:prstGeom prst="rect">
            <a:avLst/>
          </a:prstGeom>
        </p:spPr>
      </p:pic>
      <p:pic>
        <p:nvPicPr>
          <p:cNvPr id="15" name="Immagine 14">
            <a:extLst>
              <a:ext uri="{FF2B5EF4-FFF2-40B4-BE49-F238E27FC236}">
                <a16:creationId xmlns:a16="http://schemas.microsoft.com/office/drawing/2014/main" id="{6DD2E793-D920-63C5-B636-69383566EC0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32141" y="1988220"/>
            <a:ext cx="4727713" cy="1202635"/>
          </a:xfrm>
          <a:prstGeom prst="rect">
            <a:avLst/>
          </a:prstGeom>
        </p:spPr>
      </p:pic>
      <p:sp>
        <p:nvSpPr>
          <p:cNvPr id="16" name="Titolo 1">
            <a:extLst>
              <a:ext uri="{FF2B5EF4-FFF2-40B4-BE49-F238E27FC236}">
                <a16:creationId xmlns:a16="http://schemas.microsoft.com/office/drawing/2014/main" id="{3A271565-6D7D-D77C-24F3-78367CF1C40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 rot="60000">
            <a:off x="1523975" y="1978908"/>
            <a:ext cx="9144000" cy="968308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it-IT" sz="4400" b="1" dirty="0">
                <a:solidFill>
                  <a:srgbClr val="3C3C3B"/>
                </a:solidFill>
                <a:latin typeface="Albert Sans ExtraBold" pitchFamily="2" charset="77"/>
                <a:cs typeface="Trade Gothic Inline" panose="020F0502020204030204" pitchFamily="34" charset="0"/>
              </a:rPr>
              <a:t>Massimo Petrolati</a:t>
            </a:r>
            <a:endParaRPr lang="it-IT" b="1" dirty="0">
              <a:solidFill>
                <a:schemeClr val="bg1"/>
              </a:solidFill>
              <a:latin typeface="Albert Sans ExtraBold" pitchFamily="2" charset="77"/>
              <a:cs typeface="Trade Gothic Inline" panose="020F0502020204030204" pitchFamily="34" charset="0"/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E660CF5B-BDDE-A2B6-465D-1938C343BA01}"/>
              </a:ext>
            </a:extLst>
          </p:cNvPr>
          <p:cNvSpPr txBox="1"/>
          <p:nvPr/>
        </p:nvSpPr>
        <p:spPr>
          <a:xfrm rot="-60000">
            <a:off x="1969688" y="3268800"/>
            <a:ext cx="823313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it-IT" sz="4000" b="1" dirty="0">
                <a:solidFill>
                  <a:schemeClr val="bg1"/>
                </a:solidFill>
                <a:latin typeface="Albert Sans ExtraBold" pitchFamily="2" charset="77"/>
                <a:cs typeface="Trade Gothic Inline" panose="020F0502020204030204" pitchFamily="34" charset="0"/>
              </a:rPr>
              <a:t>Express base e struttura del progetto</a:t>
            </a:r>
            <a:endParaRPr lang="it-IT" sz="4000" dirty="0"/>
          </a:p>
        </p:txBody>
      </p:sp>
    </p:spTree>
    <p:extLst>
      <p:ext uri="{BB962C8B-B14F-4D97-AF65-F5344CB8AC3E}">
        <p14:creationId xmlns:p14="http://schemas.microsoft.com/office/powerpoint/2010/main" val="26852332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91440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80D3CE"/>
                </a:solidFill>
                <a:latin typeface="Open Sans"/>
              </a:rPr>
              <a:t>CORSO NODE.JS + EXPRESS + JWT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6304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Open Sans"/>
              </a:rPr>
              <a:t>Express base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468880"/>
            <a:ext cx="1069848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6000" b="1">
                <a:solidFill>
                  <a:srgbClr val="FFFFFF"/>
                </a:solidFill>
                <a:latin typeface="Open Sans"/>
              </a:rPr>
              <a:t>e struttura del progetto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931920"/>
            <a:ext cx="1069848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400" b="0">
                <a:solidFill>
                  <a:srgbClr val="80D3CE"/>
                </a:solidFill>
                <a:latin typeface="Open Sans"/>
              </a:rPr>
              <a:t>Da Node “nudo” a Express: routing, middleware,
struttura a layer e primo CRUD.</a:t>
            </a:r>
          </a:p>
        </p:txBody>
      </p:sp>
      <p:sp>
        <p:nvSpPr>
          <p:cNvPr id="7" name="Rectangle 6"/>
          <p:cNvSpPr/>
          <p:nvPr/>
        </p:nvSpPr>
        <p:spPr>
          <a:xfrm>
            <a:off x="731520" y="4846320"/>
            <a:ext cx="109728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731520" y="502920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Open Sans"/>
              </a:rPr>
              <a:t>Giorno 1 — Parte 2 / 2 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440680"/>
            <a:ext cx="73152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90909B"/>
                </a:solidFill>
                <a:latin typeface="Open Sans"/>
              </a:rPr>
              <a:t>Livello base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557784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000" b="1">
                <a:solidFill>
                  <a:srgbClr val="33B8B1"/>
                </a:solidFill>
                <a:latin typeface="Open Sans"/>
              </a:rPr>
              <a:t>DOCENTE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06640" y="5897880"/>
            <a:ext cx="448056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Open Sans"/>
              </a:rPr>
              <a:t>Massimo Petrolati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6263640"/>
            <a:ext cx="448056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0">
                <a:solidFill>
                  <a:srgbClr val="80D3CE"/>
                </a:solidFill>
                <a:latin typeface="Open Sans"/>
              </a:rPr>
              <a:t>Product Manager · Namirial SpA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73152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0080"/>
            <a:ext cx="109728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600" b="1">
                <a:solidFill>
                  <a:srgbClr val="111820"/>
                </a:solidFill>
                <a:latin typeface="Open Sans"/>
              </a:rPr>
              <a:t>Cosa vedremo oggi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69164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3B8B1"/>
                </a:solidFill>
                <a:latin typeface="Ope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173736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820"/>
                </a:solidFill>
                <a:latin typeface="Open Sans"/>
              </a:rPr>
              <a:t>Perché Express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78308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0909B"/>
                </a:solidFill>
                <a:latin typeface="Open Sans"/>
              </a:rPr>
              <a:t>≈15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404872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3B8B1"/>
                </a:solidFill>
                <a:latin typeface="Open San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11680" y="2450591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820"/>
                </a:solidFill>
                <a:latin typeface="Open Sans"/>
              </a:rPr>
              <a:t>Setup di un progetto Express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2496312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0909B"/>
                </a:solidFill>
                <a:latin typeface="Open Sans"/>
              </a:rPr>
              <a:t>≈20 min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118104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3B8B1"/>
                </a:solidFill>
                <a:latin typeface="Open Sans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011680" y="3163824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820"/>
                </a:solidFill>
                <a:latin typeface="Open Sans"/>
              </a:rPr>
              <a:t>Routing con Express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3209544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0909B"/>
                </a:solidFill>
                <a:latin typeface="Open Sans"/>
              </a:rPr>
              <a:t>≈25 min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831335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3B8B1"/>
                </a:solidFill>
                <a:latin typeface="Open Sans"/>
              </a:rPr>
              <a:t>04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3877055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820"/>
                </a:solidFill>
                <a:latin typeface="Open Sans"/>
              </a:rPr>
              <a:t>Il concetto di middleware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875520" y="3922775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0909B"/>
                </a:solidFill>
                <a:latin typeface="Open Sans"/>
              </a:rPr>
              <a:t>≈20 min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4544568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3B8B1"/>
                </a:solidFill>
                <a:latin typeface="Open Sans"/>
              </a:rPr>
              <a:t>05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11680" y="4590288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820"/>
                </a:solidFill>
                <a:latin typeface="Open Sans"/>
              </a:rPr>
              <a:t>Organizzare il codice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875520" y="4636008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0909B"/>
                </a:solidFill>
                <a:latin typeface="Open Sans"/>
              </a:rPr>
              <a:t>≈20 min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257800"/>
            <a:ext cx="109728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33B8B1"/>
                </a:solidFill>
                <a:latin typeface="Open Sans"/>
              </a:rPr>
              <a:t>06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011680" y="5303520"/>
            <a:ext cx="77724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1">
                <a:solidFill>
                  <a:srgbClr val="111820"/>
                </a:solidFill>
                <a:latin typeface="Open Sans"/>
              </a:rPr>
              <a:t>CRUD in-memory di utenti finti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75520" y="5349240"/>
            <a:ext cx="164592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0">
                <a:solidFill>
                  <a:srgbClr val="90909B"/>
                </a:solidFill>
                <a:latin typeface="Open Sans"/>
              </a:rPr>
              <a:t>≈20 min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 / 34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3B8B1"/>
                </a:solidFill>
                <a:latin typeface="Open Sans"/>
              </a:rPr>
              <a:t>SEZIONE  ·  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pen Sans"/>
              </a:rPr>
              <a:t>Perché Express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80D3CE"/>
                </a:solidFill>
                <a:latin typeface="Open Sans"/>
              </a:rPr>
              <a:t>Limiti di http, cos'è Express, alternative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0" b="1">
                <a:solidFill>
                  <a:srgbClr val="303143"/>
                </a:solidFill>
                <a:latin typeface="Open Sans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3 / 34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01 · PERCHÉ EXPRESS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Il limite di http puro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Già con due endpoint il codice di Node nudo diventa illeggibile.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4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310896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28895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http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'http'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server = http.createServer((req,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(req.url === </a:t>
            </a:r>
            <a:r>
              <a:rPr sz="1300">
                <a:solidFill>
                  <a:srgbClr val="FFD27F"/>
                </a:solidFill>
                <a:latin typeface="Consolas"/>
              </a:rPr>
              <a:t>'/'</a:t>
            </a:r>
            <a:r>
              <a:rPr sz="1300">
                <a:solidFill>
                  <a:srgbClr val="E8EEF1"/>
                </a:solidFill>
                <a:latin typeface="Consolas"/>
              </a:rPr>
              <a:t> &amp;&amp; req.method === </a:t>
            </a:r>
            <a:r>
              <a:rPr sz="1300">
                <a:solidFill>
                  <a:srgbClr val="FFD27F"/>
                </a:solidFill>
                <a:latin typeface="Consolas"/>
              </a:rPr>
              <a:t>'GET'</a:t>
            </a:r>
            <a:r>
              <a:rPr sz="1300">
                <a:solidFill>
                  <a:srgbClr val="E8EEF1"/>
                </a:solidFill>
                <a:latin typeface="Consolas"/>
              </a:rPr>
              <a:t>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res.end(</a:t>
            </a:r>
            <a:r>
              <a:rPr sz="1300">
                <a:solidFill>
                  <a:srgbClr val="FFD27F"/>
                </a:solidFill>
                <a:latin typeface="Consolas"/>
              </a:rPr>
              <a:t>'Home'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} </a:t>
            </a:r>
            <a:r>
              <a:rPr sz="1300" b="1">
                <a:solidFill>
                  <a:srgbClr val="5DD8C3"/>
                </a:solidFill>
                <a:latin typeface="Consolas"/>
              </a:rPr>
              <a:t>else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(req.url === </a:t>
            </a:r>
            <a:r>
              <a:rPr sz="1300">
                <a:solidFill>
                  <a:srgbClr val="FFD27F"/>
                </a:solidFill>
                <a:latin typeface="Consolas"/>
              </a:rPr>
              <a:t>'/about'</a:t>
            </a:r>
            <a:r>
              <a:rPr sz="1300">
                <a:solidFill>
                  <a:srgbClr val="E8EEF1"/>
                </a:solidFill>
                <a:latin typeface="Consolas"/>
              </a:rPr>
              <a:t> &amp;&amp; req.method === </a:t>
            </a:r>
            <a:r>
              <a:rPr sz="1300">
                <a:solidFill>
                  <a:srgbClr val="FFD27F"/>
                </a:solidFill>
                <a:latin typeface="Consolas"/>
              </a:rPr>
              <a:t>'GET'</a:t>
            </a:r>
            <a:r>
              <a:rPr sz="1300">
                <a:solidFill>
                  <a:srgbClr val="E8EEF1"/>
                </a:solidFill>
                <a:latin typeface="Consolas"/>
              </a:rPr>
              <a:t>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res.end(</a:t>
            </a:r>
            <a:r>
              <a:rPr sz="1300">
                <a:solidFill>
                  <a:srgbClr val="FFD27F"/>
                </a:solidFill>
                <a:latin typeface="Consolas"/>
              </a:rPr>
              <a:t>'About'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} </a:t>
            </a:r>
            <a:r>
              <a:rPr sz="1300" b="1">
                <a:solidFill>
                  <a:srgbClr val="5DD8C3"/>
                </a:solidFill>
                <a:latin typeface="Consolas"/>
              </a:rPr>
              <a:t>else</a:t>
            </a:r>
            <a:r>
              <a:rPr sz="1300">
                <a:solidFill>
                  <a:srgbClr val="E8EEF1"/>
                </a:solidFill>
                <a:latin typeface="Consolas"/>
              </a:rPr>
              <a:t>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res.statusCode = 404;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res.end(</a:t>
            </a:r>
            <a:r>
              <a:rPr sz="1300">
                <a:solidFill>
                  <a:srgbClr val="FFD27F"/>
                </a:solidFill>
                <a:latin typeface="Consolas"/>
              </a:rPr>
              <a:t>'Not Found'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server.listen(3000);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120640"/>
            <a:ext cx="10515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555667"/>
                </a:solidFill>
                <a:latin typeface="Open Sans"/>
              </a:rPr>
              <a:t>Problema:  con 20 endpoint = catena infinita di if/else, parsing body ripetuto, header da settare a mano.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01 · PERCHÉ EXPRESS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Cos'è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Un piccolo framework sopra al modulo http nativo.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5 /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820"/>
                </a:solidFill>
                <a:latin typeface="Open Sans"/>
              </a:rPr>
              <a:t>Express comprime in 3 righe ciò che in http puro richiedeva 30.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6974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35364A"/>
                </a:solidFill>
                <a:latin typeface="Open Sans"/>
              </a:rPr>
              <a:t>Le tre cose che ti regala: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2461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01  ROUTING DICHIARATIVO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6616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820"/>
                </a:solidFill>
                <a:latin typeface="Open Sans"/>
              </a:rPr>
              <a:t>app.get / app.post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114800"/>
            <a:ext cx="34747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Invece di if/else: una riga per ogni endpoint, leggibile e ordinata.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32461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02  MIDDLEWARE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356616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820"/>
                </a:solidFill>
                <a:latin typeface="Open Sans"/>
              </a:rPr>
              <a:t>Pipeline componibile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26280" y="4114800"/>
            <a:ext cx="34747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Logging, parsing body, auth, errori. Piccoli pezzi che si incastrano.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79" y="3246120"/>
            <a:ext cx="347472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03  ECOSISTEMA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79" y="3566160"/>
            <a:ext cx="347472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200" b="1">
                <a:solidFill>
                  <a:srgbClr val="111820"/>
                </a:solidFill>
                <a:latin typeface="Open Sans"/>
              </a:rPr>
              <a:t>30M download/sett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79" y="4114800"/>
            <a:ext cx="3474720" cy="1508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Per ogni problema esiste già un middleware su npm. Standard de facto.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01 · PERCHÉ EXPRESS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Cosa NON fa Express e alternative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Express è volutamente minimale. Quello che non ti dà, lo scegli tu.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6 /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920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COSA NON INCLUDE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4028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ORM o adapter DB (mysql2, pg, mongoose, better-sqlite3)
Autenticazione integrata (JWT, sessioni, Passport.js)
Struttura di progetto consigliata (sta a te imporla)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ALTERNATIVE CHE SENTIRAI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Fastify — più veloce, API simile a Express, sta crescendo
Koa — minimale, async-first, dagli stessi autori di Express
NestJS — opinionato, decoratori e DI come Angular/Spring
Hono — pensato per gli edge runtime (Workers, Deno, Bun)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3B8B1"/>
                </a:solidFill>
                <a:latin typeface="Open Sans"/>
              </a:rPr>
              <a:t>SEZIONE  ·  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pen Sans"/>
              </a:rPr>
              <a:t>Setup di un progetto Express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80D3CE"/>
                </a:solidFill>
                <a:latin typeface="Open Sans"/>
              </a:rPr>
              <a:t>Da npm init al primo server con nodemon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0" b="1">
                <a:solidFill>
                  <a:srgbClr val="303143"/>
                </a:solidFill>
                <a:latin typeface="Open Sans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7 / 34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02 ·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Inizializzare il progetto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npm init + abilita ES Modules con "type": "module".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8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5212080" cy="182880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4882896" cy="1609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$ mkdir mio-primo-express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$ cd mio-primo-express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$ npm init -y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5120640" cy="182880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28232" y="1938528"/>
            <a:ext cx="4791456" cy="1609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// package.json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>
                <a:solidFill>
                  <a:srgbClr val="FFD27F"/>
                </a:solidFill>
                <a:latin typeface="Consolas"/>
              </a:rPr>
              <a:t>"name"</a:t>
            </a:r>
            <a:r>
              <a:rPr sz="1300">
                <a:solidFill>
                  <a:srgbClr val="E8EEF1"/>
                </a:solidFill>
                <a:latin typeface="Consolas"/>
              </a:rPr>
              <a:t>: </a:t>
            </a:r>
            <a:r>
              <a:rPr sz="1300">
                <a:solidFill>
                  <a:srgbClr val="FFD27F"/>
                </a:solidFill>
                <a:latin typeface="Consolas"/>
              </a:rPr>
              <a:t>"mio-primo-express"</a:t>
            </a:r>
            <a:r>
              <a:rPr sz="1300">
                <a:solidFill>
                  <a:srgbClr val="E8EEF1"/>
                </a:solidFill>
                <a:latin typeface="Consolas"/>
              </a:rPr>
              <a:t>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>
                <a:solidFill>
                  <a:srgbClr val="FFD27F"/>
                </a:solidFill>
                <a:latin typeface="Consolas"/>
              </a:rPr>
              <a:t>"type"</a:t>
            </a:r>
            <a:r>
              <a:rPr sz="1300">
                <a:solidFill>
                  <a:srgbClr val="E8EEF1"/>
                </a:solidFill>
                <a:latin typeface="Consolas"/>
              </a:rPr>
              <a:t>: </a:t>
            </a:r>
            <a:r>
              <a:rPr sz="1300">
                <a:solidFill>
                  <a:srgbClr val="FFD27F"/>
                </a:solidFill>
                <a:latin typeface="Consolas"/>
              </a:rPr>
              <a:t>"module"</a:t>
            </a:r>
            <a:r>
              <a:rPr sz="1300">
                <a:solidFill>
                  <a:srgbClr val="E8EEF1"/>
                </a:solidFill>
                <a:latin typeface="Consolas"/>
              </a:rPr>
              <a:t>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>
                <a:solidFill>
                  <a:srgbClr val="FFD27F"/>
                </a:solidFill>
                <a:latin typeface="Consolas"/>
              </a:rPr>
              <a:t>"main"</a:t>
            </a:r>
            <a:r>
              <a:rPr sz="1300">
                <a:solidFill>
                  <a:srgbClr val="E8EEF1"/>
                </a:solidFill>
                <a:latin typeface="Consolas"/>
              </a:rPr>
              <a:t>: </a:t>
            </a:r>
            <a:r>
              <a:rPr sz="1300">
                <a:solidFill>
                  <a:srgbClr val="FFD27F"/>
                </a:solidFill>
                <a:latin typeface="Consolas"/>
              </a:rPr>
              <a:t>"src/server.js"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4023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ATTENZIONE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34340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Senza "type": "module" Node interpreta i .js come CommonJS e import express → ERRORE
"Cannot use import statement outside a module". È il primo bug della giornata.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02 ·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Installare Express e nodemon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Express in dependencies, nodemon in devDependencies.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9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14630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1243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# dipendenza di produzione (finisce in dependencies)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$ npm install express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# dipendenza di sviluppo (finisce in devDependencies)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$ npm install --save-dev nodemon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6576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PERCHÉ NODEMON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977639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Riavvia automaticamente il server quando salvi un file.
In sviluppo: comodissimo. In produzione: usi direttamente node.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02 ·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Struttura cartelle e separazione app.js / server.js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Una scelta che pagheremo nel Giorno 2 e nel progetto finale.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10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5120640" cy="23774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4791456" cy="21579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mio-primo-express/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├── src/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│   ├── app.js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│   └── server.js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├── .gitignore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├── package.json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└── package-lock.json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A69D"/>
                </a:solidFill>
                <a:latin typeface="Open Sans"/>
              </a:rPr>
              <a:t>app.js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488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Costruisce l'app Express: middleware, route, export. Non chiama mai listen.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3200400"/>
            <a:ext cx="54864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>
                <a:solidFill>
                  <a:srgbClr val="00A69D"/>
                </a:solidFill>
                <a:latin typeface="Open Sans"/>
              </a:rPr>
              <a:t>server.js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520440"/>
            <a:ext cx="54864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Importa app e avvia il listener sulla porta. Quando arriveranno i test, app si importa direttamente.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937760"/>
            <a:ext cx="10515600" cy="1097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1">
                <a:solidFill>
                  <a:srgbClr val="35364A"/>
                </a:solidFill>
                <a:latin typeface="Open Sans"/>
              </a:rPr>
              <a:t>Sembra eccessivo per ora ma è la struttura che useremo per tutto il corso.
Una riga in più oggi = mezza giornata risparmiata in azienda.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02 ·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Il primo server Express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src/app.js + src/server.js + npm scripts.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11 /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src/app.js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48840"/>
            <a:ext cx="5212080" cy="219456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2" y="2258568"/>
            <a:ext cx="4882896" cy="19751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express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'express'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app = express();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app.get(</a:t>
            </a:r>
            <a:r>
              <a:rPr sz="1300">
                <a:solidFill>
                  <a:srgbClr val="FFD27F"/>
                </a:solidFill>
                <a:latin typeface="Consolas"/>
              </a:rPr>
              <a:t>'/'</a:t>
            </a:r>
            <a:r>
              <a:rPr sz="1300">
                <a:solidFill>
                  <a:srgbClr val="E8EEF1"/>
                </a:solidFill>
                <a:latin typeface="Consolas"/>
              </a:rPr>
              <a:t>, 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res.send(</a:t>
            </a:r>
            <a:r>
              <a:rPr sz="1300">
                <a:solidFill>
                  <a:srgbClr val="FFD27F"/>
                </a:solidFill>
                <a:latin typeface="Consolas"/>
              </a:rPr>
              <a:t>'Hello Express!'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default</a:t>
            </a:r>
            <a:r>
              <a:rPr sz="1300">
                <a:solidFill>
                  <a:srgbClr val="E8EEF1"/>
                </a:solidFill>
                <a:latin typeface="Consolas"/>
              </a:rPr>
              <a:t> app;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src/server.js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148840"/>
            <a:ext cx="5120640" cy="219456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258568"/>
            <a:ext cx="4791456" cy="19751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app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'./app.js'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PORT = 3000;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app.listen(PORT, ()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console.log(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</a:t>
            </a:r>
            <a:r>
              <a:rPr sz="1300">
                <a:solidFill>
                  <a:srgbClr val="FFD27F"/>
                </a:solidFill>
                <a:latin typeface="Consolas"/>
              </a:rPr>
              <a:t>`Server su http://localhost:${PORT}`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617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package.json → "scripts"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68680" y="4937760"/>
            <a:ext cx="10515600" cy="109728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1033272" y="5047488"/>
            <a:ext cx="10186416" cy="8778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FFD27F"/>
                </a:solidFill>
                <a:latin typeface="Consolas"/>
              </a:rPr>
              <a:t>"scripts"</a:t>
            </a:r>
            <a:r>
              <a:rPr sz="1300">
                <a:solidFill>
                  <a:srgbClr val="E8EEF1"/>
                </a:solidFill>
                <a:latin typeface="Consolas"/>
              </a:rPr>
              <a:t>: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>
                <a:solidFill>
                  <a:srgbClr val="FFD27F"/>
                </a:solidFill>
                <a:latin typeface="Consolas"/>
              </a:rPr>
              <a:t>"start"</a:t>
            </a:r>
            <a:r>
              <a:rPr sz="1300">
                <a:solidFill>
                  <a:srgbClr val="E8EEF1"/>
                </a:solidFill>
                <a:latin typeface="Consolas"/>
              </a:rPr>
              <a:t>: </a:t>
            </a:r>
            <a:r>
              <a:rPr sz="1300">
                <a:solidFill>
                  <a:srgbClr val="FFD27F"/>
                </a:solidFill>
                <a:latin typeface="Consolas"/>
              </a:rPr>
              <a:t>"node src/server.js"</a:t>
            </a:r>
            <a:r>
              <a:rPr sz="1300">
                <a:solidFill>
                  <a:srgbClr val="E8EEF1"/>
                </a:solidFill>
                <a:latin typeface="Consolas"/>
              </a:rPr>
              <a:t>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>
                <a:solidFill>
                  <a:srgbClr val="FFD27F"/>
                </a:solidFill>
                <a:latin typeface="Consolas"/>
              </a:rPr>
              <a:t>"dev"</a:t>
            </a:r>
            <a:r>
              <a:rPr sz="1300">
                <a:solidFill>
                  <a:srgbClr val="E8EEF1"/>
                </a:solidFill>
                <a:latin typeface="Consolas"/>
              </a:rPr>
              <a:t>:   </a:t>
            </a:r>
            <a:r>
              <a:rPr sz="1300">
                <a:solidFill>
                  <a:srgbClr val="FFD27F"/>
                </a:solidFill>
                <a:latin typeface="Consolas"/>
              </a:rPr>
              <a:t>"nodemon src/server.js"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" y="61722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▸  CODICE: 01-express-hello/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3B8B1"/>
                </a:solidFill>
                <a:latin typeface="Open Sans"/>
              </a:rPr>
              <a:t>SEZIONE  ·  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pen Sans"/>
              </a:rPr>
              <a:t>Routing con Express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80D3CE"/>
                </a:solidFill>
                <a:latin typeface="Open Sans"/>
              </a:rPr>
              <a:t>Metodi, parametri, query string, body 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0" b="1">
                <a:solidFill>
                  <a:srgbClr val="303143"/>
                </a:solidFill>
                <a:latin typeface="Open Sans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12 / 34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03 ·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I quattro metodi base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Una riga per ogni endpoint: la firma è sempre la stessa.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13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23774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21579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app.get(   </a:t>
            </a:r>
            <a:r>
              <a:rPr sz="1300">
                <a:solidFill>
                  <a:srgbClr val="FFD27F"/>
                </a:solidFill>
                <a:latin typeface="Consolas"/>
              </a:rPr>
              <a:t>'/users'</a:t>
            </a:r>
            <a:r>
              <a:rPr sz="1300">
                <a:solidFill>
                  <a:srgbClr val="E8EEF1"/>
                </a:solidFill>
                <a:latin typeface="Consolas"/>
              </a:rPr>
              <a:t>,     (req, res) =&gt; res.send(</a:t>
            </a:r>
            <a:r>
              <a:rPr sz="1300">
                <a:solidFill>
                  <a:srgbClr val="FFD27F"/>
                </a:solidFill>
                <a:latin typeface="Consolas"/>
              </a:rPr>
              <a:t>'Lista utenti'</a:t>
            </a:r>
            <a:r>
              <a:rPr sz="1300">
                <a:solidFill>
                  <a:srgbClr val="E8EEF1"/>
                </a:solidFill>
                <a:latin typeface="Consolas"/>
              </a:rPr>
              <a:t>));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app.post(  </a:t>
            </a:r>
            <a:r>
              <a:rPr sz="1300">
                <a:solidFill>
                  <a:srgbClr val="FFD27F"/>
                </a:solidFill>
                <a:latin typeface="Consolas"/>
              </a:rPr>
              <a:t>'/users'</a:t>
            </a:r>
            <a:r>
              <a:rPr sz="1300">
                <a:solidFill>
                  <a:srgbClr val="E8EEF1"/>
                </a:solidFill>
                <a:latin typeface="Consolas"/>
              </a:rPr>
              <a:t>,     (req, res) =&gt; res.send(</a:t>
            </a:r>
            <a:r>
              <a:rPr sz="1300">
                <a:solidFill>
                  <a:srgbClr val="FFD27F"/>
                </a:solidFill>
                <a:latin typeface="Consolas"/>
              </a:rPr>
              <a:t>'Crea utente'</a:t>
            </a:r>
            <a:r>
              <a:rPr sz="1300">
                <a:solidFill>
                  <a:srgbClr val="E8EEF1"/>
                </a:solidFill>
                <a:latin typeface="Consolas"/>
              </a:rPr>
              <a:t>));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app.put(   </a:t>
            </a:r>
            <a:r>
              <a:rPr sz="1300">
                <a:solidFill>
                  <a:srgbClr val="FFD27F"/>
                </a:solidFill>
                <a:latin typeface="Consolas"/>
              </a:rPr>
              <a:t>'/users/:id'</a:t>
            </a:r>
            <a:r>
              <a:rPr sz="1300">
                <a:solidFill>
                  <a:srgbClr val="E8EEF1"/>
                </a:solidFill>
                <a:latin typeface="Consolas"/>
              </a:rPr>
              <a:t>, (req, res) =&gt; res.send(</a:t>
            </a:r>
            <a:r>
              <a:rPr sz="1300">
                <a:solidFill>
                  <a:srgbClr val="FFD27F"/>
                </a:solidFill>
                <a:latin typeface="Consolas"/>
              </a:rPr>
              <a:t>'Aggiorna utente'</a:t>
            </a:r>
            <a:r>
              <a:rPr sz="1300">
                <a:solidFill>
                  <a:srgbClr val="E8EEF1"/>
                </a:solidFill>
                <a:latin typeface="Consolas"/>
              </a:rPr>
              <a:t>));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app.delete(</a:t>
            </a:r>
            <a:r>
              <a:rPr sz="1300">
                <a:solidFill>
                  <a:srgbClr val="FFD27F"/>
                </a:solidFill>
                <a:latin typeface="Consolas"/>
              </a:rPr>
              <a:t>'/users/:id'</a:t>
            </a:r>
            <a:r>
              <a:rPr sz="1300">
                <a:solidFill>
                  <a:srgbClr val="E8EEF1"/>
                </a:solidFill>
                <a:latin typeface="Consolas"/>
              </a:rPr>
              <a:t>, (req, res) =&gt; res.send(</a:t>
            </a:r>
            <a:r>
              <a:rPr sz="1300">
                <a:solidFill>
                  <a:srgbClr val="FFD27F"/>
                </a:solidFill>
                <a:latin typeface="Consolas"/>
              </a:rPr>
              <a:t>'Elimina utente'</a:t>
            </a:r>
            <a:r>
              <a:rPr sz="1300">
                <a:solidFill>
                  <a:srgbClr val="E8EEF1"/>
                </a:solidFill>
                <a:latin typeface="Consolas"/>
              </a:rPr>
              <a:t>));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572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CONVENZIONE 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89204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GET = lettura, POST = creazione, PUT/PATCH = aggiornamento, DELETE = cancellazione.
Non è una regola di Express: è una convenzione del mondo REST. Rispettarla rende le API leggibili.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03 ·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Parametri di route e query string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req.params per :id, req.query per ?nome=Mario.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14 /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req.params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48840"/>
            <a:ext cx="5212080" cy="182880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2" y="2258568"/>
            <a:ext cx="4882896" cy="1609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app.get(</a:t>
            </a:r>
            <a:r>
              <a:rPr sz="1300">
                <a:solidFill>
                  <a:srgbClr val="FFD27F"/>
                </a:solidFill>
                <a:latin typeface="Consolas"/>
              </a:rPr>
              <a:t>'/users/:id'</a:t>
            </a:r>
            <a:r>
              <a:rPr sz="1300">
                <a:solidFill>
                  <a:srgbClr val="E8EEF1"/>
                </a:solidFill>
                <a:latin typeface="Consolas"/>
              </a:rPr>
              <a:t>, 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id = req.params.id;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res.send(</a:t>
            </a:r>
            <a:r>
              <a:rPr sz="1300">
                <a:solidFill>
                  <a:srgbClr val="FFD27F"/>
                </a:solidFill>
                <a:latin typeface="Consolas"/>
              </a:rPr>
              <a:t>`Utente ${id}`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3640" y="18288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req.query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63640" y="2148840"/>
            <a:ext cx="5120640" cy="182880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28232" y="2258568"/>
            <a:ext cx="4791456" cy="1609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// /users?nome=Mario&amp;eta=30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app.get(</a:t>
            </a:r>
            <a:r>
              <a:rPr sz="1300">
                <a:solidFill>
                  <a:srgbClr val="FFD27F"/>
                </a:solidFill>
                <a:latin typeface="Consolas"/>
              </a:rPr>
              <a:t>'/users'</a:t>
            </a:r>
            <a:r>
              <a:rPr sz="1300">
                <a:solidFill>
                  <a:srgbClr val="E8EEF1"/>
                </a:solidFill>
                <a:latin typeface="Consolas"/>
              </a:rPr>
              <a:t>, 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{ nome, eta } = req.query;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res.send(</a:t>
            </a:r>
            <a:r>
              <a:rPr sz="1300">
                <a:solidFill>
                  <a:srgbClr val="FFD27F"/>
                </a:solidFill>
                <a:latin typeface="Consolas"/>
              </a:rPr>
              <a:t>`Trovo ${nome}, ${eta} anni`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2976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ATTENZIONE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461772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I parametri arrivano sempre come stringhe, anche se sembrano numeri.
Se ti serve un Number, convertilo: Number(req.params.id) o parseInt(...).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03 ·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Body JSON con express.json()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Una riga di middleware al posto di 10 di stream a chunk.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15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219456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19751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express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'express'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app = express();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app.use(express.json()); 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&lt;-- abilita parsing JSON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app.post(</a:t>
            </a:r>
            <a:r>
              <a:rPr sz="1300">
                <a:solidFill>
                  <a:srgbClr val="FFD27F"/>
                </a:solidFill>
                <a:latin typeface="Consolas"/>
              </a:rPr>
              <a:t>'/echo'</a:t>
            </a:r>
            <a:r>
              <a:rPr sz="1300">
                <a:solidFill>
                  <a:srgbClr val="E8EEF1"/>
                </a:solidFill>
                <a:latin typeface="Consolas"/>
              </a:rPr>
              <a:t>, 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res.json({ ricevuto: req.body 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4348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COSA SUCCEDE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54880"/>
            <a:ext cx="10515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Ogni richiesta con Content-Type: application/json ha il body pre-parsato in req.body.
Niente più req.on('data', chunk =&gt; ...) a mano. Ricorda: il middleware va registrato PRIMA delle route.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03 ·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Rispondere correttamente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res.send, res.json, res.status — i pattern essenziali.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16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23774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21579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app.post(</a:t>
            </a:r>
            <a:r>
              <a:rPr sz="1300">
                <a:solidFill>
                  <a:srgbClr val="FFD27F"/>
                </a:solidFill>
                <a:latin typeface="Consolas"/>
              </a:rPr>
              <a:t>'/users'</a:t>
            </a:r>
            <a:r>
              <a:rPr sz="1300">
                <a:solidFill>
                  <a:srgbClr val="E8EEF1"/>
                </a:solidFill>
                <a:latin typeface="Consolas"/>
              </a:rPr>
              <a:t>, 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nuovoUtente = { id: 1, ...req.body };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res.status(201).json(nuovoUtente); 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201 = Created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app.get(</a:t>
            </a:r>
            <a:r>
              <a:rPr sz="1300">
                <a:solidFill>
                  <a:srgbClr val="FFD27F"/>
                </a:solidFill>
                <a:latin typeface="Consolas"/>
              </a:rPr>
              <a:t>'/healthz'</a:t>
            </a:r>
            <a:r>
              <a:rPr sz="1300">
                <a:solidFill>
                  <a:srgbClr val="E8EEF1"/>
                </a:solidFill>
                <a:latin typeface="Consolas"/>
              </a:rPr>
              <a:t>, 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res.sendStatus(200);                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body vuoto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6177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STATUS CODE DA TENERE A MENTE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937760"/>
            <a:ext cx="10515600" cy="12801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200 OK · 201 Created · 204 No Content · 400 Bad Request · 401 Unauthorized · 404 Not Found · 409 Conflict · 500 Internal Server Error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03 · ROUTING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Refactor del server del Giorno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Lo stesso server di Parte 1, in 15 righe invece che 70.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17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365760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34381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express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'express'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app = express();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app.use(express.json());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app.get(</a:t>
            </a:r>
            <a:r>
              <a:rPr sz="1300">
                <a:solidFill>
                  <a:srgbClr val="FFD27F"/>
                </a:solidFill>
                <a:latin typeface="Consolas"/>
              </a:rPr>
              <a:t>'/'</a:t>
            </a:r>
            <a:r>
              <a:rPr sz="1300">
                <a:solidFill>
                  <a:srgbClr val="E8EEF1"/>
                </a:solidFill>
                <a:latin typeface="Consolas"/>
              </a:rPr>
              <a:t>,       (req, res) =&gt; res.send(</a:t>
            </a:r>
            <a:r>
              <a:rPr sz="1300">
                <a:solidFill>
                  <a:srgbClr val="FFD27F"/>
                </a:solidFill>
                <a:latin typeface="Consolas"/>
              </a:rPr>
              <a:t>'Home'</a:t>
            </a:r>
            <a:r>
              <a:rPr sz="1300">
                <a:solidFill>
                  <a:srgbClr val="E8EEF1"/>
                </a:solidFill>
                <a:latin typeface="Consolas"/>
              </a:rPr>
              <a:t>));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app.get(</a:t>
            </a:r>
            <a:r>
              <a:rPr sz="1300">
                <a:solidFill>
                  <a:srgbClr val="FFD27F"/>
                </a:solidFill>
                <a:latin typeface="Consolas"/>
              </a:rPr>
              <a:t>'/about'</a:t>
            </a:r>
            <a:r>
              <a:rPr sz="1300">
                <a:solidFill>
                  <a:srgbClr val="E8EEF1"/>
                </a:solidFill>
                <a:latin typeface="Consolas"/>
              </a:rPr>
              <a:t>,  (req, res) =&gt; res.send(</a:t>
            </a:r>
            <a:r>
              <a:rPr sz="1300">
                <a:solidFill>
                  <a:srgbClr val="FFD27F"/>
                </a:solidFill>
                <a:latin typeface="Consolas"/>
              </a:rPr>
              <a:t>'About'</a:t>
            </a:r>
            <a:r>
              <a:rPr sz="1300">
                <a:solidFill>
                  <a:srgbClr val="E8EEF1"/>
                </a:solidFill>
                <a:latin typeface="Consolas"/>
              </a:rPr>
              <a:t>));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app.get(</a:t>
            </a:r>
            <a:r>
              <a:rPr sz="1300">
                <a:solidFill>
                  <a:srgbClr val="FFD27F"/>
                </a:solidFill>
                <a:latin typeface="Consolas"/>
              </a:rPr>
              <a:t>'/saluta'</a:t>
            </a:r>
            <a:r>
              <a:rPr sz="1300">
                <a:solidFill>
                  <a:srgbClr val="E8EEF1"/>
                </a:solidFill>
                <a:latin typeface="Consolas"/>
              </a:rPr>
              <a:t>, 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nome = req.query.nome ?? </a:t>
            </a:r>
            <a:r>
              <a:rPr sz="1300">
                <a:solidFill>
                  <a:srgbClr val="FFD27F"/>
                </a:solidFill>
                <a:latin typeface="Consolas"/>
              </a:rPr>
              <a:t>'sconosciuto'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res.send(</a:t>
            </a:r>
            <a:r>
              <a:rPr sz="1300">
                <a:solidFill>
                  <a:srgbClr val="FFD27F"/>
                </a:solidFill>
                <a:latin typeface="Consolas"/>
              </a:rPr>
              <a:t>`Ciao ${nome}!`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app.post(</a:t>
            </a:r>
            <a:r>
              <a:rPr sz="1300">
                <a:solidFill>
                  <a:srgbClr val="FFD27F"/>
                </a:solidFill>
                <a:latin typeface="Consolas"/>
              </a:rPr>
              <a:t>'/echo'</a:t>
            </a:r>
            <a:r>
              <a:rPr sz="1300">
                <a:solidFill>
                  <a:srgbClr val="E8EEF1"/>
                </a:solidFill>
                <a:latin typeface="Consolas"/>
              </a:rPr>
              <a:t>,  (req, res) =&gt; res.json({ ricevuto: req.body }));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app.listen(3000, () =&gt; console.log(</a:t>
            </a:r>
            <a:r>
              <a:rPr sz="1300">
                <a:solidFill>
                  <a:srgbClr val="FFD27F"/>
                </a:solidFill>
                <a:latin typeface="Consolas"/>
              </a:rPr>
              <a:t>'Server su http://localhost:3000'</a:t>
            </a:r>
            <a:r>
              <a:rPr sz="1300">
                <a:solidFill>
                  <a:srgbClr val="E8EEF1"/>
                </a:solidFill>
                <a:latin typeface="Consolas"/>
              </a:rPr>
              <a:t>));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66928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▸  CODICE: 02-express-routing/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3B8B1"/>
                </a:solidFill>
                <a:latin typeface="Open Sans"/>
              </a:rPr>
              <a:t>SEZIONE  ·  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pen Sans"/>
              </a:rPr>
              <a:t>Il concetto di middleware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80D3CE"/>
                </a:solidFill>
                <a:latin typeface="Open Sans"/>
              </a:rPr>
              <a:t>Built-in, di terze parti, custom, ordine di esecuzione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0" b="1">
                <a:solidFill>
                  <a:srgbClr val="303143"/>
                </a:solidFill>
                <a:latin typeface="Open Sans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18 / 34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04 · MIDDLEWARE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Cos'è un middleware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Una funzione (req, res, next) che intercetta la richiesta.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19 /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820"/>
                </a:solidFill>
                <a:latin typeface="Open Sans"/>
              </a:rPr>
              <a:t>Pensa alla richiesta come a un treno che attraversa stazioni: ogni stazione = un middleware.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743200"/>
            <a:ext cx="10515600" cy="182880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2" y="2852928"/>
            <a:ext cx="10186416" cy="1609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logger(req, res, next)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console.log(</a:t>
            </a:r>
            <a:r>
              <a:rPr sz="1300">
                <a:solidFill>
                  <a:srgbClr val="FFD27F"/>
                </a:solidFill>
                <a:latin typeface="Consolas"/>
              </a:rPr>
              <a:t>`[${new Date().toISOString()}] ${req.method} ${req.url}`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next(); 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&lt;-- passa al prossimo middleware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app.use(logger);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754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TRE COSE CHE PUÒ FARE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074920"/>
            <a:ext cx="10515600" cy="1371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Decorare req (es. req.user dopo il check JWT) — Modificare res (es. header CORS)
Interrompere la pipeline e rispondere (es. token mancante → 401, niente next).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04 · MIDDLEWARE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Built-in e di terze parti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Quello che esiste già su npm prima di scriverlo a mano.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20 /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BUILT-IN IN EXPRESS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48840"/>
            <a:ext cx="10515600" cy="109728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2" y="2258568"/>
            <a:ext cx="10186416" cy="87782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app.use(express.json());                  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parser body JSON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app.use(express.urlencoded({ extended:</a:t>
            </a:r>
            <a:r>
              <a:rPr sz="1300" b="1">
                <a:solidFill>
                  <a:srgbClr val="5DD8C3"/>
                </a:solidFill>
                <a:latin typeface="Consolas"/>
              </a:rPr>
              <a:t>true</a:t>
            </a:r>
            <a:r>
              <a:rPr sz="1300">
                <a:solidFill>
                  <a:srgbClr val="E8EEF1"/>
                </a:solidFill>
                <a:latin typeface="Consolas"/>
              </a:rPr>
              <a:t> }));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form classico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35204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DI TERZE PARTI (DA CONOSCERE)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3840480"/>
            <a:ext cx="5029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morgan — logger HTTP formattato
cors — header CORS per frontend esterni
helmet — pacchetto header sicurezza
express-rate-limit — anti brute-force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172200" y="3840480"/>
            <a:ext cx="5212080" cy="14630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336792" y="3950208"/>
            <a:ext cx="4882896" cy="1243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morgan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'morgan'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app.use(morgan(</a:t>
            </a:r>
            <a:r>
              <a:rPr sz="1300">
                <a:solidFill>
                  <a:srgbClr val="FFD27F"/>
                </a:solidFill>
                <a:latin typeface="Consolas"/>
              </a:rPr>
              <a:t>'dev'</a:t>
            </a:r>
            <a:r>
              <a:rPr sz="1300">
                <a:solidFill>
                  <a:srgbClr val="E8EEF1"/>
                </a:solidFill>
                <a:latin typeface="Consolas"/>
              </a:rPr>
              <a:t>));</a:t>
            </a:r>
          </a:p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// → GET /users 200 3ms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04 · MIDDLEWARE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Scrivere un middleware custom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Esempio: misuriamo il tempo di risposta di ogni richiesta.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21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274320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25237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durata(req, res, next)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inizio = Date.now();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res.on(</a:t>
            </a:r>
            <a:r>
              <a:rPr sz="1300">
                <a:solidFill>
                  <a:srgbClr val="FFD27F"/>
                </a:solidFill>
                <a:latin typeface="Consolas"/>
              </a:rPr>
              <a:t>'finish'</a:t>
            </a:r>
            <a:r>
              <a:rPr sz="1300">
                <a:solidFill>
                  <a:srgbClr val="E8EEF1"/>
                </a:solidFill>
                <a:latin typeface="Consolas"/>
              </a:rPr>
              <a:t>, ()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ms = Date.now() - inizio;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console.log(</a:t>
            </a:r>
            <a:r>
              <a:rPr sz="1300">
                <a:solidFill>
                  <a:srgbClr val="FFD27F"/>
                </a:solidFill>
                <a:latin typeface="Consolas"/>
              </a:rPr>
              <a:t>`${req.method} ${req.url} -&gt; ${res.statusCode} (${ms}ms)`</a:t>
            </a:r>
            <a:r>
              <a:rPr sz="1300">
                <a:solidFill>
                  <a:srgbClr val="E8EEF1"/>
                </a:solidFill>
                <a:latin typeface="Consolas"/>
              </a:rPr>
              <a:t>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next();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app.use(durata);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75488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OUTPUT NEL TERMINALE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5074920"/>
            <a:ext cx="10515600" cy="10058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2" y="5184648"/>
            <a:ext cx="10186416" cy="786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GET /users      -&gt; 200  (3ms)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POST /users     -&gt; 201  (18ms)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GET /users/42   -&gt; 404  (1ms)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04 · MIDDLEWARE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L'ordine di registrazione conta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Causa numero uno di "ma perché non funziona?".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22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164592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14264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app.use(express.json());      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1) parsing body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app.use(logger);              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2) logger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</a:t>
            </a:r>
            <a:r>
              <a:rPr sz="1300">
                <a:solidFill>
                  <a:srgbClr val="FFD27F"/>
                </a:solidFill>
                <a:latin typeface="Consolas"/>
              </a:rPr>
              <a:t>'/api'</a:t>
            </a:r>
            <a:r>
              <a:rPr sz="1300">
                <a:solidFill>
                  <a:srgbClr val="E8EEF1"/>
                </a:solidFill>
                <a:latin typeface="Consolas"/>
              </a:rPr>
              <a:t>, autentica);   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3) auth su /api/*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app.get(</a:t>
            </a:r>
            <a:r>
              <a:rPr sz="1300">
                <a:solidFill>
                  <a:srgbClr val="FFD27F"/>
                </a:solidFill>
                <a:latin typeface="Consolas"/>
              </a:rPr>
              <a:t>'/api/users'</a:t>
            </a:r>
            <a:r>
              <a:rPr sz="1300">
                <a:solidFill>
                  <a:srgbClr val="E8EEF1"/>
                </a:solidFill>
                <a:latin typeface="Consolas"/>
              </a:rPr>
              <a:t>, handler);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4) handler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7033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REGOLE PRATICHE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02336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Parsing (json, urlencoded, cors, helmet) → in cima
Autenticazione → prima delle route che proteggono
Error handler (firma a 4 parametri) → in coda, dopo tutte le route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98932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▸  CODICE: 03-express-middleware/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3B8B1"/>
                </a:solidFill>
                <a:latin typeface="Open Sans"/>
              </a:rPr>
              <a:t>SEZIONE  ·  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pen Sans"/>
              </a:rPr>
              <a:t>Organizzare il codice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80D3CE"/>
                </a:solidFill>
                <a:latin typeface="Open Sans"/>
              </a:rPr>
              <a:t>express.Router(), cartelle, separazione app.js / server.js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0" b="1">
                <a:solidFill>
                  <a:srgbClr val="303143"/>
                </a:solidFill>
                <a:latin typeface="Open Sans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23 / 34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05 · ORGANIZZAZIONE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Il problema: tutto in app.js non scala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Con 5 endpoint va bene, con 50 è ingestibile.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24 /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SINTOMI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10515600" cy="16459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File da 2000 righe, impossibile trovare cosa fa cosa
Ogni modifica rischia di rompere qualcosa di scorrelato
Conflitti merge dolorosi se siete in più di uno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02336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LA SOLUZIONE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43400"/>
            <a:ext cx="10515600" cy="20116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Dividere le route per area logica, ognuna in un file dedicato.
Lo strumento che Express ci dà si chiama express.Router(): un "mini-Express" da montare nell'app principale.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05 · ORGANIZZAZIONE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express.Router() in pratica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Un Router è una scatola di route da montare su un base path.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25 /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src/routes/userRoutes.js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68680" y="2148840"/>
            <a:ext cx="10515600" cy="182880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1033272" y="2258568"/>
            <a:ext cx="10186416" cy="1609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{ Router }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'express'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router = Router();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router.get(</a:t>
            </a:r>
            <a:r>
              <a:rPr sz="1300">
                <a:solidFill>
                  <a:srgbClr val="FFD27F"/>
                </a:solidFill>
                <a:latin typeface="Consolas"/>
              </a:rPr>
              <a:t>'/'</a:t>
            </a:r>
            <a:r>
              <a:rPr sz="1300">
                <a:solidFill>
                  <a:srgbClr val="E8EEF1"/>
                </a:solidFill>
                <a:latin typeface="Consolas"/>
              </a:rPr>
              <a:t>,     (req, res) =&gt; res.send(</a:t>
            </a:r>
            <a:r>
              <a:rPr sz="1300">
                <a:solidFill>
                  <a:srgbClr val="FFD27F"/>
                </a:solidFill>
                <a:latin typeface="Consolas"/>
              </a:rPr>
              <a:t>'Lista'</a:t>
            </a:r>
            <a:r>
              <a:rPr sz="1300">
                <a:solidFill>
                  <a:srgbClr val="E8EEF1"/>
                </a:solidFill>
                <a:latin typeface="Consolas"/>
              </a:rPr>
              <a:t>));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router.get(</a:t>
            </a:r>
            <a:r>
              <a:rPr sz="1300">
                <a:solidFill>
                  <a:srgbClr val="FFD27F"/>
                </a:solidFill>
                <a:latin typeface="Consolas"/>
              </a:rPr>
              <a:t>'/:id'</a:t>
            </a:r>
            <a:r>
              <a:rPr sz="1300">
                <a:solidFill>
                  <a:srgbClr val="E8EEF1"/>
                </a:solidFill>
                <a:latin typeface="Consolas"/>
              </a:rPr>
              <a:t>,  (req, res) =&gt; res.send(</a:t>
            </a:r>
            <a:r>
              <a:rPr sz="1300">
                <a:solidFill>
                  <a:srgbClr val="FFD27F"/>
                </a:solidFill>
                <a:latin typeface="Consolas"/>
              </a:rPr>
              <a:t>`Utente ${req.params.id}`</a:t>
            </a:r>
            <a:r>
              <a:rPr sz="1300">
                <a:solidFill>
                  <a:srgbClr val="E8EEF1"/>
                </a:solidFill>
                <a:latin typeface="Consolas"/>
              </a:rPr>
              <a:t>));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router.post(</a:t>
            </a:r>
            <a:r>
              <a:rPr sz="1300">
                <a:solidFill>
                  <a:srgbClr val="FFD27F"/>
                </a:solidFill>
                <a:latin typeface="Consolas"/>
              </a:rPr>
              <a:t>'/'</a:t>
            </a:r>
            <a:r>
              <a:rPr sz="1300">
                <a:solidFill>
                  <a:srgbClr val="E8EEF1"/>
                </a:solidFill>
                <a:latin typeface="Consolas"/>
              </a:rPr>
              <a:t>,    (req, res) =&gt; res.status(201).send(</a:t>
            </a:r>
            <a:r>
              <a:rPr sz="1300">
                <a:solidFill>
                  <a:srgbClr val="FFD27F"/>
                </a:solidFill>
                <a:latin typeface="Consolas"/>
              </a:rPr>
              <a:t>'Creato'</a:t>
            </a:r>
            <a:r>
              <a:rPr sz="1300">
                <a:solidFill>
                  <a:srgbClr val="E8EEF1"/>
                </a:solidFill>
                <a:latin typeface="Consolas"/>
              </a:rPr>
              <a:t>));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default</a:t>
            </a:r>
            <a:r>
              <a:rPr sz="1300">
                <a:solidFill>
                  <a:srgbClr val="E8EEF1"/>
                </a:solidFill>
                <a:latin typeface="Consolas"/>
              </a:rPr>
              <a:t> router;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0624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src/app.js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68680" y="4526280"/>
            <a:ext cx="10515600" cy="14630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033272" y="4636008"/>
            <a:ext cx="10186416" cy="12435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import</a:t>
            </a:r>
            <a:r>
              <a:rPr sz="1300">
                <a:solidFill>
                  <a:srgbClr val="E8EEF1"/>
                </a:solidFill>
                <a:latin typeface="Consolas"/>
              </a:rPr>
              <a:t> userRoutes </a:t>
            </a:r>
            <a:r>
              <a:rPr sz="1300" b="1">
                <a:solidFill>
                  <a:srgbClr val="5DD8C3"/>
                </a:solidFill>
                <a:latin typeface="Consolas"/>
              </a:rPr>
              <a:t>from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>
                <a:solidFill>
                  <a:srgbClr val="FFD27F"/>
                </a:solidFill>
                <a:latin typeface="Consolas"/>
              </a:rPr>
              <a:t>'./routes/userRoutes.js'</a:t>
            </a:r>
            <a:r>
              <a:rPr sz="1300">
                <a:solidFill>
                  <a:srgbClr val="E8EEF1"/>
                </a:solidFill>
                <a:latin typeface="Consolas"/>
              </a:rPr>
              <a:t>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</a:t>
            </a:r>
            <a:r>
              <a:rPr sz="1300">
                <a:solidFill>
                  <a:srgbClr val="FFD27F"/>
                </a:solidFill>
                <a:latin typeface="Consolas"/>
              </a:rPr>
              <a:t>'/api/users'</a:t>
            </a:r>
            <a:r>
              <a:rPr sz="1300">
                <a:solidFill>
                  <a:srgbClr val="E8EEF1"/>
                </a:solidFill>
                <a:latin typeface="Consolas"/>
              </a:rPr>
              <a:t>, userRoutes); 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→ /api/users, /api/users/:id, ...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05 · ORGANIZZAZIONE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La struttura che useremo per tutto il corso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Predisposta oggi per evitare refactor pesanti nei prossimi giorni.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26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6858000" cy="347472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6528816" cy="325526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src/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├── routes/         ← router per area (users, auth, ...)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├── controllers/    ← funzioni handler  (Giorno 2)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├── services/       ← logica di business (Giorno 2)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├── repositories/   ← query DB           (Giorno 2)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├── middlewares/    ← auth, errori       (Giorno 3)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├── utils/          ← helper             (Giorno 3)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├── app.js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└── server.js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55279" y="182880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OGGI INTRODUCIAMO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955279" y="2148840"/>
            <a:ext cx="3657600" cy="1463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routes/
separazione app.js / server.js
.gitignore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955279" y="3840480"/>
            <a:ext cx="3657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DOMANI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55279" y="4160520"/>
            <a:ext cx="3657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controllers/, services/,
repositories/, validators/
e il repository pattern.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05 · ORGANIZZAZIONE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Perché separare app.js e server.js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Un piccolo lavoro in più che paga in test, deploy e chiarezza.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27 /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RESPONSABILITÀ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50292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820"/>
                </a:solidFill>
                <a:latin typeface="Open Sans"/>
              </a:rPr>
              <a:t>app.js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2697480"/>
            <a:ext cx="50292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Costruisce l'app: registra middleware, monta router, espone l'istanza.
NON chiama mai app.listen.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48840"/>
            <a:ext cx="521208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800" b="1">
                <a:solidFill>
                  <a:srgbClr val="111820"/>
                </a:solidFill>
                <a:latin typeface="Open Sans"/>
              </a:rPr>
              <a:t>server.js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697480"/>
            <a:ext cx="521208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Importa app e avvia il listener.
È qui che si legge la PORT dall'ambiente, si setta HTTPS, ecc.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457200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VANTAGGI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89204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Test con jest + supertest: importi app e fai richieste finte senza avviare un server vero
Cambiare HTTP/HTTPS/WebSocket → modifichi solo server.js, app.js resta intatto
È la convenzione che troverai in azienda: predisponiamoci subito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" y="61722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▸  CODICE: 04-express-router/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1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1463040"/>
            <a:ext cx="64008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33B8B1"/>
                </a:solidFill>
                <a:latin typeface="Open Sans"/>
              </a:rPr>
              <a:t>SEZIONE  ·  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94560"/>
            <a:ext cx="7863840" cy="2286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Open Sans"/>
              </a:rPr>
              <a:t>CRUD in-memory di utenti finti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4617720"/>
            <a:ext cx="1371600" cy="54864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40080" y="4800600"/>
            <a:ext cx="8229600" cy="9144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900" b="0">
                <a:solidFill>
                  <a:srgbClr val="80D3CE"/>
                </a:solidFill>
                <a:latin typeface="Open Sans"/>
              </a:rPr>
              <a:t>Mettiamo insieme routing, middleware e Router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1371600"/>
            <a:ext cx="4114800" cy="411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20000" b="1">
                <a:solidFill>
                  <a:srgbClr val="303143"/>
                </a:solidFill>
                <a:latin typeface="Open Sans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28 / 34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06 ·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Cosa costruiamo nei prossimi 20 minuti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Un piccolo CRUD di utenti, in memoria, testabile con Postman.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29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182880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160934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GET    /api/users        → lista utenti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GET    /api/users/:id    → singolo utente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POST   /api/users        → crea utente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PUT    /api/users/:id    → aggiorna utente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DELETE /api/users/:id    → elimina utente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39319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FILOSOFIA DELL'ESERCIZIO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251960"/>
            <a:ext cx="10515600" cy="1828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Nessun database vero: un array JavaScript fa da "finto DB"
Dati isolati in un file dedicato → anteprima del repository pattern
Nel Giorno 2 sostituiremo l'array con SQLite senza toccare le route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06 ·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Il "database" in memoria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src/data/userStore.js — l'unico file che conosce "come sono fatti i dati".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30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42062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3986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let</a:t>
            </a:r>
            <a:r>
              <a:rPr sz="1300">
                <a:solidFill>
                  <a:srgbClr val="E8EEF1"/>
                </a:solidFill>
                <a:latin typeface="Consolas"/>
              </a:rPr>
              <a:t> users = [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{ id: 1, name: </a:t>
            </a:r>
            <a:r>
              <a:rPr sz="1300">
                <a:solidFill>
                  <a:srgbClr val="FFD27F"/>
                </a:solidFill>
                <a:latin typeface="Consolas"/>
              </a:rPr>
              <a:t>'Mario Rossi'</a:t>
            </a:r>
            <a:r>
              <a:rPr sz="1300">
                <a:solidFill>
                  <a:srgbClr val="E8EEF1"/>
                </a:solidFill>
                <a:latin typeface="Consolas"/>
              </a:rPr>
              <a:t>,   email: </a:t>
            </a:r>
            <a:r>
              <a:rPr sz="1300">
                <a:solidFill>
                  <a:srgbClr val="FFD27F"/>
                </a:solidFill>
                <a:latin typeface="Consolas"/>
              </a:rPr>
              <a:t>'mario@example.com'</a:t>
            </a:r>
            <a:r>
              <a:rPr sz="1300">
                <a:solidFill>
                  <a:srgbClr val="E8EEF1"/>
                </a:solidFill>
                <a:latin typeface="Consolas"/>
              </a:rPr>
              <a:t> },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{ id: 2, name: </a:t>
            </a:r>
            <a:r>
              <a:rPr sz="1300">
                <a:solidFill>
                  <a:srgbClr val="FFD27F"/>
                </a:solidFill>
                <a:latin typeface="Consolas"/>
              </a:rPr>
              <a:t>'Lucia Bianchi'</a:t>
            </a:r>
            <a:r>
              <a:rPr sz="1300">
                <a:solidFill>
                  <a:srgbClr val="E8EEF1"/>
                </a:solidFill>
                <a:latin typeface="Consolas"/>
              </a:rPr>
              <a:t>, email: </a:t>
            </a:r>
            <a:r>
              <a:rPr sz="1300">
                <a:solidFill>
                  <a:srgbClr val="FFD27F"/>
                </a:solidFill>
                <a:latin typeface="Consolas"/>
              </a:rPr>
              <a:t>'lucia@example.com'</a:t>
            </a:r>
            <a:r>
              <a:rPr sz="1300">
                <a:solidFill>
                  <a:srgbClr val="E8EEF1"/>
                </a:solidFill>
                <a:latin typeface="Consolas"/>
              </a:rPr>
              <a:t> 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];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let</a:t>
            </a:r>
            <a:r>
              <a:rPr sz="1300">
                <a:solidFill>
                  <a:srgbClr val="E8EEF1"/>
                </a:solidFill>
                <a:latin typeface="Consolas"/>
              </a:rPr>
              <a:t> nextId = 3;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findAll()   {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users; }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findById(id){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users.find(u =&gt; u.id === Number(id)); }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create({ name, email })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u = { id: nextId++, name, email }; users.push(u);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u;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update(id, data) { /* ... */ }</a:t>
            </a:r>
          </a:p>
          <a:p>
            <a:pPr algn="l"/>
            <a:r>
              <a:rPr sz="1300" b="1">
                <a:solidFill>
                  <a:srgbClr val="5DD8C3"/>
                </a:solidFill>
                <a:latin typeface="Consolas"/>
              </a:rPr>
              <a:t>export</a:t>
            </a:r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  <a:r>
              <a:rPr sz="1300" b="1">
                <a:solidFill>
                  <a:srgbClr val="5DD8C3"/>
                </a:solidFill>
                <a:latin typeface="Consolas"/>
              </a:rPr>
              <a:t>function</a:t>
            </a:r>
            <a:r>
              <a:rPr sz="1300">
                <a:solidFill>
                  <a:srgbClr val="E8EEF1"/>
                </a:solidFill>
                <a:latin typeface="Consolas"/>
              </a:rPr>
              <a:t> remove(id)       { /* ... */ }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06 ·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Route di lettura e creazione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GET + POST: 95% del CRUD è qui.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31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42062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39867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router.get(</a:t>
            </a:r>
            <a:r>
              <a:rPr sz="1300">
                <a:solidFill>
                  <a:srgbClr val="FFD27F"/>
                </a:solidFill>
                <a:latin typeface="Consolas"/>
              </a:rPr>
              <a:t>'/'</a:t>
            </a:r>
            <a:r>
              <a:rPr sz="1300">
                <a:solidFill>
                  <a:srgbClr val="E8EEF1"/>
                </a:solidFill>
                <a:latin typeface="Consolas"/>
              </a:rPr>
              <a:t>, 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res.json(store.findAll());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router.get(</a:t>
            </a:r>
            <a:r>
              <a:rPr sz="1300">
                <a:solidFill>
                  <a:srgbClr val="FFD27F"/>
                </a:solidFill>
                <a:latin typeface="Consolas"/>
              </a:rPr>
              <a:t>'/:id'</a:t>
            </a:r>
            <a:r>
              <a:rPr sz="1300">
                <a:solidFill>
                  <a:srgbClr val="E8EEF1"/>
                </a:solidFill>
                <a:latin typeface="Consolas"/>
              </a:rPr>
              <a:t>, 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user = store.findById(req.params.id);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(!user)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res.status(404).json({ errore: </a:t>
            </a:r>
            <a:r>
              <a:rPr sz="1300">
                <a:solidFill>
                  <a:srgbClr val="FFD27F"/>
                </a:solidFill>
                <a:latin typeface="Consolas"/>
              </a:rPr>
              <a:t>'Non trovato'</a:t>
            </a:r>
            <a:r>
              <a:rPr sz="1300">
                <a:solidFill>
                  <a:srgbClr val="E8EEF1"/>
                </a:solidFill>
                <a:latin typeface="Consolas"/>
              </a:rPr>
              <a:t> 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res.json(user);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router.post(</a:t>
            </a:r>
            <a:r>
              <a:rPr sz="1300">
                <a:solidFill>
                  <a:srgbClr val="FFD27F"/>
                </a:solidFill>
                <a:latin typeface="Consolas"/>
              </a:rPr>
              <a:t>'/'</a:t>
            </a:r>
            <a:r>
              <a:rPr sz="1300">
                <a:solidFill>
                  <a:srgbClr val="E8EEF1"/>
                </a:solidFill>
                <a:latin typeface="Consolas"/>
              </a:rPr>
              <a:t>, 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{ name, email } = req.body;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(!name || !email)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res.status(400).json({ errore: </a:t>
            </a:r>
            <a:r>
              <a:rPr sz="1300">
                <a:solidFill>
                  <a:srgbClr val="FFD27F"/>
                </a:solidFill>
                <a:latin typeface="Consolas"/>
              </a:rPr>
              <a:t>'...'</a:t>
            </a:r>
            <a:r>
              <a:rPr sz="1300">
                <a:solidFill>
                  <a:srgbClr val="E8EEF1"/>
                </a:solidFill>
                <a:latin typeface="Consolas"/>
              </a:rPr>
              <a:t> 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user = store.create({ name, email 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res.status(201).json(user);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});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06 ·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Aggiornamento, eliminazione e catch-all 404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PUT 200, DELETE 204, e l'ultimo middleware che cattura il resto.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32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23774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21579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router.put(</a:t>
            </a:r>
            <a:r>
              <a:rPr sz="1300">
                <a:solidFill>
                  <a:srgbClr val="FFD27F"/>
                </a:solidFill>
                <a:latin typeface="Consolas"/>
              </a:rPr>
              <a:t>'/:id'</a:t>
            </a:r>
            <a:r>
              <a:rPr sz="1300">
                <a:solidFill>
                  <a:srgbClr val="E8EEF1"/>
                </a:solidFill>
                <a:latin typeface="Consolas"/>
              </a:rPr>
              <a:t>, 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const</a:t>
            </a:r>
            <a:r>
              <a:rPr sz="1300">
                <a:solidFill>
                  <a:srgbClr val="E8EEF1"/>
                </a:solidFill>
                <a:latin typeface="Consolas"/>
              </a:rPr>
              <a:t> user = store.update(req.params.id, req.body);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(!user)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res.status(404).json({ errore: </a:t>
            </a:r>
            <a:r>
              <a:rPr sz="1300">
                <a:solidFill>
                  <a:srgbClr val="FFD27F"/>
                </a:solidFill>
                <a:latin typeface="Consolas"/>
              </a:rPr>
              <a:t>'Non trovato'</a:t>
            </a:r>
            <a:r>
              <a:rPr sz="1300">
                <a:solidFill>
                  <a:srgbClr val="E8EEF1"/>
                </a:solidFill>
                <a:latin typeface="Consolas"/>
              </a:rPr>
              <a:t> 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res.json(user);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router.delete(</a:t>
            </a:r>
            <a:r>
              <a:rPr sz="1300">
                <a:solidFill>
                  <a:srgbClr val="FFD27F"/>
                </a:solidFill>
                <a:latin typeface="Consolas"/>
              </a:rPr>
              <a:t>'/:id'</a:t>
            </a:r>
            <a:r>
              <a:rPr sz="1300">
                <a:solidFill>
                  <a:srgbClr val="E8EEF1"/>
                </a:solidFill>
                <a:latin typeface="Consolas"/>
              </a:rPr>
              <a:t>, (req, res) =&gt; {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</a:t>
            </a:r>
            <a:r>
              <a:rPr sz="1300" b="1">
                <a:solidFill>
                  <a:srgbClr val="5DD8C3"/>
                </a:solidFill>
                <a:latin typeface="Consolas"/>
              </a:rPr>
              <a:t>if</a:t>
            </a:r>
            <a:r>
              <a:rPr sz="1300">
                <a:solidFill>
                  <a:srgbClr val="E8EEF1"/>
                </a:solidFill>
                <a:latin typeface="Consolas"/>
              </a:rPr>
              <a:t> (!store.remove(req.params.id))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 </a:t>
            </a:r>
            <a:r>
              <a:rPr sz="1300" b="1">
                <a:solidFill>
                  <a:srgbClr val="5DD8C3"/>
                </a:solidFill>
                <a:latin typeface="Consolas"/>
              </a:rPr>
              <a:t>return</a:t>
            </a:r>
            <a:r>
              <a:rPr sz="1300">
                <a:solidFill>
                  <a:srgbClr val="E8EEF1"/>
                </a:solidFill>
                <a:latin typeface="Consolas"/>
              </a:rPr>
              <a:t> res.status(404).json({ errore: </a:t>
            </a:r>
            <a:r>
              <a:rPr sz="1300">
                <a:solidFill>
                  <a:srgbClr val="FFD27F"/>
                </a:solidFill>
                <a:latin typeface="Consolas"/>
              </a:rPr>
              <a:t>'Non trovato'</a:t>
            </a:r>
            <a:r>
              <a:rPr sz="1300">
                <a:solidFill>
                  <a:srgbClr val="E8EEF1"/>
                </a:solidFill>
                <a:latin typeface="Consolas"/>
              </a:rPr>
              <a:t> });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res.sendStatus(204);   </a:t>
            </a:r>
            <a:r>
              <a:rPr sz="1300" i="1">
                <a:solidFill>
                  <a:srgbClr val="8893A0"/>
                </a:solidFill>
                <a:latin typeface="Consolas"/>
              </a:rPr>
              <a:t>// No Content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});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4389120"/>
            <a:ext cx="1051560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IN APP.JS, ULTIMO DI TUTTI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8680" y="4709160"/>
            <a:ext cx="10515600" cy="128016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033272" y="4818888"/>
            <a:ext cx="10186416" cy="106070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 i="1">
                <a:solidFill>
                  <a:srgbClr val="8893A0"/>
                </a:solidFill>
                <a:latin typeface="Consolas"/>
              </a:rPr>
              <a:t>// catch-all 404: arriva qui se nessuna route ha risposto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app.use((req, res) =&gt; res.status(404).json({ errore: </a:t>
            </a:r>
            <a:r>
              <a:rPr sz="1300">
                <a:solidFill>
                  <a:srgbClr val="FFD27F"/>
                </a:solidFill>
                <a:latin typeface="Consolas"/>
              </a:rPr>
              <a:t>'Route non trovata'</a:t>
            </a:r>
            <a:r>
              <a:rPr sz="1300">
                <a:solidFill>
                  <a:srgbClr val="E8EEF1"/>
                </a:solidFill>
                <a:latin typeface="Consolas"/>
              </a:rPr>
              <a:t> }));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06 · CRUD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Testare con Postman / REST Client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La sequenza completa che faremo in aula.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33 / 34</a:t>
            </a:r>
          </a:p>
        </p:txBody>
      </p:sp>
      <p:sp>
        <p:nvSpPr>
          <p:cNvPr id="10" name="Rectangle 9"/>
          <p:cNvSpPr/>
          <p:nvPr/>
        </p:nvSpPr>
        <p:spPr>
          <a:xfrm>
            <a:off x="868680" y="1828800"/>
            <a:ext cx="10515600" cy="3291840"/>
          </a:xfrm>
          <a:prstGeom prst="rect">
            <a:avLst/>
          </a:prstGeom>
          <a:solidFill>
            <a:srgbClr val="0F25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033272" y="1938528"/>
            <a:ext cx="10186416" cy="3072384"/>
          </a:xfrm>
          <a:prstGeom prst="rect">
            <a:avLst/>
          </a:prstGeom>
          <a:noFill/>
        </p:spPr>
        <p:txBody>
          <a:bodyPr wrap="none" lIns="0" tIns="0" rIns="0" bIns="0">
            <a:spAutoFit/>
          </a:bodyPr>
          <a:lstStyle/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1. GET    http:</a:t>
            </a:r>
            <a:r>
              <a:rPr sz="1300" i="1">
                <a:solidFill>
                  <a:srgbClr val="8893A0"/>
                </a:solidFill>
                <a:latin typeface="Consolas"/>
              </a:rPr>
              <a:t>//localhost:3000/api/users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2. POST   http:</a:t>
            </a:r>
            <a:r>
              <a:rPr sz="1300" i="1">
                <a:solidFill>
                  <a:srgbClr val="8893A0"/>
                </a:solidFill>
                <a:latin typeface="Consolas"/>
              </a:rPr>
              <a:t>//localhost:3000/api/users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Body JSON: { </a:t>
            </a:r>
            <a:r>
              <a:rPr sz="1300">
                <a:solidFill>
                  <a:srgbClr val="FFD27F"/>
                </a:solidFill>
                <a:latin typeface="Consolas"/>
              </a:rPr>
              <a:t>"name"</a:t>
            </a:r>
            <a:r>
              <a:rPr sz="1300">
                <a:solidFill>
                  <a:srgbClr val="E8EEF1"/>
                </a:solidFill>
                <a:latin typeface="Consolas"/>
              </a:rPr>
              <a:t>: </a:t>
            </a:r>
            <a:r>
              <a:rPr sz="1300">
                <a:solidFill>
                  <a:srgbClr val="FFD27F"/>
                </a:solidFill>
                <a:latin typeface="Consolas"/>
              </a:rPr>
              <a:t>"Anna Verdi"</a:t>
            </a:r>
            <a:r>
              <a:rPr sz="1300">
                <a:solidFill>
                  <a:srgbClr val="E8EEF1"/>
                </a:solidFill>
                <a:latin typeface="Consolas"/>
              </a:rPr>
              <a:t>, </a:t>
            </a:r>
            <a:r>
              <a:rPr sz="1300">
                <a:solidFill>
                  <a:srgbClr val="FFD27F"/>
                </a:solidFill>
                <a:latin typeface="Consolas"/>
              </a:rPr>
              <a:t>"email"</a:t>
            </a:r>
            <a:r>
              <a:rPr sz="1300">
                <a:solidFill>
                  <a:srgbClr val="E8EEF1"/>
                </a:solidFill>
                <a:latin typeface="Consolas"/>
              </a:rPr>
              <a:t>: </a:t>
            </a:r>
            <a:r>
              <a:rPr sz="1300">
                <a:solidFill>
                  <a:srgbClr val="FFD27F"/>
                </a:solidFill>
                <a:latin typeface="Consolas"/>
              </a:rPr>
              <a:t>"anna@example.com"</a:t>
            </a:r>
            <a:r>
              <a:rPr sz="1300">
                <a:solidFill>
                  <a:srgbClr val="E8EEF1"/>
                </a:solidFill>
                <a:latin typeface="Consolas"/>
              </a:rPr>
              <a:t> 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3. GET    http:</a:t>
            </a:r>
            <a:r>
              <a:rPr sz="1300" i="1">
                <a:solidFill>
                  <a:srgbClr val="8893A0"/>
                </a:solidFill>
                <a:latin typeface="Consolas"/>
              </a:rPr>
              <a:t>//localhost:3000/api/users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4. PUT    http:</a:t>
            </a:r>
            <a:r>
              <a:rPr sz="1300" i="1">
                <a:solidFill>
                  <a:srgbClr val="8893A0"/>
                </a:solidFill>
                <a:latin typeface="Consolas"/>
              </a:rPr>
              <a:t>//localhost:3000/api/users/3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   Body JSON: { </a:t>
            </a:r>
            <a:r>
              <a:rPr sz="1300">
                <a:solidFill>
                  <a:srgbClr val="FFD27F"/>
                </a:solidFill>
                <a:latin typeface="Consolas"/>
              </a:rPr>
              <a:t>"name"</a:t>
            </a:r>
            <a:r>
              <a:rPr sz="1300">
                <a:solidFill>
                  <a:srgbClr val="E8EEF1"/>
                </a:solidFill>
                <a:latin typeface="Consolas"/>
              </a:rPr>
              <a:t>: </a:t>
            </a:r>
            <a:r>
              <a:rPr sz="1300">
                <a:solidFill>
                  <a:srgbClr val="FFD27F"/>
                </a:solidFill>
                <a:latin typeface="Consolas"/>
              </a:rPr>
              <a:t>"Anna Verdi Junior"</a:t>
            </a:r>
            <a:r>
              <a:rPr sz="1300">
                <a:solidFill>
                  <a:srgbClr val="E8EEF1"/>
                </a:solidFill>
                <a:latin typeface="Consolas"/>
              </a:rPr>
              <a:t> }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5. DELETE http:</a:t>
            </a:r>
            <a:r>
              <a:rPr sz="1300" i="1">
                <a:solidFill>
                  <a:srgbClr val="8893A0"/>
                </a:solidFill>
                <a:latin typeface="Consolas"/>
              </a:rPr>
              <a:t>//localhost:3000/api/users/3</a:t>
            </a:r>
          </a:p>
          <a:p>
            <a:pPr algn="l"/>
            <a:r>
              <a:rPr sz="1300">
                <a:solidFill>
                  <a:srgbClr val="E8EEF1"/>
                </a:solidFill>
                <a:latin typeface="Consolas"/>
              </a:rPr>
              <a:t>6. GET    http:</a:t>
            </a:r>
            <a:r>
              <a:rPr sz="1300" i="1">
                <a:solidFill>
                  <a:srgbClr val="8893A0"/>
                </a:solidFill>
                <a:latin typeface="Consolas"/>
              </a:rPr>
              <a:t>//localhost:3000/api/users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" y="5303520"/>
            <a:ext cx="10515600" cy="7315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35364A"/>
                </a:solidFill>
                <a:latin typeface="Open Sans"/>
              </a:rPr>
              <a:t>Se fermi e riavvii il server, l'array torna al contenuto iniziale.
Esattamente quello che vogliamo per ora: domani arriva SQLite.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6172200"/>
            <a:ext cx="10058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200" b="1">
                <a:solidFill>
                  <a:srgbClr val="00A69D"/>
                </a:solidFill>
                <a:latin typeface="Open Sans"/>
              </a:rPr>
              <a:t>▸  CODICE: 05-express-crud-inmem/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5F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329184"/>
          </a:xfrm>
          <a:prstGeom prst="rect">
            <a:avLst/>
          </a:prstGeom>
          <a:solidFill>
            <a:srgbClr val="1118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822960" cy="164592"/>
          </a:xfrm>
          <a:prstGeom prst="rect">
            <a:avLst/>
          </a:prstGeom>
          <a:solidFill>
            <a:srgbClr val="33B8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365760" y="18288"/>
            <a:ext cx="822960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Open Sans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0" y="18288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1000" b="0">
                <a:solidFill>
                  <a:srgbClr val="80D3CE"/>
                </a:solidFill>
                <a:latin typeface="Open Sans"/>
              </a:rPr>
              <a:t>CORSO NODE.JS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594360"/>
            <a:ext cx="1097280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3200" b="1">
                <a:solidFill>
                  <a:srgbClr val="111820"/>
                </a:solidFill>
                <a:latin typeface="Open Sans"/>
              </a:rPr>
              <a:t>Cosa ci portiamo a casa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325880"/>
            <a:ext cx="10515600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>
                <a:solidFill>
                  <a:srgbClr val="555667"/>
                </a:solidFill>
                <a:latin typeface="Open Sans"/>
              </a:rPr>
              <a:t>Mattoncini fissati oggi, da cui partiremo domani.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9224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00" b="0">
                <a:solidFill>
                  <a:srgbClr val="90909B"/>
                </a:solidFill>
                <a:latin typeface="Open Sans"/>
              </a:rPr>
              <a:t>Giorno 1 — Parte 2 / Express base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64240" y="6492240"/>
            <a:ext cx="9144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0">
                <a:solidFill>
                  <a:srgbClr val="90909B"/>
                </a:solidFill>
                <a:latin typeface="Open Sans"/>
              </a:rPr>
              <a:t>34 / 34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1828800"/>
            <a:ext cx="512064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OGGI ABBIAMO COSTRUITO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148840"/>
            <a:ext cx="512064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Setup Express con ESM e nodemon
Routing dichiarativo (get / post / put / delete)
Middleware built-in, terze parti, custom
express.Router() e struttura a cartelle
Separazione app.js / server.js
CRUD in-memory testato con Postman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55080" y="1828800"/>
            <a:ext cx="5212080" cy="3657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100" b="1">
                <a:solidFill>
                  <a:srgbClr val="00A69D"/>
                </a:solidFill>
                <a:latin typeface="Open Sans"/>
              </a:rPr>
              <a:t>DOMANI (GIORNO 2)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48840"/>
            <a:ext cx="5212080" cy="3657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400" b="0">
                <a:solidFill>
                  <a:srgbClr val="555667"/>
                </a:solidFill>
                <a:latin typeface="Open Sans"/>
              </a:rPr>
              <a:t>Error handler centralizzato e async/await
SQLite con better-sqlite3 e schema vero
Repository pattern formalizzato
Validazione input con express-validator
dotenv e .env
POST /auth/register con bcrypt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" y="5852160"/>
            <a:ext cx="10515600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300" b="1">
                <a:solidFill>
                  <a:srgbClr val="00A69D"/>
                </a:solidFill>
                <a:latin typeface="Open Sans"/>
              </a:rPr>
              <a:t>▸ CODICE: codice-esempi/giorno-1-parte-2/  ·  5 mini-progetti pronti da eseguire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4038</Words>
  <Application>Microsoft Office PowerPoint</Application>
  <PresentationFormat>Widescreen</PresentationFormat>
  <Paragraphs>506</Paragraphs>
  <Slides>35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35</vt:i4>
      </vt:variant>
    </vt:vector>
  </HeadingPairs>
  <TitlesOfParts>
    <vt:vector size="41" baseType="lpstr">
      <vt:lpstr>Albert Sans ExtraBold</vt:lpstr>
      <vt:lpstr>Arial</vt:lpstr>
      <vt:lpstr>Calibri</vt:lpstr>
      <vt:lpstr>Consolas</vt:lpstr>
      <vt:lpstr>Open Sans</vt:lpstr>
      <vt:lpstr>Office Theme</vt:lpstr>
      <vt:lpstr>Massimo Petrolati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  <vt:lpstr>Presentazione standard di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Massimo Petrolati</cp:lastModifiedBy>
  <cp:revision>1</cp:revision>
  <dcterms:created xsi:type="dcterms:W3CDTF">2013-01-27T09:14:16Z</dcterms:created>
  <dcterms:modified xsi:type="dcterms:W3CDTF">2026-05-16T13:09:03Z</dcterms:modified>
  <cp:category/>
</cp:coreProperties>
</file>