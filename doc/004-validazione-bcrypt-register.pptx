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C77F6-1B89-4534-AD1F-50D948630E99}" v="1" dt="2026-05-16T13:10:07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Petrolati" userId="e7daa978-26e3-4c4e-8847-ea9e36559ae5" providerId="ADAL" clId="{A7182F9C-EEA7-476B-8E0E-53730D456657}"/>
    <pc:docChg chg="addSld modSld sldOrd">
      <pc:chgData name="Massimo Petrolati" userId="e7daa978-26e3-4c4e-8847-ea9e36559ae5" providerId="ADAL" clId="{A7182F9C-EEA7-476B-8E0E-53730D456657}" dt="2026-05-16T13:10:31.954" v="53" actId="404"/>
      <pc:docMkLst>
        <pc:docMk/>
      </pc:docMkLst>
      <pc:sldChg chg="modSp add mod ord modTransition">
        <pc:chgData name="Massimo Petrolati" userId="e7daa978-26e3-4c4e-8847-ea9e36559ae5" providerId="ADAL" clId="{A7182F9C-EEA7-476B-8E0E-53730D456657}" dt="2026-05-16T13:10:31.954" v="53" actId="404"/>
        <pc:sldMkLst>
          <pc:docMk/>
          <pc:sldMk cId="2685233201" sldId="279"/>
        </pc:sldMkLst>
        <pc:spChg chg="mod">
          <ac:chgData name="Massimo Petrolati" userId="e7daa978-26e3-4c4e-8847-ea9e36559ae5" providerId="ADAL" clId="{A7182F9C-EEA7-476B-8E0E-53730D456657}" dt="2026-05-16T13:10:31.954" v="53" actId="404"/>
          <ac:spMkLst>
            <pc:docMk/>
            <pc:sldMk cId="2685233201" sldId="279"/>
            <ac:spMk id="17" creationId="{E660CF5B-BDDE-A2B6-465D-1938C343BA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9C6A910-B62B-D5C1-D10E-82D42594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1632072-FBA4-DEF6-3FF9-6E3E001D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5811443"/>
            <a:ext cx="7035800" cy="98751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183F8F2-7E4B-0C63-41FC-E499C02BE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24" y="2932044"/>
            <a:ext cx="8216348" cy="112824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DD2E793-D920-63C5-B636-69383566E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141" y="1988220"/>
            <a:ext cx="4727713" cy="1202635"/>
          </a:xfrm>
          <a:prstGeom prst="rect">
            <a:avLst/>
          </a:prstGeom>
        </p:spPr>
      </p:pic>
      <p:sp>
        <p:nvSpPr>
          <p:cNvPr id="16" name="Titolo 1">
            <a:extLst>
              <a:ext uri="{FF2B5EF4-FFF2-40B4-BE49-F238E27FC236}">
                <a16:creationId xmlns:a16="http://schemas.microsoft.com/office/drawing/2014/main" id="{3A271565-6D7D-D77C-24F3-78367CF1C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60000">
            <a:off x="1523975" y="1978908"/>
            <a:ext cx="9144000" cy="9683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4400" b="1" dirty="0">
                <a:solidFill>
                  <a:srgbClr val="3C3C3B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Massimo Petrolati</a:t>
            </a:r>
            <a:endParaRPr lang="it-IT" b="1" dirty="0">
              <a:solidFill>
                <a:schemeClr val="bg1"/>
              </a:solidFill>
              <a:latin typeface="Albert Sans ExtraBold" pitchFamily="2" charset="77"/>
              <a:cs typeface="Trade Gothic Inline" panose="020F050202020403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660CF5B-BDDE-A2B6-465D-1938C343BA01}"/>
              </a:ext>
            </a:extLst>
          </p:cNvPr>
          <p:cNvSpPr txBox="1"/>
          <p:nvPr/>
        </p:nvSpPr>
        <p:spPr>
          <a:xfrm rot="-60000">
            <a:off x="1969688" y="3299578"/>
            <a:ext cx="8233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Validazione, </a:t>
            </a:r>
            <a:r>
              <a:rPr lang="it-IT" sz="3600" b="1" dirty="0" err="1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bcrypt</a:t>
            </a:r>
            <a:r>
              <a:rPr lang="it-IT" sz="3600" b="1" dirty="0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 e registrazione utenti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268523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0D3CE"/>
                </a:solidFill>
                <a:latin typeface="Open Sans"/>
              </a:rPr>
              <a:t>CORSO NODE.JS + EXPRESS +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pen Sans"/>
              </a:rPr>
              <a:t>Validazione, bcrypt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pen Sans"/>
              </a:rPr>
              <a:t>e registrazione utenti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80D3CE"/>
                </a:solidFill>
                <a:latin typeface="Open Sans"/>
              </a:rPr>
              <a:t>Il primo endpoint serio del progetto:</a:t>
            </a:r>
          </a:p>
          <a:p>
            <a:pPr algn="l"/>
            <a:r>
              <a:rPr sz="2200" b="0">
                <a:solidFill>
                  <a:srgbClr val="80D3CE"/>
                </a:solidFill>
                <a:latin typeface="Open Sans"/>
              </a:rPr>
              <a:t>POST /api/auth/register end-to-end.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9728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Open Sans"/>
              </a:rPr>
              <a:t>Giorno 2 — Parte 2 / 2 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0909B"/>
                </a:solidFill>
                <a:latin typeface="Open Sans"/>
              </a:rPr>
              <a:t>Livello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5778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3B8B1"/>
                </a:solidFill>
                <a:latin typeface="Open Sans"/>
              </a:rPr>
              <a:t>DOCENTE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897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pen Sans"/>
              </a:rPr>
              <a:t>Massimo Petrolati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2636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0D3CE"/>
                </a:solidFill>
                <a:latin typeface="Open Sans"/>
              </a:rPr>
              <a:t>Product Manager · Namirial SpA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820"/>
                </a:solidFill>
                <a:latin typeface="Open Sans"/>
              </a:rPr>
              <a:t>Cosa vedremo oggi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Validazione input (express-validator)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874519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97479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Configurazione e segreti (dotenv)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7432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39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66159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Hashing password con bcrypt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611879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4348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Service layer: authService.register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480559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035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Controller, route e test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53492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Validazione input con express-validator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Non fidarsi mai del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VALIDAZIONE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Perché validare SEMPRE lato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La validazione lato browser è solo un favore all'utente normale.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4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QUATTRO RAGIONI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5156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1.  Frontend rotto da un bug → mandi dati non validi al server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2.  JavaScript disabilitato (estensioni, modalità privacy)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3.  Client diversi: Postman, app mobile, altri server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4.  Attaccanti che testano con curl cosa accetti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820"/>
                </a:solidFill>
                <a:latin typeface="Open Sans"/>
              </a:rPr>
              <a:t>La validazione lato server è l'UNICA vera difesa.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VALIDAZIONE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express-validator: la sintassi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Una lista di middleware in catena, uno per ogni campo.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5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347472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255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body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'express-validator'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registerValidator = [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body(</a:t>
            </a:r>
            <a:r>
              <a:rPr sz="1300">
                <a:solidFill>
                  <a:srgbClr val="FFD27F"/>
                </a:solidFill>
                <a:latin typeface="Consolas"/>
              </a:rPr>
              <a:t>'email'</a:t>
            </a:r>
            <a:r>
              <a:rPr sz="1300">
                <a:solidFill>
                  <a:srgbClr val="E8EEF1"/>
                </a:solidFill>
                <a:latin typeface="Consolas"/>
              </a:rPr>
              <a:t>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.isEmail().withMessage(</a:t>
            </a:r>
            <a:r>
              <a:rPr sz="1300">
                <a:solidFill>
                  <a:srgbClr val="FFD27F"/>
                </a:solidFill>
                <a:latin typeface="Consolas"/>
              </a:rPr>
              <a:t>'Email non valida'</a:t>
            </a:r>
            <a:r>
              <a:rPr sz="1300">
                <a:solidFill>
                  <a:srgbClr val="E8EEF1"/>
                </a:solidFill>
                <a:latin typeface="Consolas"/>
              </a:rPr>
              <a:t>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.normalizeEmail(),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body(</a:t>
            </a:r>
            <a:r>
              <a:rPr sz="1300">
                <a:solidFill>
                  <a:srgbClr val="FFD27F"/>
                </a:solidFill>
                <a:latin typeface="Consolas"/>
              </a:rPr>
              <a:t>'password'</a:t>
            </a:r>
            <a:r>
              <a:rPr sz="1300">
                <a:solidFill>
                  <a:srgbClr val="E8EEF1"/>
                </a:solidFill>
                <a:latin typeface="Consolas"/>
              </a:rPr>
              <a:t>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.isString().withMessage(</a:t>
            </a:r>
            <a:r>
              <a:rPr sz="1300">
                <a:solidFill>
                  <a:srgbClr val="FFD27F"/>
                </a:solidFill>
                <a:latin typeface="Consolas"/>
              </a:rPr>
              <a:t>'Password obbligatoria'</a:t>
            </a:r>
            <a:r>
              <a:rPr sz="1300">
                <a:solidFill>
                  <a:srgbClr val="E8EEF1"/>
                </a:solidFill>
                <a:latin typeface="Consolas"/>
              </a:rPr>
              <a:t>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.isLength({ min: 8 }).withMessage(</a:t>
            </a:r>
            <a:r>
              <a:rPr sz="1300">
                <a:solidFill>
                  <a:srgbClr val="FFD27F"/>
                </a:solidFill>
                <a:latin typeface="Consolas"/>
              </a:rPr>
              <a:t>'Password troppo corta'</a:t>
            </a:r>
            <a:r>
              <a:rPr sz="1300">
                <a:solidFill>
                  <a:srgbClr val="E8EEF1"/>
                </a:solidFill>
                <a:latin typeface="Consolas"/>
              </a:rPr>
              <a:t>),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body(</a:t>
            </a:r>
            <a:r>
              <a:rPr sz="1300">
                <a:solidFill>
                  <a:srgbClr val="FFD27F"/>
                </a:solidFill>
                <a:latin typeface="Consolas"/>
              </a:rPr>
              <a:t>'name'</a:t>
            </a:r>
            <a:r>
              <a:rPr sz="1300">
                <a:solidFill>
                  <a:srgbClr val="E8EEF1"/>
                </a:solidFill>
                <a:latin typeface="Consolas"/>
              </a:rPr>
              <a:t>).optional().isString().trim()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];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86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Catena fluente: validator → withMessage → sanitizer. Ogni step può aggiungere errori o trasformare il valore.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VALIDAZIONE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Custom validators e middleware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Per regole specifiche del dominio + un solo punto per le risposte 400.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6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CUSTOM: password complessa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body(</a:t>
            </a:r>
            <a:r>
              <a:rPr sz="1300">
                <a:solidFill>
                  <a:srgbClr val="FFD27F"/>
                </a:solidFill>
                <a:latin typeface="Consolas"/>
              </a:rPr>
              <a:t>'password'</a:t>
            </a:r>
            <a:r>
              <a:rPr sz="1300">
                <a:solidFill>
                  <a:srgbClr val="E8EEF1"/>
                </a:solidFill>
                <a:latin typeface="Consolas"/>
              </a:rPr>
              <a:t>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.isLength({ min: 8 })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.custom((value)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(!/[A-Z]/.test(value))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throw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new</a:t>
            </a:r>
            <a:r>
              <a:rPr sz="1300">
                <a:solidFill>
                  <a:srgbClr val="E8EEF1"/>
                </a:solidFill>
                <a:latin typeface="Consolas"/>
              </a:rPr>
              <a:t> Error(</a:t>
            </a:r>
            <a:r>
              <a:rPr sz="1300">
                <a:solidFill>
                  <a:srgbClr val="FFD27F"/>
                </a:solidFill>
                <a:latin typeface="Consolas"/>
              </a:rPr>
              <a:t>'Manca maiuscola'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(!/[0-9]/.test(value))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throw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new</a:t>
            </a:r>
            <a:r>
              <a:rPr sz="1300">
                <a:solidFill>
                  <a:srgbClr val="E8EEF1"/>
                </a:solidFill>
                <a:latin typeface="Consolas"/>
              </a:rPr>
              <a:t> Error(</a:t>
            </a:r>
            <a:r>
              <a:rPr sz="1300">
                <a:solidFill>
                  <a:srgbClr val="FFD27F"/>
                </a:solidFill>
                <a:latin typeface="Consolas"/>
              </a:rPr>
              <a:t>'Manca numero'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true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MIDDLEWARE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{validationResult}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'express-validator'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validate(req, res, next)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errs = validationResult(req);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(errs.isEmpty())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next();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res.status(400).json({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'Validazione fallita'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dettagli: errs.array()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PIPELINE COMPLETA NELLA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5184648"/>
            <a:ext cx="10186416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router.post(</a:t>
            </a:r>
            <a:r>
              <a:rPr sz="1300">
                <a:solidFill>
                  <a:srgbClr val="FFD27F"/>
                </a:solidFill>
                <a:latin typeface="Consolas"/>
              </a:rPr>
              <a:t>'/register'</a:t>
            </a:r>
            <a:r>
              <a:rPr sz="1300">
                <a:solidFill>
                  <a:srgbClr val="E8EEF1"/>
                </a:solidFill>
                <a:latin typeface="Consolas"/>
              </a:rPr>
              <a:t>, registerValidator, validate, authController.register);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01-express-validator/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Configurazione e segreti con dotenv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File .env, fail-fast, separazione dev/prod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DOTENV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Perché i segreti NON vanno nel codice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Quattro motivi pratici che ogni junior dovrebbe conoscere a memoria.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8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01  GIT È PER SEMPRE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Committato per sbaglio = resta nello storico. Bot scansionano GitHub pubblico in minuti.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02  AMBIENTI DIVERSI = VALORI DIVERSI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DB di dev ≠ DB di prod. Hardcodare ti obbliga a modificare il codice per cambiare ambiente.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03 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I secret vanno cambiati. Da codice = deploy. Da env vars = restart processo.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04  SEPARAZIONE DI RUOLI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Chi può leggere il codice non deve necessariamente conoscere i secret di produzione.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DOTENV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.env + .env.example + .gitignore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.env reale (mai committato) + .env.example come contratto (committato).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.env  (gitignore)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PORT=3000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NODE_ENV=development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DB_PATH=./data/app.db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JWT_SECRET=stringa-vera-segreta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JWT_EXPIRES_IN=1h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BCRYPT_ROUNDS=10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.env.example  (committato)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PORT=3000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NODE_ENV=development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DB_PATH=./data/app.db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JWT_SECRET=metti-qui-stringa-lunga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JWT_EXPIRES_IN=1h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BCRYPT_ROUNDS=10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.gitignore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5184648"/>
            <a:ext cx="10186416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node_modules/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.env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data/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DOTENV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config/env.js con fail-fast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 unico file legge tutte le env e crasha subito se manca un'obbligatoria.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10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895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'dotenv/config'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required(name)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value = process.env[name];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(!value)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console.error(</a:t>
            </a:r>
            <a:r>
              <a:rPr sz="1300">
                <a:solidFill>
                  <a:srgbClr val="FFD27F"/>
                </a:solidFill>
                <a:latin typeface="Consolas"/>
              </a:rPr>
              <a:t>`Manca env: ${name}`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process.exit(1);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value;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env =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port:          parseInt(process.env.PORT || </a:t>
            </a:r>
            <a:r>
              <a:rPr sz="1300">
                <a:solidFill>
                  <a:srgbClr val="FFD27F"/>
                </a:solidFill>
                <a:latin typeface="Consolas"/>
              </a:rPr>
              <a:t>'3000'</a:t>
            </a:r>
            <a:r>
              <a:rPr sz="1300">
                <a:solidFill>
                  <a:srgbClr val="E8EEF1"/>
                </a:solidFill>
                <a:latin typeface="Consolas"/>
              </a:rPr>
              <a:t>, 10),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nodeEnv:       process.env.NODE_ENV || </a:t>
            </a:r>
            <a:r>
              <a:rPr sz="1300">
                <a:solidFill>
                  <a:srgbClr val="FFD27F"/>
                </a:solidFill>
                <a:latin typeface="Consolas"/>
              </a:rPr>
              <a:t>'development'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jwtSecret:     required(</a:t>
            </a:r>
            <a:r>
              <a:rPr sz="1300">
                <a:solidFill>
                  <a:srgbClr val="FFD27F"/>
                </a:solidFill>
                <a:latin typeface="Consolas"/>
              </a:rPr>
              <a:t>'JWT_SECRET'</a:t>
            </a:r>
            <a:r>
              <a:rPr sz="1300">
                <a:solidFill>
                  <a:srgbClr val="E8EEF1"/>
                </a:solidFill>
                <a:latin typeface="Consolas"/>
              </a:rPr>
              <a:t>),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bcryptRounds:  parseInt(process.env.BCRYPT_ROUNDS || </a:t>
            </a:r>
            <a:r>
              <a:rPr sz="1300">
                <a:solidFill>
                  <a:srgbClr val="FFD27F"/>
                </a:solidFill>
                <a:latin typeface="Consolas"/>
              </a:rPr>
              <a:t>'10'</a:t>
            </a:r>
            <a:r>
              <a:rPr sz="1300">
                <a:solidFill>
                  <a:srgbClr val="E8EEF1"/>
                </a:solidFill>
                <a:latin typeface="Consolas"/>
              </a:rPr>
              <a:t>, 10),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02-dotenv-config/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Hashing password con bcrypt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Salt, work factor, perché MAI in chiaro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BCRYPT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Perché MAI in chiaro, perché non basta MD5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Tre scenari realistici + due problemi degli hash generici veloci.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PERCHÉ NON IN CHIARO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212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DB compromesso = tutte le password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esposte (e gli utenti le riusano).</a:t>
            </a:r>
          </a:p>
          <a:p>
            <a:pPr algn="l"/>
            <a:endParaRPr sz="14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Neanche tu come admin dovresti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poterle leggere.</a:t>
            </a:r>
          </a:p>
          <a:p>
            <a:pPr algn="l"/>
            <a:endParaRPr sz="14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GDPR + privacy by design lo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richiedono per legge.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PERCHÉ NON MD5/SHA1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Deterministici: stesso input,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stesso hash. L'attaccante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lo vede.</a:t>
            </a:r>
          </a:p>
          <a:p>
            <a:pPr algn="l"/>
            <a:endParaRPr sz="14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Veloci: GPU calcola miliardi di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MD5 al secondo.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Rainbow table = password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trovate in millisecondi.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BCRYPT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Salt + work factor: la soluzione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bcrypt è pensato apposta per le password: lento e mai uguale a sé stesso.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SALT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2120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Stringa casuale dentro l'hash.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Stessa password → hash diversi.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Le rainbow table non funzionano.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WORK FACTOR (rounds)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Quante iterazioni fare.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rounds=10 → ~100ms per hash.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Proibitivo per brute force.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STRUTTURA DI UN HASH bcrypt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892040"/>
            <a:ext cx="10515600" cy="10058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5001768"/>
            <a:ext cx="10186416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$2b$10$N9qo8uLOickgx2ZMRZoMyeIjZAgcfl7p92ldGxad68LJZdL17lhWy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$algoritmo $rounds $salt+hash  — tutto in un solo 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BCRYPT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Le due funzioni che useremo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hashPassword e comparePassword: due wrapper sopra bcrypt.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14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src/utils/hashPassword.js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bcrypt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'bcrypt'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env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'../config/env.js'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hashPassword(plain)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bcrypt.hash(plain, env.bcryptRounds);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comparePassword(plain, hash)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bcrypt.compare(plain, hash);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RICORDA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Per confrontare usa SEMPRE bcrypt.compare(plain, hash).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MAI ===: ogni hash è diverso anche per la stessa password (salt).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03-bcrypt-playground/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Service layer: authService.register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Dove vive la logica di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15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Dove vive cosa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Repository = meccanico. Controller = protocollo. Service = cervello.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16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Meccanico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Scrive ciò che gli viene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chiesto, legge ciò che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gli viene chiesto.</a:t>
            </a:r>
          </a:p>
          <a:p>
            <a:pPr algn="l"/>
            <a:endParaRPr sz="13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NON valida.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NON hasha.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NON controlla duplicati.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02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Cervello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Orchestra le operazioni.</a:t>
            </a:r>
          </a:p>
          <a:p>
            <a:pPr algn="l"/>
            <a:endParaRPr sz="13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Decide COSA fare: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cerca duplicati,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hasha,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salva,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ritorna l'utente pulito.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2402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Protocollo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834640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Estrae da req, chiama il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service, scrive in res.</a:t>
            </a:r>
          </a:p>
          <a:p>
            <a:pPr algn="l"/>
            <a:endParaRPr sz="13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Tre righe utili.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NON sa di logica.</a:t>
            </a:r>
          </a:p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NON tocca il DB.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authService.register passo passo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1. Check duplicato → 2. Hash → 3. Save → 4. Ritorna pulito.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17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2062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* </a:t>
            </a:r>
            <a:r>
              <a:rPr sz="1300" b="1">
                <a:solidFill>
                  <a:srgbClr val="5DD8C3"/>
                </a:solidFill>
                <a:latin typeface="Consolas"/>
              </a:rPr>
              <a:t>as</a:t>
            </a:r>
            <a:r>
              <a:rPr sz="1300">
                <a:solidFill>
                  <a:srgbClr val="E8EEF1"/>
                </a:solidFill>
                <a:latin typeface="Consolas"/>
              </a:rPr>
              <a:t> userRepository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'../repositories/userRepository.js'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hashPassword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'../utils/hashPassword.js'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AppError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'../utils/AppError.js'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register({ email, password, name =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, role = </a:t>
            </a:r>
            <a:r>
              <a:rPr sz="1300">
                <a:solidFill>
                  <a:srgbClr val="FFD27F"/>
                </a:solidFill>
                <a:latin typeface="Consolas"/>
              </a:rPr>
              <a:t>'user'</a:t>
            </a:r>
            <a:r>
              <a:rPr sz="1300">
                <a:solidFill>
                  <a:srgbClr val="E8EEF1"/>
                </a:solidFill>
                <a:latin typeface="Consolas"/>
              </a:rPr>
              <a:t> }) {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  // 1. C'e' gia' un utente con questa email?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(userRepository.findByEmail(email))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throw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new</a:t>
            </a:r>
            <a:r>
              <a:rPr sz="1300">
                <a:solidFill>
                  <a:srgbClr val="E8EEF1"/>
                </a:solidFill>
                <a:latin typeface="Consolas"/>
              </a:rPr>
              <a:t> AppError(</a:t>
            </a:r>
            <a:r>
              <a:rPr sz="1300">
                <a:solidFill>
                  <a:srgbClr val="FFD27F"/>
                </a:solidFill>
                <a:latin typeface="Consolas"/>
              </a:rPr>
              <a:t>'Email gia registrata'</a:t>
            </a:r>
            <a:r>
              <a:rPr sz="1300">
                <a:solidFill>
                  <a:srgbClr val="E8EEF1"/>
                </a:solidFill>
                <a:latin typeface="Consolas"/>
              </a:rPr>
              <a:t>, 409);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  // 2. Hash della password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passwordHash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hashPassword(password);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  // 3. Scrivo nel DB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userRepository.create({ email, passwordHash, name, role });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  // 4. Ritorno l'utente pulito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{ password_hash, ...safe } = user;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safe;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04-auth-service-register/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Controller, route e test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La pipeline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authController + authRoutes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Il controller è sottile: tutta la logica è già nel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src/controllers/authController.js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10515600" cy="13716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10186416" cy="1152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* </a:t>
            </a:r>
            <a:r>
              <a:rPr sz="1300" b="1">
                <a:solidFill>
                  <a:srgbClr val="5DD8C3"/>
                </a:solidFill>
                <a:latin typeface="Consolas"/>
              </a:rPr>
              <a:t>as</a:t>
            </a:r>
            <a:r>
              <a:rPr sz="1300">
                <a:solidFill>
                  <a:srgbClr val="E8EEF1"/>
                </a:solidFill>
                <a:latin typeface="Consolas"/>
              </a:rPr>
              <a:t> authService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'../services/authService.js'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asyncHandler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'../utils/asyncHandler.js'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register = asyncHandler(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authService.register(req.body);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res.status(201).json(user);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src/routes/authRoutes.js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10515600" cy="20116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4087367"/>
            <a:ext cx="10186416" cy="17922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router.post(</a:t>
            </a:r>
            <a:r>
              <a:rPr sz="1300">
                <a:solidFill>
                  <a:srgbClr val="FFD27F"/>
                </a:solidFill>
                <a:latin typeface="Consolas"/>
              </a:rPr>
              <a:t>'/register'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registerValidator,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1) regole di validazione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validate,  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2) se errori → 400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authController.register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3) altrimenti, chiama il controller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La pipeline completa,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Sette stadi: dal client al DB e ritorno.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20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7451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Client manda POST /api/auth/register con body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4144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414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express.json() popola req.body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62656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0837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008376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registerValidator → validate → 400 se errori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958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75303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75303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authController.register chiama il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9651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4223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14223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authService: dup-check + hash + 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0915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0915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userRepository.create → INSERT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30368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3B8B1"/>
                </a:solidFill>
                <a:latin typeface="Open San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7608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7608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201 Created con utente pulito (no password_hash)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Test end-to-end con Postman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Quattro scenari: happy + due errori di validazione + duplicato.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21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1)  HAPPY PATH → 201 Created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10515600" cy="9144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10186416" cy="6949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POST /api/auth/register   { </a:t>
            </a:r>
            <a:r>
              <a:rPr sz="1300">
                <a:solidFill>
                  <a:srgbClr val="FFD27F"/>
                </a:solidFill>
                <a:latin typeface="Consolas"/>
              </a:rPr>
              <a:t>"email"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"mario@example.com"</a:t>
            </a:r>
            <a:r>
              <a:rPr sz="1300">
                <a:solidFill>
                  <a:srgbClr val="E8EEF1"/>
                </a:solidFill>
                <a:latin typeface="Consolas"/>
              </a:rPr>
              <a:t>, </a:t>
            </a:r>
            <a:r>
              <a:rPr sz="1300">
                <a:solidFill>
                  <a:srgbClr val="FFD27F"/>
                </a:solidFill>
                <a:latin typeface="Consolas"/>
              </a:rPr>
              <a:t>"password"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"Password123"</a:t>
            </a:r>
            <a:r>
              <a:rPr sz="1300">
                <a:solidFill>
                  <a:srgbClr val="E8EEF1"/>
                </a:solidFill>
                <a:latin typeface="Consolas"/>
              </a:rPr>
              <a:t>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2)  EMAIL MAL FORMATA → 400 Bad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3675888"/>
            <a:ext cx="10186416" cy="6035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POST /api/auth/register   { </a:t>
            </a:r>
            <a:r>
              <a:rPr sz="1300">
                <a:solidFill>
                  <a:srgbClr val="FFD27F"/>
                </a:solidFill>
                <a:latin typeface="Consolas"/>
              </a:rPr>
              <a:t>"email"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"non-email"</a:t>
            </a:r>
            <a:r>
              <a:rPr sz="1300">
                <a:solidFill>
                  <a:srgbClr val="E8EEF1"/>
                </a:solidFill>
                <a:latin typeface="Consolas"/>
              </a:rPr>
              <a:t>, </a:t>
            </a:r>
            <a:r>
              <a:rPr sz="1300">
                <a:solidFill>
                  <a:srgbClr val="FFD27F"/>
                </a:solidFill>
                <a:latin typeface="Consolas"/>
              </a:rPr>
              <a:t>"password"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"Password123"</a:t>
            </a:r>
            <a:r>
              <a:rPr sz="1300">
                <a:solidFill>
                  <a:srgbClr val="E8EEF1"/>
                </a:solidFill>
                <a:latin typeface="Consolas"/>
              </a:rPr>
              <a:t>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3)  PASSWORD TROPPO CORTA → 400 con elenco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46320"/>
            <a:ext cx="10515600" cy="8229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4956048"/>
            <a:ext cx="10186416" cy="6035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POST /api/auth/register   { </a:t>
            </a:r>
            <a:r>
              <a:rPr sz="1300">
                <a:solidFill>
                  <a:srgbClr val="FFD27F"/>
                </a:solidFill>
                <a:latin typeface="Consolas"/>
              </a:rPr>
              <a:t>"email"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"anna@example.com"</a:t>
            </a:r>
            <a:r>
              <a:rPr sz="1300">
                <a:solidFill>
                  <a:srgbClr val="E8EEF1"/>
                </a:solidFill>
                <a:latin typeface="Consolas"/>
              </a:rPr>
              <a:t>, </a:t>
            </a:r>
            <a:r>
              <a:rPr sz="1300">
                <a:solidFill>
                  <a:srgbClr val="FFD27F"/>
                </a:solidFill>
                <a:latin typeface="Consolas"/>
              </a:rPr>
              <a:t>"password"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"abc"</a:t>
            </a:r>
            <a:r>
              <a:rPr sz="1300">
                <a:solidFill>
                  <a:srgbClr val="E8EEF1"/>
                </a:solidFill>
                <a:latin typeface="Consolas"/>
              </a:rPr>
              <a:t>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4)  EMAIL GIÀ USATA → 409 Conflict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636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05-register-endpoint-completo/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Apri il file .db e guarda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DB Browser for SQLite mostra cosa hai davvero scritto.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COSA VEDRAI NELLA RIGA DI MARIO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Consolas"/>
              </a:rPr>
              <a:t>email:           mario@example.com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Consolas"/>
              </a:rPr>
              <a:t>password_hash:   $2b$10$N9qo8uLOickgx2ZMRZoMyeIjZAg…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Consolas"/>
              </a:rPr>
              <a:t>role:            user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Consolas"/>
              </a:rPr>
              <a:t>created_at:      2026-05-16 10:23:45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Consolas"/>
              </a:rPr>
              <a:t>updated_at:      2026-05-16 10:23:45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La password "Password123" NON c'è da nessuna parte.</a:t>
            </a:r>
          </a:p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Non c'è modo di ricavarla da quell'hash. Sicurezza reale, non finta.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Cosa ci portiamo 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Tutte le fondamenta per JWT, domani.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2 / Validazione + bcrypt +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OGGI ABBIAMO COSTRUITO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Validazione input con express-validator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Middleware validate per 400 uniformi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dotenv + .env + .env.example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config/env.js con fail-fast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Hashing bcrypt: hashPassword / comparePassword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Service layer (authService.register)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Endpoint POST /api/auth/register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DOMANI (GIORNO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Teoria JWT: header.payload.signature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POST /api/auth/login con jsonwebtoken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Middleware verifyToken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GET /api/users/me (route protetta)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PUT /api/users/me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Test end-to-end + wrap-up sicurezza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69D"/>
                </a:solidFill>
                <a:latin typeface="Open Sans"/>
              </a:rPr>
              <a:t>▸ CODICE: codice-esempi/giorno-2-parte-2/  ·  5 mini-progetti pronti da eseguire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2438</Words>
  <Application>Microsoft Office PowerPoint</Application>
  <PresentationFormat>Widescreen</PresentationFormat>
  <Paragraphs>404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Albert Sans ExtraBold</vt:lpstr>
      <vt:lpstr>Arial</vt:lpstr>
      <vt:lpstr>Calibri</vt:lpstr>
      <vt:lpstr>Consolas</vt:lpstr>
      <vt:lpstr>Open Sans</vt:lpstr>
      <vt:lpstr>Office Theme</vt:lpstr>
      <vt:lpstr>Massimo Petrolati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Massimo Petrolati</cp:lastModifiedBy>
  <cp:revision>1</cp:revision>
  <dcterms:created xsi:type="dcterms:W3CDTF">2013-01-27T09:14:16Z</dcterms:created>
  <dcterms:modified xsi:type="dcterms:W3CDTF">2026-05-16T13:10:34Z</dcterms:modified>
  <cp:category/>
</cp:coreProperties>
</file>