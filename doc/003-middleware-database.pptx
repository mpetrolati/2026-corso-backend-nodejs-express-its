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84" r:id="rId2"/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  <p:sldId id="274" r:id="rId21"/>
    <p:sldId id="275" r:id="rId22"/>
    <p:sldId id="276" r:id="rId23"/>
    <p:sldId id="277" r:id="rId24"/>
    <p:sldId id="278" r:id="rId25"/>
    <p:sldId id="279" r:id="rId26"/>
    <p:sldId id="280" r:id="rId27"/>
    <p:sldId id="281" r:id="rId28"/>
    <p:sldId id="282" r:id="rId29"/>
    <p:sldId id="283" r:id="rId3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05" d="100"/>
          <a:sy n="105" d="100"/>
        </p:scale>
        <p:origin x="798" y="9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microsoft.com/office/2016/11/relationships/changesInfo" Target="changesInfos/changesInfo1.xml"/><Relationship Id="rId8" Type="http://schemas.openxmlformats.org/officeDocument/2006/relationships/slide" Target="slides/slide7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assimo Petrolati" userId="e7daa978-26e3-4c4e-8847-ea9e36559ae5" providerId="ADAL" clId="{A7182F9C-EEA7-476B-8E0E-53730D456657}"/>
    <pc:docChg chg="addSld modSld sldOrd">
      <pc:chgData name="Massimo Petrolati" userId="e7daa978-26e3-4c4e-8847-ea9e36559ae5" providerId="ADAL" clId="{A7182F9C-EEA7-476B-8E0E-53730D456657}" dt="2026-05-24T23:38:40.061" v="91" actId="20577"/>
      <pc:docMkLst>
        <pc:docMk/>
      </pc:docMkLst>
      <pc:sldChg chg="modSp mod">
        <pc:chgData name="Massimo Petrolati" userId="e7daa978-26e3-4c4e-8847-ea9e36559ae5" providerId="ADAL" clId="{A7182F9C-EEA7-476B-8E0E-53730D456657}" dt="2026-05-24T23:20:43.648" v="66" actId="20577"/>
        <pc:sldMkLst>
          <pc:docMk/>
          <pc:sldMk cId="0" sldId="272"/>
        </pc:sldMkLst>
        <pc:spChg chg="mod">
          <ac:chgData name="Massimo Petrolati" userId="e7daa978-26e3-4c4e-8847-ea9e36559ae5" providerId="ADAL" clId="{A7182F9C-EEA7-476B-8E0E-53730D456657}" dt="2026-05-24T23:20:43.648" v="66" actId="20577"/>
          <ac:spMkLst>
            <pc:docMk/>
            <pc:sldMk cId="0" sldId="272"/>
            <ac:spMk id="19" creationId="{00000000-0000-0000-0000-000000000000}"/>
          </ac:spMkLst>
        </pc:spChg>
      </pc:sldChg>
      <pc:sldChg chg="modSp mod">
        <pc:chgData name="Massimo Petrolati" userId="e7daa978-26e3-4c4e-8847-ea9e36559ae5" providerId="ADAL" clId="{A7182F9C-EEA7-476B-8E0E-53730D456657}" dt="2026-05-24T23:38:40.061" v="91" actId="20577"/>
        <pc:sldMkLst>
          <pc:docMk/>
          <pc:sldMk cId="0" sldId="281"/>
        </pc:sldMkLst>
        <pc:spChg chg="mod">
          <ac:chgData name="Massimo Petrolati" userId="e7daa978-26e3-4c4e-8847-ea9e36559ae5" providerId="ADAL" clId="{A7182F9C-EEA7-476B-8E0E-53730D456657}" dt="2026-05-24T23:38:40.061" v="91" actId="20577"/>
          <ac:spMkLst>
            <pc:docMk/>
            <pc:sldMk cId="0" sldId="281"/>
            <ac:spMk id="14" creationId="{00000000-0000-0000-0000-000000000000}"/>
          </ac:spMkLst>
        </pc:spChg>
      </pc:sldChg>
      <pc:sldChg chg="modSp mod">
        <pc:chgData name="Massimo Petrolati" userId="e7daa978-26e3-4c4e-8847-ea9e36559ae5" providerId="ADAL" clId="{A7182F9C-EEA7-476B-8E0E-53730D456657}" dt="2026-05-24T23:37:37.767" v="77" actId="20577"/>
        <pc:sldMkLst>
          <pc:docMk/>
          <pc:sldMk cId="0" sldId="282"/>
        </pc:sldMkLst>
        <pc:spChg chg="mod">
          <ac:chgData name="Massimo Petrolati" userId="e7daa978-26e3-4c4e-8847-ea9e36559ae5" providerId="ADAL" clId="{A7182F9C-EEA7-476B-8E0E-53730D456657}" dt="2026-05-24T23:37:37.767" v="77" actId="20577"/>
          <ac:spMkLst>
            <pc:docMk/>
            <pc:sldMk cId="0" sldId="282"/>
            <ac:spMk id="7" creationId="{00000000-0000-0000-0000-000000000000}"/>
          </ac:spMkLst>
        </pc:spChg>
      </pc:sldChg>
      <pc:sldChg chg="modSp mod">
        <pc:chgData name="Massimo Petrolati" userId="e7daa978-26e3-4c4e-8847-ea9e36559ae5" providerId="ADAL" clId="{A7182F9C-EEA7-476B-8E0E-53730D456657}" dt="2026-05-24T23:38:28.555" v="79" actId="20577"/>
        <pc:sldMkLst>
          <pc:docMk/>
          <pc:sldMk cId="0" sldId="283"/>
        </pc:sldMkLst>
        <pc:spChg chg="mod">
          <ac:chgData name="Massimo Petrolati" userId="e7daa978-26e3-4c4e-8847-ea9e36559ae5" providerId="ADAL" clId="{A7182F9C-EEA7-476B-8E0E-53730D456657}" dt="2026-05-24T23:38:28.555" v="79" actId="20577"/>
          <ac:spMkLst>
            <pc:docMk/>
            <pc:sldMk cId="0" sldId="283"/>
            <ac:spMk id="12" creationId="{00000000-0000-0000-0000-000000000000}"/>
          </ac:spMkLst>
        </pc:spChg>
      </pc:sldChg>
      <pc:sldChg chg="modSp add mod ord modTransition">
        <pc:chgData name="Massimo Petrolati" userId="e7daa978-26e3-4c4e-8847-ea9e36559ae5" providerId="ADAL" clId="{A7182F9C-EEA7-476B-8E0E-53730D456657}" dt="2026-05-16T13:11:10.498" v="53" actId="404"/>
        <pc:sldMkLst>
          <pc:docMk/>
          <pc:sldMk cId="2685233201" sldId="284"/>
        </pc:sldMkLst>
        <pc:spChg chg="mod">
          <ac:chgData name="Massimo Petrolati" userId="e7daa978-26e3-4c4e-8847-ea9e36559ae5" providerId="ADAL" clId="{A7182F9C-EEA7-476B-8E0E-53730D456657}" dt="2026-05-16T13:11:10.498" v="53" actId="404"/>
          <ac:spMkLst>
            <pc:docMk/>
            <pc:sldMk cId="2685233201" sldId="284"/>
            <ac:spMk id="17" creationId="{E660CF5B-BDDE-A2B6-465D-1938C343BA01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5/25/2026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5/25/2026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magine 6">
            <a:extLst>
              <a:ext uri="{FF2B5EF4-FFF2-40B4-BE49-F238E27FC236}">
                <a16:creationId xmlns:a16="http://schemas.microsoft.com/office/drawing/2014/main" id="{09C6A910-B62B-D5C1-D10E-82D42594156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6" name="Immagine 5">
            <a:extLst>
              <a:ext uri="{FF2B5EF4-FFF2-40B4-BE49-F238E27FC236}">
                <a16:creationId xmlns:a16="http://schemas.microsoft.com/office/drawing/2014/main" id="{01632072-FBA4-DEF6-3FF9-6E3E001DD45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54200" y="5811443"/>
            <a:ext cx="7035800" cy="987517"/>
          </a:xfrm>
          <a:prstGeom prst="rect">
            <a:avLst/>
          </a:prstGeom>
        </p:spPr>
      </p:pic>
      <p:pic>
        <p:nvPicPr>
          <p:cNvPr id="14" name="Immagine 13">
            <a:extLst>
              <a:ext uri="{FF2B5EF4-FFF2-40B4-BE49-F238E27FC236}">
                <a16:creationId xmlns:a16="http://schemas.microsoft.com/office/drawing/2014/main" id="{B183F8F2-7E4B-0C63-41FC-E499C02BED1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87824" y="2932044"/>
            <a:ext cx="8216348" cy="1128248"/>
          </a:xfrm>
          <a:prstGeom prst="rect">
            <a:avLst/>
          </a:prstGeom>
        </p:spPr>
      </p:pic>
      <p:pic>
        <p:nvPicPr>
          <p:cNvPr id="15" name="Immagine 14">
            <a:extLst>
              <a:ext uri="{FF2B5EF4-FFF2-40B4-BE49-F238E27FC236}">
                <a16:creationId xmlns:a16="http://schemas.microsoft.com/office/drawing/2014/main" id="{6DD2E793-D920-63C5-B636-69383566EC0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32141" y="1988220"/>
            <a:ext cx="4727713" cy="1202635"/>
          </a:xfrm>
          <a:prstGeom prst="rect">
            <a:avLst/>
          </a:prstGeom>
        </p:spPr>
      </p:pic>
      <p:sp>
        <p:nvSpPr>
          <p:cNvPr id="16" name="Titolo 1">
            <a:extLst>
              <a:ext uri="{FF2B5EF4-FFF2-40B4-BE49-F238E27FC236}">
                <a16:creationId xmlns:a16="http://schemas.microsoft.com/office/drawing/2014/main" id="{3A271565-6D7D-D77C-24F3-78367CF1C40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 rot="60000">
            <a:off x="1523975" y="1978908"/>
            <a:ext cx="9144000" cy="968308"/>
          </a:xfrm>
        </p:spPr>
        <p:txBody>
          <a:bodyPr>
            <a:normAutofit/>
          </a:bodyPr>
          <a:lstStyle/>
          <a:p>
            <a:pPr>
              <a:lnSpc>
                <a:spcPct val="100000"/>
              </a:lnSpc>
            </a:pPr>
            <a:r>
              <a:rPr lang="it-IT" sz="4400" b="1" dirty="0">
                <a:solidFill>
                  <a:srgbClr val="3C3C3B"/>
                </a:solidFill>
                <a:latin typeface="Albert Sans ExtraBold" pitchFamily="2" charset="77"/>
                <a:cs typeface="Trade Gothic Inline" panose="020F0502020204030204" pitchFamily="34" charset="0"/>
              </a:rPr>
              <a:t>Massimo Petrolati</a:t>
            </a:r>
            <a:endParaRPr lang="it-IT" b="1" dirty="0">
              <a:solidFill>
                <a:schemeClr val="bg1"/>
              </a:solidFill>
              <a:latin typeface="Albert Sans ExtraBold" pitchFamily="2" charset="77"/>
              <a:cs typeface="Trade Gothic Inline" panose="020F0502020204030204" pitchFamily="34" charset="0"/>
            </a:endParaRPr>
          </a:p>
        </p:txBody>
      </p:sp>
      <p:sp>
        <p:nvSpPr>
          <p:cNvPr id="17" name="CasellaDiTesto 16">
            <a:extLst>
              <a:ext uri="{FF2B5EF4-FFF2-40B4-BE49-F238E27FC236}">
                <a16:creationId xmlns:a16="http://schemas.microsoft.com/office/drawing/2014/main" id="{E660CF5B-BDDE-A2B6-465D-1938C343BA01}"/>
              </a:ext>
            </a:extLst>
          </p:cNvPr>
          <p:cNvSpPr txBox="1"/>
          <p:nvPr/>
        </p:nvSpPr>
        <p:spPr>
          <a:xfrm rot="-60000">
            <a:off x="1969688" y="3330356"/>
            <a:ext cx="8233131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it-IT" sz="3200" b="1" dirty="0">
                <a:solidFill>
                  <a:schemeClr val="bg1"/>
                </a:solidFill>
                <a:latin typeface="Albert Sans ExtraBold" pitchFamily="2" charset="77"/>
                <a:cs typeface="Trade Gothic Inline" panose="020F0502020204030204" pitchFamily="34" charset="0"/>
              </a:rPr>
              <a:t>Middleware avanzati e </a:t>
            </a:r>
            <a:r>
              <a:rPr lang="it-IT" sz="3200" b="1" dirty="0" err="1">
                <a:solidFill>
                  <a:schemeClr val="bg1"/>
                </a:solidFill>
                <a:latin typeface="Albert Sans ExtraBold" pitchFamily="2" charset="77"/>
                <a:cs typeface="Trade Gothic Inline" panose="020F0502020204030204" pitchFamily="34" charset="0"/>
              </a:rPr>
              <a:t>persistanza</a:t>
            </a:r>
            <a:r>
              <a:rPr lang="it-IT" sz="3200" b="1" dirty="0">
                <a:solidFill>
                  <a:schemeClr val="bg1"/>
                </a:solidFill>
                <a:latin typeface="Albert Sans ExtraBold" pitchFamily="2" charset="77"/>
                <a:cs typeface="Trade Gothic Inline" panose="020F0502020204030204" pitchFamily="34" charset="0"/>
              </a:rPr>
              <a:t> con </a:t>
            </a:r>
            <a:r>
              <a:rPr lang="it-IT" sz="3200" b="1" dirty="0" err="1">
                <a:solidFill>
                  <a:schemeClr val="bg1"/>
                </a:solidFill>
                <a:latin typeface="Albert Sans ExtraBold" pitchFamily="2" charset="77"/>
                <a:cs typeface="Trade Gothic Inline" panose="020F0502020204030204" pitchFamily="34" charset="0"/>
              </a:rPr>
              <a:t>SQLite</a:t>
            </a:r>
            <a:endParaRPr lang="it-IT" sz="4000" dirty="0"/>
          </a:p>
        </p:txBody>
      </p:sp>
    </p:spTree>
    <p:extLst>
      <p:ext uri="{BB962C8B-B14F-4D97-AF65-F5344CB8AC3E}">
        <p14:creationId xmlns:p14="http://schemas.microsoft.com/office/powerpoint/2010/main" val="268523320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8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33B8B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91440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>
                <a:solidFill>
                  <a:srgbClr val="80D3CE"/>
                </a:solidFill>
                <a:latin typeface="Open Sans"/>
              </a:rPr>
              <a:t>CORSO NODE.JS + EXPRESS + JWT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698480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5400" b="1">
                <a:solidFill>
                  <a:srgbClr val="FFFFFF"/>
                </a:solidFill>
                <a:latin typeface="Open Sans"/>
              </a:rPr>
              <a:t>Middleware avanzati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468880"/>
            <a:ext cx="10698480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5400" b="1">
                <a:solidFill>
                  <a:srgbClr val="FFFFFF"/>
                </a:solidFill>
                <a:latin typeface="Open Sans"/>
              </a:rPr>
              <a:t>e persistenza con SQLite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931920"/>
            <a:ext cx="10698480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0">
                <a:solidFill>
                  <a:srgbClr val="80D3CE"/>
                </a:solidFill>
                <a:latin typeface="Open Sans"/>
              </a:rPr>
              <a:t>Dal CRUD giocattolo a un'applicazione vera:</a:t>
            </a:r>
          </a:p>
          <a:p>
            <a:pPr algn="l"/>
            <a:r>
              <a:rPr sz="2200" b="0">
                <a:solidFill>
                  <a:srgbClr val="80D3CE"/>
                </a:solidFill>
                <a:latin typeface="Open Sans"/>
              </a:rPr>
              <a:t>middleware, error handler, SQLite, repository pattern.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4846320"/>
            <a:ext cx="1097280" cy="54864"/>
          </a:xfrm>
          <a:prstGeom prst="rect">
            <a:avLst/>
          </a:prstGeom>
          <a:solidFill>
            <a:srgbClr val="33B8B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31520" y="5029200"/>
            <a:ext cx="7315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Open Sans"/>
              </a:rPr>
              <a:t>Giorno 2 — Parte 1 / 2 ore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440680"/>
            <a:ext cx="7315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>
                <a:solidFill>
                  <a:srgbClr val="90909B"/>
                </a:solidFill>
                <a:latin typeface="Open Sans"/>
              </a:rPr>
              <a:t>Livello base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06640" y="5577840"/>
            <a:ext cx="44805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>
                <a:solidFill>
                  <a:srgbClr val="33B8B1"/>
                </a:solidFill>
                <a:latin typeface="Open Sans"/>
              </a:rPr>
              <a:t>DOCENTE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06640" y="5897880"/>
            <a:ext cx="44805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Open Sans"/>
              </a:rPr>
              <a:t>Massimo Petrolati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06640" y="6263640"/>
            <a:ext cx="44805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>
                <a:solidFill>
                  <a:srgbClr val="80D3CE"/>
                </a:solidFill>
                <a:latin typeface="Open Sans"/>
              </a:rPr>
              <a:t>Product Manager · Namirial SpA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329184"/>
          </a:xfrm>
          <a:prstGeom prst="rect">
            <a:avLst/>
          </a:prstGeom>
          <a:solidFill>
            <a:srgbClr val="111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822960" cy="164592"/>
          </a:xfrm>
          <a:prstGeom prst="rect">
            <a:avLst/>
          </a:prstGeom>
          <a:solidFill>
            <a:srgbClr val="33B8B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18288"/>
            <a:ext cx="73152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Open Sans"/>
              </a:rPr>
              <a:t>AGENDA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418320" y="18288"/>
            <a:ext cx="26517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>
                <a:solidFill>
                  <a:srgbClr val="80D3CE"/>
                </a:solidFill>
                <a:latin typeface="Open Sans"/>
              </a:rPr>
              <a:t>CORSO NODE.JS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0080"/>
            <a:ext cx="109728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600" b="1">
                <a:solidFill>
                  <a:srgbClr val="111820"/>
                </a:solidFill>
                <a:latin typeface="Open Sans"/>
              </a:rPr>
              <a:t>Cosa vedremo oggi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1691640"/>
            <a:ext cx="109728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200" b="1">
                <a:solidFill>
                  <a:srgbClr val="33B8B1"/>
                </a:solidFill>
                <a:latin typeface="Open Sans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11680" y="1737360"/>
            <a:ext cx="77724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900" b="1">
                <a:solidFill>
                  <a:srgbClr val="111820"/>
                </a:solidFill>
                <a:latin typeface="Open Sans"/>
              </a:rPr>
              <a:t>Approfondimento middleware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875520" y="1783080"/>
            <a:ext cx="164592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>
                <a:solidFill>
                  <a:srgbClr val="90909B"/>
                </a:solidFill>
                <a:latin typeface="Open Sans"/>
              </a:rPr>
              <a:t>≈30 min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404872"/>
            <a:ext cx="109728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200" b="1">
                <a:solidFill>
                  <a:srgbClr val="33B8B1"/>
                </a:solidFill>
                <a:latin typeface="Open Sans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11680" y="2450591"/>
            <a:ext cx="77724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900" b="1">
                <a:solidFill>
                  <a:srgbClr val="111820"/>
                </a:solidFill>
                <a:latin typeface="Open Sans"/>
              </a:rPr>
              <a:t>Error handler centralizzato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75520" y="2496312"/>
            <a:ext cx="164592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>
                <a:solidFill>
                  <a:srgbClr val="90909B"/>
                </a:solidFill>
                <a:latin typeface="Open Sans"/>
              </a:rPr>
              <a:t>≈20 min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118104"/>
            <a:ext cx="109728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200" b="1">
                <a:solidFill>
                  <a:srgbClr val="33B8B1"/>
                </a:solidFill>
                <a:latin typeface="Open Sans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011680" y="3163824"/>
            <a:ext cx="77724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900" b="1">
                <a:solidFill>
                  <a:srgbClr val="111820"/>
                </a:solidFill>
                <a:latin typeface="Open Sans"/>
              </a:rPr>
              <a:t>Introduzione a SQLite + sqlite3 + sqlite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875520" y="3209544"/>
            <a:ext cx="164592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>
                <a:solidFill>
                  <a:srgbClr val="90909B"/>
                </a:solidFill>
                <a:latin typeface="Open Sans"/>
              </a:rPr>
              <a:t>≈20 min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831335"/>
            <a:ext cx="109728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200" b="1">
                <a:solidFill>
                  <a:srgbClr val="33B8B1"/>
                </a:solidFill>
                <a:latin typeface="Open Sans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11680" y="3877055"/>
            <a:ext cx="77724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900" b="1">
                <a:solidFill>
                  <a:srgbClr val="111820"/>
                </a:solidFill>
                <a:latin typeface="Open Sans"/>
              </a:rPr>
              <a:t>Schema della tabella users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875520" y="3922775"/>
            <a:ext cx="164592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>
                <a:solidFill>
                  <a:srgbClr val="90909B"/>
                </a:solidFill>
                <a:latin typeface="Open Sans"/>
              </a:rPr>
              <a:t>≈15 min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544568"/>
            <a:ext cx="109728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200" b="1">
                <a:solidFill>
                  <a:srgbClr val="33B8B1"/>
                </a:solidFill>
                <a:latin typeface="Open Sans"/>
              </a:rPr>
              <a:t>05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011680" y="4590288"/>
            <a:ext cx="77724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900" b="1">
                <a:solidFill>
                  <a:srgbClr val="111820"/>
                </a:solidFill>
                <a:latin typeface="Open Sans"/>
              </a:rPr>
              <a:t>Il Repository Pattern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875520" y="4636008"/>
            <a:ext cx="164592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>
                <a:solidFill>
                  <a:srgbClr val="90909B"/>
                </a:solidFill>
                <a:latin typeface="Open Sans"/>
              </a:rPr>
              <a:t>≈25 min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" y="5257800"/>
            <a:ext cx="109728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200" b="1">
                <a:solidFill>
                  <a:srgbClr val="33B8B1"/>
                </a:solidFill>
                <a:latin typeface="Open Sans"/>
              </a:rPr>
              <a:t>06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011680" y="5303520"/>
            <a:ext cx="77724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900" b="1">
                <a:solidFill>
                  <a:srgbClr val="111820"/>
                </a:solidFill>
                <a:latin typeface="Open Sans"/>
              </a:rPr>
              <a:t>Struttura a layer completa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875520" y="5349240"/>
            <a:ext cx="164592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>
                <a:solidFill>
                  <a:srgbClr val="90909B"/>
                </a:solidFill>
                <a:latin typeface="Open Sans"/>
              </a:rPr>
              <a:t>≈10 min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>
                <a:solidFill>
                  <a:srgbClr val="90909B"/>
                </a:solidFill>
                <a:latin typeface="Open Sans"/>
              </a:rPr>
              <a:t>Giorno 2 — Parte 1 / Middleware + SQLite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064240" y="6492240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0">
                <a:solidFill>
                  <a:srgbClr val="90909B"/>
                </a:solidFill>
                <a:latin typeface="Open Sans"/>
              </a:rPr>
              <a:t>2 / 28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8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33B8B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1463040"/>
            <a:ext cx="6400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>
                <a:solidFill>
                  <a:srgbClr val="33B8B1"/>
                </a:solidFill>
                <a:latin typeface="Open Sans"/>
              </a:rPr>
              <a:t>SEZIONE  ·  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194560"/>
            <a:ext cx="7863840" cy="2286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Open Sans"/>
              </a:rPr>
              <a:t>Approfondimento middleware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4617720"/>
            <a:ext cx="1371600" cy="54864"/>
          </a:xfrm>
          <a:prstGeom prst="rect">
            <a:avLst/>
          </a:prstGeom>
          <a:solidFill>
            <a:srgbClr val="33B8B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40080" y="4800600"/>
            <a:ext cx="82296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900" b="0">
                <a:solidFill>
                  <a:srgbClr val="80D3CE"/>
                </a:solidFill>
                <a:latin typeface="Open Sans"/>
              </a:rPr>
              <a:t>I tre tipi e l'ordine di esecuzione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0" y="1371600"/>
            <a:ext cx="4114800" cy="4114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20000" b="1">
                <a:solidFill>
                  <a:srgbClr val="303143"/>
                </a:solidFill>
                <a:latin typeface="Open Sans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9224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>
                <a:solidFill>
                  <a:srgbClr val="90909B"/>
                </a:solidFill>
                <a:latin typeface="Open Sans"/>
              </a:rPr>
              <a:t>Giorno 2 — Parte 1 / Middleware + SQLite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492240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0">
                <a:solidFill>
                  <a:srgbClr val="90909B"/>
                </a:solidFill>
                <a:latin typeface="Open Sans"/>
              </a:rPr>
              <a:t>3 / 28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329184"/>
          </a:xfrm>
          <a:prstGeom prst="rect">
            <a:avLst/>
          </a:prstGeom>
          <a:solidFill>
            <a:srgbClr val="111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822960" cy="164592"/>
          </a:xfrm>
          <a:prstGeom prst="rect">
            <a:avLst/>
          </a:prstGeom>
          <a:solidFill>
            <a:srgbClr val="33B8B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18288"/>
            <a:ext cx="82296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Open Sans"/>
              </a:rPr>
              <a:t>01 · MIDDLEWARE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418320" y="18288"/>
            <a:ext cx="26517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>
                <a:solidFill>
                  <a:srgbClr val="80D3CE"/>
                </a:solidFill>
                <a:latin typeface="Open Sans"/>
              </a:rPr>
              <a:t>CORSO NODE.JS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94360"/>
            <a:ext cx="109728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>
                <a:solidFill>
                  <a:srgbClr val="111820"/>
                </a:solidFill>
                <a:latin typeface="Open Sans"/>
              </a:rPr>
              <a:t>I tre tipi di middleware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1325880"/>
            <a:ext cx="105156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>
                <a:solidFill>
                  <a:srgbClr val="555667"/>
                </a:solidFill>
                <a:latin typeface="Open Sans"/>
              </a:rPr>
              <a:t>Express ne distingue tre famiglie, ciascuna con uno scope diverso.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>
                <a:solidFill>
                  <a:srgbClr val="90909B"/>
                </a:solidFill>
                <a:latin typeface="Open Sans"/>
              </a:rPr>
              <a:t>Giorno 2 — Parte 1 / Middleware + SQLite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492240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0">
                <a:solidFill>
                  <a:srgbClr val="90909B"/>
                </a:solidFill>
                <a:latin typeface="Open Sans"/>
              </a:rPr>
              <a:t>4 / 28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1920240"/>
            <a:ext cx="35204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>
                <a:solidFill>
                  <a:srgbClr val="00A69D"/>
                </a:solidFill>
                <a:latin typeface="Open Sans"/>
              </a:rPr>
              <a:t>01  APPLICATION-LEVEL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240280"/>
            <a:ext cx="352044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>
                <a:solidFill>
                  <a:srgbClr val="111820"/>
                </a:solidFill>
                <a:latin typeface="Open Sans"/>
              </a:rPr>
              <a:t>app.use(...)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2834640"/>
            <a:ext cx="3520440" cy="2286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>
                <a:solidFill>
                  <a:srgbClr val="555667"/>
                </a:solidFill>
                <a:latin typeface="Open Sans"/>
              </a:rPr>
              <a:t>Vale per tutte le richieste</a:t>
            </a:r>
          </a:p>
          <a:p>
            <a:pPr algn="l"/>
            <a:r>
              <a:rPr sz="1400" b="0">
                <a:solidFill>
                  <a:srgbClr val="555667"/>
                </a:solidFill>
                <a:latin typeface="Open Sans"/>
              </a:rPr>
              <a:t>(o per tutte sotto un path).</a:t>
            </a:r>
          </a:p>
          <a:p>
            <a:pPr algn="l"/>
            <a:r>
              <a:rPr sz="1400" b="0">
                <a:solidFill>
                  <a:srgbClr val="555667"/>
                </a:solidFill>
                <a:latin typeface="Open Sans"/>
              </a:rPr>
              <a:t>Logger, parsing, CORS, helmet.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6280" y="1920240"/>
            <a:ext cx="35204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>
                <a:solidFill>
                  <a:srgbClr val="00A69D"/>
                </a:solidFill>
                <a:latin typeface="Open Sans"/>
              </a:rPr>
              <a:t>02  ROUTER-LEVEL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26280" y="2240280"/>
            <a:ext cx="352044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>
                <a:solidFill>
                  <a:srgbClr val="111820"/>
                </a:solidFill>
                <a:latin typeface="Open Sans"/>
              </a:rPr>
              <a:t>router.use(...)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26280" y="2834640"/>
            <a:ext cx="3520440" cy="2286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>
                <a:solidFill>
                  <a:srgbClr val="555667"/>
                </a:solidFill>
                <a:latin typeface="Open Sans"/>
              </a:rPr>
              <a:t>Vale solo per le route</a:t>
            </a:r>
          </a:p>
          <a:p>
            <a:pPr algn="l"/>
            <a:r>
              <a:rPr sz="1400" b="0">
                <a:solidFill>
                  <a:srgbClr val="555667"/>
                </a:solidFill>
                <a:latin typeface="Open Sans"/>
              </a:rPr>
              <a:t>di quel router.</a:t>
            </a:r>
          </a:p>
          <a:p>
            <a:pPr algn="l"/>
            <a:r>
              <a:rPr sz="1400" b="0">
                <a:solidFill>
                  <a:srgbClr val="555667"/>
                </a:solidFill>
                <a:latin typeface="Open Sans"/>
              </a:rPr>
              <a:t>Auth specifica, logging</a:t>
            </a:r>
          </a:p>
          <a:p>
            <a:pPr algn="l"/>
            <a:r>
              <a:rPr sz="1400" b="0">
                <a:solidFill>
                  <a:srgbClr val="555667"/>
                </a:solidFill>
                <a:latin typeface="Open Sans"/>
              </a:rPr>
              <a:t>per area, validatori.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83879" y="1920240"/>
            <a:ext cx="35204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>
                <a:solidFill>
                  <a:srgbClr val="00A69D"/>
                </a:solidFill>
                <a:latin typeface="Open Sans"/>
              </a:rPr>
              <a:t>03  ERROR-HANDLING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83879" y="2240280"/>
            <a:ext cx="352044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>
                <a:solidFill>
                  <a:srgbClr val="111820"/>
                </a:solidFill>
                <a:latin typeface="Open Sans"/>
              </a:rPr>
              <a:t>(err, req, res, next)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83879" y="2834640"/>
            <a:ext cx="3520440" cy="2286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>
                <a:solidFill>
                  <a:srgbClr val="555667"/>
                </a:solidFill>
                <a:latin typeface="Open Sans"/>
              </a:rPr>
              <a:t>Firma a 4 parametri.</a:t>
            </a:r>
          </a:p>
          <a:p>
            <a:pPr algn="l"/>
            <a:r>
              <a:rPr sz="1400" b="0">
                <a:solidFill>
                  <a:srgbClr val="555667"/>
                </a:solidFill>
                <a:latin typeface="Open Sans"/>
              </a:rPr>
              <a:t>Va in coda, dopo tutte</a:t>
            </a:r>
          </a:p>
          <a:p>
            <a:pPr algn="l"/>
            <a:r>
              <a:rPr sz="1400" b="0">
                <a:solidFill>
                  <a:srgbClr val="555667"/>
                </a:solidFill>
                <a:latin typeface="Open Sans"/>
              </a:rPr>
              <a:t>le route. Cattura</a:t>
            </a:r>
          </a:p>
          <a:p>
            <a:pPr algn="l"/>
            <a:r>
              <a:rPr sz="1400" b="0">
                <a:solidFill>
                  <a:srgbClr val="555667"/>
                </a:solidFill>
                <a:latin typeface="Open Sans"/>
              </a:rPr>
              <a:t>ogni next(err).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5212080"/>
            <a:ext cx="105156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>
                <a:solidFill>
                  <a:srgbClr val="111820"/>
                </a:solidFill>
                <a:latin typeface="Open Sans"/>
              </a:rPr>
              <a:t>L'ordine di registrazione conta: parsing in cima, error handler in coda.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329184"/>
          </a:xfrm>
          <a:prstGeom prst="rect">
            <a:avLst/>
          </a:prstGeom>
          <a:solidFill>
            <a:srgbClr val="111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822960" cy="164592"/>
          </a:xfrm>
          <a:prstGeom prst="rect">
            <a:avLst/>
          </a:prstGeom>
          <a:solidFill>
            <a:srgbClr val="33B8B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18288"/>
            <a:ext cx="82296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Open Sans"/>
              </a:rPr>
              <a:t>01 · MIDDLEWARE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418320" y="18288"/>
            <a:ext cx="26517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>
                <a:solidFill>
                  <a:srgbClr val="80D3CE"/>
                </a:solidFill>
                <a:latin typeface="Open Sans"/>
              </a:rPr>
              <a:t>CORSO NODE.JS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94360"/>
            <a:ext cx="109728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>
                <a:solidFill>
                  <a:srgbClr val="111820"/>
                </a:solidFill>
                <a:latin typeface="Open Sans"/>
              </a:rPr>
              <a:t>L'ordine di registrazione conta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1325880"/>
            <a:ext cx="105156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>
                <a:solidFill>
                  <a:srgbClr val="555667"/>
                </a:solidFill>
                <a:latin typeface="Open Sans"/>
              </a:rPr>
              <a:t>La causa numero uno di "ma perché non funziona?".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>
                <a:solidFill>
                  <a:srgbClr val="90909B"/>
                </a:solidFill>
                <a:latin typeface="Open Sans"/>
              </a:rPr>
              <a:t>Giorno 2 — Parte 1 / Middleware + SQLite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492240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0">
                <a:solidFill>
                  <a:srgbClr val="90909B"/>
                </a:solidFill>
                <a:latin typeface="Open Sans"/>
              </a:rPr>
              <a:t>5 / 28</a:t>
            </a:r>
          </a:p>
        </p:txBody>
      </p:sp>
      <p:sp>
        <p:nvSpPr>
          <p:cNvPr id="10" name="Rectangle 9"/>
          <p:cNvSpPr/>
          <p:nvPr/>
        </p:nvSpPr>
        <p:spPr>
          <a:xfrm>
            <a:off x="868680" y="1828800"/>
            <a:ext cx="10515600" cy="2011680"/>
          </a:xfrm>
          <a:prstGeom prst="rect">
            <a:avLst/>
          </a:prstGeom>
          <a:solidFill>
            <a:srgbClr val="0F25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033272" y="1938528"/>
            <a:ext cx="10186416" cy="1792224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300">
                <a:solidFill>
                  <a:srgbClr val="E8EEF1"/>
                </a:solidFill>
                <a:latin typeface="Consolas"/>
              </a:rPr>
              <a:t>app.use(express.json());           </a:t>
            </a:r>
            <a:r>
              <a:rPr sz="1300" i="1">
                <a:solidFill>
                  <a:srgbClr val="8893A0"/>
                </a:solidFill>
                <a:latin typeface="Consolas"/>
              </a:rPr>
              <a:t>// 1) parsing body</a:t>
            </a:r>
          </a:p>
          <a:p>
            <a:pPr algn="l"/>
            <a:r>
              <a:rPr sz="1300">
                <a:solidFill>
                  <a:srgbClr val="E8EEF1"/>
                </a:solidFill>
                <a:latin typeface="Consolas"/>
              </a:rPr>
              <a:t>app.use(durata);                   </a:t>
            </a:r>
            <a:r>
              <a:rPr sz="1300" i="1">
                <a:solidFill>
                  <a:srgbClr val="8893A0"/>
                </a:solidFill>
                <a:latin typeface="Consolas"/>
              </a:rPr>
              <a:t>// 2) logger</a:t>
            </a:r>
          </a:p>
          <a:p>
            <a:pPr algn="l"/>
            <a:r>
              <a:rPr sz="1300">
                <a:solidFill>
                  <a:srgbClr val="E8EEF1"/>
                </a:solidFill>
                <a:latin typeface="Consolas"/>
              </a:rPr>
              <a:t>app.use(</a:t>
            </a:r>
            <a:r>
              <a:rPr sz="1300">
                <a:solidFill>
                  <a:srgbClr val="FFD27F"/>
                </a:solidFill>
                <a:latin typeface="Consolas"/>
              </a:rPr>
              <a:t>'/api'</a:t>
            </a:r>
            <a:r>
              <a:rPr sz="1300">
                <a:solidFill>
                  <a:srgbClr val="E8EEF1"/>
                </a:solidFill>
                <a:latin typeface="Consolas"/>
              </a:rPr>
              <a:t>, autentica);        </a:t>
            </a:r>
            <a:r>
              <a:rPr sz="1300" i="1">
                <a:solidFill>
                  <a:srgbClr val="8893A0"/>
                </a:solidFill>
                <a:latin typeface="Consolas"/>
              </a:rPr>
              <a:t>// 3) auth su /api/*</a:t>
            </a:r>
          </a:p>
          <a:p>
            <a:pPr algn="l"/>
            <a:r>
              <a:rPr sz="1300">
                <a:solidFill>
                  <a:srgbClr val="E8EEF1"/>
                </a:solidFill>
                <a:latin typeface="Consolas"/>
              </a:rPr>
              <a:t>app.use(</a:t>
            </a:r>
            <a:r>
              <a:rPr sz="1300">
                <a:solidFill>
                  <a:srgbClr val="FFD27F"/>
                </a:solidFill>
                <a:latin typeface="Consolas"/>
              </a:rPr>
              <a:t>'/api/users'</a:t>
            </a:r>
            <a:r>
              <a:rPr sz="1300">
                <a:solidFill>
                  <a:srgbClr val="E8EEF1"/>
                </a:solidFill>
                <a:latin typeface="Consolas"/>
              </a:rPr>
              <a:t>, userRoutes); </a:t>
            </a:r>
            <a:r>
              <a:rPr sz="1300" i="1">
                <a:solidFill>
                  <a:srgbClr val="8893A0"/>
                </a:solidFill>
                <a:latin typeface="Consolas"/>
              </a:rPr>
              <a:t>// 4) route</a:t>
            </a:r>
          </a:p>
          <a:p>
            <a:pPr algn="l"/>
            <a:r>
              <a:rPr sz="1300">
                <a:solidFill>
                  <a:srgbClr val="E8EEF1"/>
                </a:solidFill>
                <a:latin typeface="Consolas"/>
              </a:rPr>
              <a:t>app.use(errorHandler);             </a:t>
            </a:r>
            <a:r>
              <a:rPr sz="1300" i="1">
                <a:solidFill>
                  <a:srgbClr val="8893A0"/>
                </a:solidFill>
                <a:latin typeface="Consolas"/>
              </a:rPr>
              <a:t>// 5) error handler IN FONDO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4114800"/>
            <a:ext cx="10515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>
                <a:solidFill>
                  <a:srgbClr val="00A69D"/>
                </a:solidFill>
                <a:latin typeface="Open Sans"/>
              </a:rPr>
              <a:t>TRE REGOLE PRATICHE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4434840"/>
            <a:ext cx="10515600" cy="1828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dirty="0">
                <a:solidFill>
                  <a:srgbClr val="555667"/>
                </a:solidFill>
                <a:latin typeface="Open Sans"/>
              </a:rPr>
              <a:t>Parsing (</a:t>
            </a:r>
            <a:r>
              <a:rPr sz="1500" b="0" dirty="0" err="1">
                <a:solidFill>
                  <a:srgbClr val="555667"/>
                </a:solidFill>
                <a:latin typeface="Open Sans"/>
              </a:rPr>
              <a:t>json</a:t>
            </a:r>
            <a:r>
              <a:rPr sz="1500" b="0" dirty="0">
                <a:solidFill>
                  <a:srgbClr val="555667"/>
                </a:solidFill>
                <a:latin typeface="Open Sans"/>
              </a:rPr>
              <a:t>, </a:t>
            </a:r>
            <a:r>
              <a:rPr sz="1500" b="0" dirty="0" err="1">
                <a:solidFill>
                  <a:srgbClr val="555667"/>
                </a:solidFill>
                <a:latin typeface="Open Sans"/>
              </a:rPr>
              <a:t>urlencoded</a:t>
            </a:r>
            <a:r>
              <a:rPr sz="1500" b="0" dirty="0">
                <a:solidFill>
                  <a:srgbClr val="555667"/>
                </a:solidFill>
                <a:latin typeface="Open Sans"/>
              </a:rPr>
              <a:t>, </a:t>
            </a:r>
            <a:r>
              <a:rPr sz="1500" b="0" dirty="0" err="1">
                <a:solidFill>
                  <a:srgbClr val="555667"/>
                </a:solidFill>
                <a:latin typeface="Open Sans"/>
              </a:rPr>
              <a:t>cors</a:t>
            </a:r>
            <a:r>
              <a:rPr sz="1500" b="0" dirty="0">
                <a:solidFill>
                  <a:srgbClr val="555667"/>
                </a:solidFill>
                <a:latin typeface="Open Sans"/>
              </a:rPr>
              <a:t>, helmet) → in CIMA, prima delle route.</a:t>
            </a:r>
          </a:p>
          <a:p>
            <a:pPr algn="l"/>
            <a:r>
              <a:rPr sz="1500" b="0" dirty="0">
                <a:solidFill>
                  <a:srgbClr val="555667"/>
                </a:solidFill>
                <a:latin typeface="Open Sans"/>
              </a:rPr>
              <a:t>Auth → PRIMA delle route </a:t>
            </a:r>
            <a:r>
              <a:rPr sz="1500" b="0" dirty="0" err="1">
                <a:solidFill>
                  <a:srgbClr val="555667"/>
                </a:solidFill>
                <a:latin typeface="Open Sans"/>
              </a:rPr>
              <a:t>che</a:t>
            </a:r>
            <a:r>
              <a:rPr sz="1500" b="0" dirty="0">
                <a:solidFill>
                  <a:srgbClr val="555667"/>
                </a:solidFill>
                <a:latin typeface="Open Sans"/>
              </a:rPr>
              <a:t> </a:t>
            </a:r>
            <a:r>
              <a:rPr sz="1500" b="0" dirty="0" err="1">
                <a:solidFill>
                  <a:srgbClr val="555667"/>
                </a:solidFill>
                <a:latin typeface="Open Sans"/>
              </a:rPr>
              <a:t>protegge</a:t>
            </a:r>
            <a:r>
              <a:rPr sz="1500" b="0" dirty="0">
                <a:solidFill>
                  <a:srgbClr val="555667"/>
                </a:solidFill>
                <a:latin typeface="Open Sans"/>
              </a:rPr>
              <a:t>.</a:t>
            </a:r>
          </a:p>
          <a:p>
            <a:pPr algn="l"/>
            <a:r>
              <a:rPr sz="1500" b="0" dirty="0">
                <a:solidFill>
                  <a:srgbClr val="555667"/>
                </a:solidFill>
                <a:latin typeface="Open Sans"/>
              </a:rPr>
              <a:t>Error handler → IN CODA, dopo tutte le route.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329184"/>
          </a:xfrm>
          <a:prstGeom prst="rect">
            <a:avLst/>
          </a:prstGeom>
          <a:solidFill>
            <a:srgbClr val="111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822960" cy="164592"/>
          </a:xfrm>
          <a:prstGeom prst="rect">
            <a:avLst/>
          </a:prstGeom>
          <a:solidFill>
            <a:srgbClr val="33B8B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18288"/>
            <a:ext cx="82296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Open Sans"/>
              </a:rPr>
              <a:t>01 · MIDDLEWARE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418320" y="18288"/>
            <a:ext cx="26517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>
                <a:solidFill>
                  <a:srgbClr val="80D3CE"/>
                </a:solidFill>
                <a:latin typeface="Open Sans"/>
              </a:rPr>
              <a:t>CORSO NODE.JS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94360"/>
            <a:ext cx="109728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>
                <a:solidFill>
                  <a:srgbClr val="111820"/>
                </a:solidFill>
                <a:latin typeface="Open Sans"/>
              </a:rPr>
              <a:t>Middleware utili: durata e factory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1325880"/>
            <a:ext cx="105156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>
                <a:solidFill>
                  <a:srgbClr val="555667"/>
                </a:solidFill>
                <a:latin typeface="Open Sans"/>
              </a:rPr>
              <a:t>Logger del tempo di risposta + middleware parametrizzati.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>
                <a:solidFill>
                  <a:srgbClr val="90909B"/>
                </a:solidFill>
                <a:latin typeface="Open Sans"/>
              </a:rPr>
              <a:t>Giorno 2 — Parte 1 / Middleware + SQLite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492240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0">
                <a:solidFill>
                  <a:srgbClr val="90909B"/>
                </a:solidFill>
                <a:latin typeface="Open Sans"/>
              </a:rPr>
              <a:t>6 / 28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1828800"/>
            <a:ext cx="5212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>
                <a:solidFill>
                  <a:srgbClr val="00A69D"/>
                </a:solidFill>
                <a:latin typeface="Open Sans"/>
              </a:rPr>
              <a:t>durata.js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68680" y="2148840"/>
            <a:ext cx="5212080" cy="2377440"/>
          </a:xfrm>
          <a:prstGeom prst="rect">
            <a:avLst/>
          </a:prstGeom>
          <a:solidFill>
            <a:srgbClr val="0F25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033272" y="2258568"/>
            <a:ext cx="4882896" cy="2157984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300" b="1">
                <a:solidFill>
                  <a:srgbClr val="5DD8C3"/>
                </a:solidFill>
                <a:latin typeface="Consolas"/>
              </a:rPr>
              <a:t>export</a:t>
            </a:r>
            <a:r>
              <a:rPr sz="1300">
                <a:solidFill>
                  <a:srgbClr val="E8EEF1"/>
                </a:solidFill>
                <a:latin typeface="Consolas"/>
              </a:rPr>
              <a:t> </a:t>
            </a:r>
            <a:r>
              <a:rPr sz="1300" b="1">
                <a:solidFill>
                  <a:srgbClr val="5DD8C3"/>
                </a:solidFill>
                <a:latin typeface="Consolas"/>
              </a:rPr>
              <a:t>function</a:t>
            </a:r>
            <a:r>
              <a:rPr sz="1300">
                <a:solidFill>
                  <a:srgbClr val="E8EEF1"/>
                </a:solidFill>
                <a:latin typeface="Consolas"/>
              </a:rPr>
              <a:t> durata(req, res, next) {</a:t>
            </a:r>
          </a:p>
          <a:p>
            <a:pPr algn="l"/>
            <a:r>
              <a:rPr sz="1300">
                <a:solidFill>
                  <a:srgbClr val="E8EEF1"/>
                </a:solidFill>
                <a:latin typeface="Consolas"/>
              </a:rPr>
              <a:t>  </a:t>
            </a:r>
            <a:r>
              <a:rPr sz="1300" b="1">
                <a:solidFill>
                  <a:srgbClr val="5DD8C3"/>
                </a:solidFill>
                <a:latin typeface="Consolas"/>
              </a:rPr>
              <a:t>const</a:t>
            </a:r>
            <a:r>
              <a:rPr sz="1300">
                <a:solidFill>
                  <a:srgbClr val="E8EEF1"/>
                </a:solidFill>
                <a:latin typeface="Consolas"/>
              </a:rPr>
              <a:t> inizio = Date.now();</a:t>
            </a:r>
          </a:p>
          <a:p>
            <a:pPr algn="l"/>
            <a:r>
              <a:rPr sz="1300">
                <a:solidFill>
                  <a:srgbClr val="E8EEF1"/>
                </a:solidFill>
                <a:latin typeface="Consolas"/>
              </a:rPr>
              <a:t>  res.on(</a:t>
            </a:r>
            <a:r>
              <a:rPr sz="1300">
                <a:solidFill>
                  <a:srgbClr val="FFD27F"/>
                </a:solidFill>
                <a:latin typeface="Consolas"/>
              </a:rPr>
              <a:t>'finish'</a:t>
            </a:r>
            <a:r>
              <a:rPr sz="1300">
                <a:solidFill>
                  <a:srgbClr val="E8EEF1"/>
                </a:solidFill>
                <a:latin typeface="Consolas"/>
              </a:rPr>
              <a:t>, () =&gt; {</a:t>
            </a:r>
          </a:p>
          <a:p>
            <a:pPr algn="l"/>
            <a:r>
              <a:rPr sz="1300">
                <a:solidFill>
                  <a:srgbClr val="E8EEF1"/>
                </a:solidFill>
                <a:latin typeface="Consolas"/>
              </a:rPr>
              <a:t>    </a:t>
            </a:r>
            <a:r>
              <a:rPr sz="1300" b="1">
                <a:solidFill>
                  <a:srgbClr val="5DD8C3"/>
                </a:solidFill>
                <a:latin typeface="Consolas"/>
              </a:rPr>
              <a:t>const</a:t>
            </a:r>
            <a:r>
              <a:rPr sz="1300">
                <a:solidFill>
                  <a:srgbClr val="E8EEF1"/>
                </a:solidFill>
                <a:latin typeface="Consolas"/>
              </a:rPr>
              <a:t> ms = Date.now() - inizio;</a:t>
            </a:r>
          </a:p>
          <a:p>
            <a:pPr algn="l"/>
            <a:r>
              <a:rPr sz="1300">
                <a:solidFill>
                  <a:srgbClr val="E8EEF1"/>
                </a:solidFill>
                <a:latin typeface="Consolas"/>
              </a:rPr>
              <a:t>    console.log(</a:t>
            </a:r>
            <a:r>
              <a:rPr sz="1300">
                <a:solidFill>
                  <a:srgbClr val="FFD27F"/>
                </a:solidFill>
                <a:latin typeface="Consolas"/>
              </a:rPr>
              <a:t>`</a:t>
            </a:r>
            <a:r>
              <a:rPr sz="1300">
                <a:solidFill>
                  <a:srgbClr val="E8EEF1"/>
                </a:solidFill>
                <a:latin typeface="Consolas"/>
              </a:rPr>
              <a:t>${req.method} ${req.url}</a:t>
            </a:r>
          </a:p>
          <a:p>
            <a:pPr algn="l"/>
            <a:r>
              <a:rPr sz="1300">
                <a:solidFill>
                  <a:srgbClr val="E8EEF1"/>
                </a:solidFill>
                <a:latin typeface="Consolas"/>
              </a:rPr>
              <a:t>        -&gt; ${res.statusCode} (${ms}ms)</a:t>
            </a:r>
            <a:r>
              <a:rPr sz="1300">
                <a:solidFill>
                  <a:srgbClr val="FFD27F"/>
                </a:solidFill>
                <a:latin typeface="Consolas"/>
              </a:rPr>
              <a:t>`</a:t>
            </a:r>
            <a:r>
              <a:rPr sz="1300">
                <a:solidFill>
                  <a:srgbClr val="E8EEF1"/>
                </a:solidFill>
                <a:latin typeface="Consolas"/>
              </a:rPr>
              <a:t>);</a:t>
            </a:r>
          </a:p>
          <a:p>
            <a:pPr algn="l"/>
            <a:r>
              <a:rPr sz="1300">
                <a:solidFill>
                  <a:srgbClr val="E8EEF1"/>
                </a:solidFill>
                <a:latin typeface="Consolas"/>
              </a:rPr>
              <a:t>  });</a:t>
            </a:r>
          </a:p>
          <a:p>
            <a:pPr algn="l"/>
            <a:r>
              <a:rPr sz="1300">
                <a:solidFill>
                  <a:srgbClr val="E8EEF1"/>
                </a:solidFill>
                <a:latin typeface="Consolas"/>
              </a:rPr>
              <a:t>  next();</a:t>
            </a:r>
          </a:p>
          <a:p>
            <a:pPr algn="l"/>
            <a:r>
              <a:rPr sz="1300">
                <a:solidFill>
                  <a:srgbClr val="E8EEF1"/>
                </a:solidFill>
                <a:latin typeface="Consolas"/>
              </a:rPr>
              <a:t>}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63640" y="1828800"/>
            <a:ext cx="51206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>
                <a:solidFill>
                  <a:srgbClr val="00A69D"/>
                </a:solidFill>
                <a:latin typeface="Open Sans"/>
              </a:rPr>
              <a:t>factory: richiediHeader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63640" y="2148840"/>
            <a:ext cx="5120640" cy="2377440"/>
          </a:xfrm>
          <a:prstGeom prst="rect">
            <a:avLst/>
          </a:prstGeom>
          <a:solidFill>
            <a:srgbClr val="0F25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428232" y="2258568"/>
            <a:ext cx="4791456" cy="2157984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300" b="1">
                <a:solidFill>
                  <a:srgbClr val="5DD8C3"/>
                </a:solidFill>
                <a:latin typeface="Consolas"/>
              </a:rPr>
              <a:t>export</a:t>
            </a:r>
            <a:r>
              <a:rPr sz="1300">
                <a:solidFill>
                  <a:srgbClr val="E8EEF1"/>
                </a:solidFill>
                <a:latin typeface="Consolas"/>
              </a:rPr>
              <a:t> </a:t>
            </a:r>
            <a:r>
              <a:rPr sz="1300" b="1">
                <a:solidFill>
                  <a:srgbClr val="5DD8C3"/>
                </a:solidFill>
                <a:latin typeface="Consolas"/>
              </a:rPr>
              <a:t>function</a:t>
            </a:r>
            <a:r>
              <a:rPr sz="1300">
                <a:solidFill>
                  <a:srgbClr val="E8EEF1"/>
                </a:solidFill>
                <a:latin typeface="Consolas"/>
              </a:rPr>
              <a:t> richiediHeader(nome) {</a:t>
            </a:r>
          </a:p>
          <a:p>
            <a:pPr algn="l"/>
            <a:r>
              <a:rPr sz="1300">
                <a:solidFill>
                  <a:srgbClr val="E8EEF1"/>
                </a:solidFill>
                <a:latin typeface="Consolas"/>
              </a:rPr>
              <a:t>  </a:t>
            </a:r>
            <a:r>
              <a:rPr sz="1300" b="1">
                <a:solidFill>
                  <a:srgbClr val="5DD8C3"/>
                </a:solidFill>
                <a:latin typeface="Consolas"/>
              </a:rPr>
              <a:t>return</a:t>
            </a:r>
            <a:r>
              <a:rPr sz="1300">
                <a:solidFill>
                  <a:srgbClr val="E8EEF1"/>
                </a:solidFill>
                <a:latin typeface="Consolas"/>
              </a:rPr>
              <a:t> (req, res, next) =&gt; {</a:t>
            </a:r>
          </a:p>
          <a:p>
            <a:pPr algn="l"/>
            <a:r>
              <a:rPr sz="1300">
                <a:solidFill>
                  <a:srgbClr val="E8EEF1"/>
                </a:solidFill>
                <a:latin typeface="Consolas"/>
              </a:rPr>
              <a:t>    </a:t>
            </a:r>
            <a:r>
              <a:rPr sz="1300" b="1">
                <a:solidFill>
                  <a:srgbClr val="5DD8C3"/>
                </a:solidFill>
                <a:latin typeface="Consolas"/>
              </a:rPr>
              <a:t>if</a:t>
            </a:r>
            <a:r>
              <a:rPr sz="1300">
                <a:solidFill>
                  <a:srgbClr val="E8EEF1"/>
                </a:solidFill>
                <a:latin typeface="Consolas"/>
              </a:rPr>
              <a:t> (!req.headers[nome.toLowerCase()]) {</a:t>
            </a:r>
          </a:p>
          <a:p>
            <a:pPr algn="l"/>
            <a:r>
              <a:rPr sz="1300">
                <a:solidFill>
                  <a:srgbClr val="E8EEF1"/>
                </a:solidFill>
                <a:latin typeface="Consolas"/>
              </a:rPr>
              <a:t>      </a:t>
            </a:r>
            <a:r>
              <a:rPr sz="1300" b="1">
                <a:solidFill>
                  <a:srgbClr val="5DD8C3"/>
                </a:solidFill>
                <a:latin typeface="Consolas"/>
              </a:rPr>
              <a:t>return</a:t>
            </a:r>
            <a:r>
              <a:rPr sz="1300">
                <a:solidFill>
                  <a:srgbClr val="E8EEF1"/>
                </a:solidFill>
                <a:latin typeface="Consolas"/>
              </a:rPr>
              <a:t> res.status(400).json({</a:t>
            </a:r>
          </a:p>
          <a:p>
            <a:pPr algn="l"/>
            <a:r>
              <a:rPr sz="1300">
                <a:solidFill>
                  <a:srgbClr val="E8EEF1"/>
                </a:solidFill>
                <a:latin typeface="Consolas"/>
              </a:rPr>
              <a:t>        errore: </a:t>
            </a:r>
            <a:r>
              <a:rPr sz="1300">
                <a:solidFill>
                  <a:srgbClr val="FFD27F"/>
                </a:solidFill>
                <a:latin typeface="Consolas"/>
              </a:rPr>
              <a:t>`Manca header ${nome}`</a:t>
            </a:r>
          </a:p>
          <a:p>
            <a:pPr algn="l"/>
            <a:r>
              <a:rPr sz="1300">
                <a:solidFill>
                  <a:srgbClr val="E8EEF1"/>
                </a:solidFill>
                <a:latin typeface="Consolas"/>
              </a:rPr>
              <a:t>      });</a:t>
            </a:r>
          </a:p>
          <a:p>
            <a:pPr algn="l"/>
            <a:r>
              <a:rPr sz="1300">
                <a:solidFill>
                  <a:srgbClr val="E8EEF1"/>
                </a:solidFill>
                <a:latin typeface="Consolas"/>
              </a:rPr>
              <a:t>    }</a:t>
            </a:r>
          </a:p>
          <a:p>
            <a:pPr algn="l"/>
            <a:r>
              <a:rPr sz="1300">
                <a:solidFill>
                  <a:srgbClr val="E8EEF1"/>
                </a:solidFill>
                <a:latin typeface="Consolas"/>
              </a:rPr>
              <a:t>    next();</a:t>
            </a:r>
          </a:p>
          <a:p>
            <a:pPr algn="l"/>
            <a:r>
              <a:rPr sz="1300">
                <a:solidFill>
                  <a:srgbClr val="E8EEF1"/>
                </a:solidFill>
                <a:latin typeface="Consolas"/>
              </a:rPr>
              <a:t>  };</a:t>
            </a:r>
          </a:p>
          <a:p>
            <a:pPr algn="l"/>
            <a:r>
              <a:rPr sz="1300">
                <a:solidFill>
                  <a:srgbClr val="E8EEF1"/>
                </a:solidFill>
                <a:latin typeface="Consolas"/>
              </a:rPr>
              <a:t>}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4754880"/>
            <a:ext cx="10515600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>
                <a:solidFill>
                  <a:srgbClr val="35364A"/>
                </a:solidFill>
                <a:latin typeface="Open Sans"/>
              </a:rPr>
              <a:t>Il factory pattern è esattamente quello che useremo nel Giorno 3</a:t>
            </a:r>
          </a:p>
          <a:p>
            <a:pPr algn="l"/>
            <a:r>
              <a:rPr sz="1400" b="1">
                <a:solidFill>
                  <a:srgbClr val="35364A"/>
                </a:solidFill>
                <a:latin typeface="Open Sans"/>
              </a:rPr>
              <a:t>per il middleware verifyToken(secret) di JWT.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6172200"/>
            <a:ext cx="10058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>
                <a:solidFill>
                  <a:srgbClr val="00A69D"/>
                </a:solidFill>
                <a:latin typeface="Open Sans"/>
              </a:rPr>
              <a:t>▸  CODICE: 01-middleware-tipi/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8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33B8B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1463040"/>
            <a:ext cx="6400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>
                <a:solidFill>
                  <a:srgbClr val="33B8B1"/>
                </a:solidFill>
                <a:latin typeface="Open Sans"/>
              </a:rPr>
              <a:t>SEZIONE  ·  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194560"/>
            <a:ext cx="7863840" cy="2286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Open Sans"/>
              </a:rPr>
              <a:t>Error handler centralizzato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4617720"/>
            <a:ext cx="1371600" cy="54864"/>
          </a:xfrm>
          <a:prstGeom prst="rect">
            <a:avLst/>
          </a:prstGeom>
          <a:solidFill>
            <a:srgbClr val="33B8B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40080" y="4800600"/>
            <a:ext cx="82296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900" b="0">
                <a:solidFill>
                  <a:srgbClr val="80D3CE"/>
                </a:solidFill>
                <a:latin typeface="Open Sans"/>
              </a:rPr>
              <a:t>Un solo middleware per tutti gli errori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0" y="1371600"/>
            <a:ext cx="4114800" cy="4114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20000" b="1">
                <a:solidFill>
                  <a:srgbClr val="303143"/>
                </a:solidFill>
                <a:latin typeface="Open Sans"/>
              </a:rPr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9224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>
                <a:solidFill>
                  <a:srgbClr val="90909B"/>
                </a:solidFill>
                <a:latin typeface="Open Sans"/>
              </a:rPr>
              <a:t>Giorno 2 — Parte 1 / Middleware + SQLite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492240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0">
                <a:solidFill>
                  <a:srgbClr val="90909B"/>
                </a:solidFill>
                <a:latin typeface="Open Sans"/>
              </a:rPr>
              <a:t>7 / 28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329184"/>
          </a:xfrm>
          <a:prstGeom prst="rect">
            <a:avLst/>
          </a:prstGeom>
          <a:solidFill>
            <a:srgbClr val="111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822960" cy="164592"/>
          </a:xfrm>
          <a:prstGeom prst="rect">
            <a:avLst/>
          </a:prstGeom>
          <a:solidFill>
            <a:srgbClr val="33B8B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18288"/>
            <a:ext cx="82296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Open Sans"/>
              </a:rPr>
              <a:t>02 · ERROR HANDLER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418320" y="18288"/>
            <a:ext cx="26517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>
                <a:solidFill>
                  <a:srgbClr val="80D3CE"/>
                </a:solidFill>
                <a:latin typeface="Open Sans"/>
              </a:rPr>
              <a:t>CORSO NODE.JS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94360"/>
            <a:ext cx="109728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>
                <a:solidFill>
                  <a:srgbClr val="111820"/>
                </a:solidFill>
                <a:latin typeface="Open Sans"/>
              </a:rPr>
              <a:t>Il problema da risolvere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1325880"/>
            <a:ext cx="105156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>
                <a:solidFill>
                  <a:srgbClr val="555667"/>
                </a:solidFill>
                <a:latin typeface="Open Sans"/>
              </a:rPr>
              <a:t>Errori sparsi in ogni controller, formati JSON inconsistenti.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>
                <a:solidFill>
                  <a:srgbClr val="90909B"/>
                </a:solidFill>
                <a:latin typeface="Open Sans"/>
              </a:rPr>
              <a:t>Giorno 2 — Parte 1 / Middleware + SQLite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492240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0">
                <a:solidFill>
                  <a:srgbClr val="90909B"/>
                </a:solidFill>
                <a:latin typeface="Open Sans"/>
              </a:rPr>
              <a:t>8 / 28</a:t>
            </a:r>
          </a:p>
        </p:txBody>
      </p:sp>
      <p:sp>
        <p:nvSpPr>
          <p:cNvPr id="10" name="Rectangle 9"/>
          <p:cNvSpPr/>
          <p:nvPr/>
        </p:nvSpPr>
        <p:spPr>
          <a:xfrm>
            <a:off x="868680" y="1828800"/>
            <a:ext cx="10515600" cy="2560320"/>
          </a:xfrm>
          <a:prstGeom prst="rect">
            <a:avLst/>
          </a:prstGeom>
          <a:solidFill>
            <a:srgbClr val="0F25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033272" y="1938528"/>
            <a:ext cx="10186416" cy="2340864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300" i="1">
                <a:solidFill>
                  <a:srgbClr val="8893A0"/>
                </a:solidFill>
                <a:latin typeface="Consolas"/>
              </a:rPr>
              <a:t>// Controller A</a:t>
            </a:r>
          </a:p>
          <a:p>
            <a:pPr algn="l"/>
            <a:r>
              <a:rPr sz="1300" b="1">
                <a:solidFill>
                  <a:srgbClr val="5DD8C3"/>
                </a:solidFill>
                <a:latin typeface="Consolas"/>
              </a:rPr>
              <a:t>if</a:t>
            </a:r>
            <a:r>
              <a:rPr sz="1300">
                <a:solidFill>
                  <a:srgbClr val="E8EEF1"/>
                </a:solidFill>
                <a:latin typeface="Consolas"/>
              </a:rPr>
              <a:t> (!user) </a:t>
            </a:r>
            <a:r>
              <a:rPr sz="1300" b="1">
                <a:solidFill>
                  <a:srgbClr val="5DD8C3"/>
                </a:solidFill>
                <a:latin typeface="Consolas"/>
              </a:rPr>
              <a:t>return</a:t>
            </a:r>
            <a:r>
              <a:rPr sz="1300">
                <a:solidFill>
                  <a:srgbClr val="E8EEF1"/>
                </a:solidFill>
                <a:latin typeface="Consolas"/>
              </a:rPr>
              <a:t> res.status(404).json({ errore: </a:t>
            </a:r>
            <a:r>
              <a:rPr sz="1300">
                <a:solidFill>
                  <a:srgbClr val="FFD27F"/>
                </a:solidFill>
                <a:latin typeface="Consolas"/>
              </a:rPr>
              <a:t>'Non trovato'</a:t>
            </a:r>
            <a:r>
              <a:rPr sz="1300">
                <a:solidFill>
                  <a:srgbClr val="E8EEF1"/>
                </a:solidFill>
                <a:latin typeface="Consolas"/>
              </a:rPr>
              <a:t> });</a:t>
            </a:r>
          </a:p>
          <a:p>
            <a:pPr algn="l"/>
            <a:r>
              <a:rPr sz="1300">
                <a:solidFill>
                  <a:srgbClr val="E8EEF1"/>
                </a:solidFill>
                <a:latin typeface="Consolas"/>
              </a:rPr>
              <a:t> </a:t>
            </a:r>
          </a:p>
          <a:p>
            <a:pPr algn="l"/>
            <a:r>
              <a:rPr sz="1300" i="1">
                <a:solidFill>
                  <a:srgbClr val="8893A0"/>
                </a:solidFill>
                <a:latin typeface="Consolas"/>
              </a:rPr>
              <a:t>// Controller B (un collega)</a:t>
            </a:r>
          </a:p>
          <a:p>
            <a:pPr algn="l"/>
            <a:r>
              <a:rPr sz="1300" b="1">
                <a:solidFill>
                  <a:srgbClr val="5DD8C3"/>
                </a:solidFill>
                <a:latin typeface="Consolas"/>
              </a:rPr>
              <a:t>if</a:t>
            </a:r>
            <a:r>
              <a:rPr sz="1300">
                <a:solidFill>
                  <a:srgbClr val="E8EEF1"/>
                </a:solidFill>
                <a:latin typeface="Consolas"/>
              </a:rPr>
              <a:t> (!user) </a:t>
            </a:r>
            <a:r>
              <a:rPr sz="1300" b="1">
                <a:solidFill>
                  <a:srgbClr val="5DD8C3"/>
                </a:solidFill>
                <a:latin typeface="Consolas"/>
              </a:rPr>
              <a:t>return</a:t>
            </a:r>
            <a:r>
              <a:rPr sz="1300">
                <a:solidFill>
                  <a:srgbClr val="E8EEF1"/>
                </a:solidFill>
                <a:latin typeface="Consolas"/>
              </a:rPr>
              <a:t> res.status(404).json({ message: </a:t>
            </a:r>
            <a:r>
              <a:rPr sz="1300">
                <a:solidFill>
                  <a:srgbClr val="FFD27F"/>
                </a:solidFill>
                <a:latin typeface="Consolas"/>
              </a:rPr>
              <a:t>'Not found'</a:t>
            </a:r>
            <a:r>
              <a:rPr sz="1300">
                <a:solidFill>
                  <a:srgbClr val="E8EEF1"/>
                </a:solidFill>
                <a:latin typeface="Consolas"/>
              </a:rPr>
              <a:t> });</a:t>
            </a:r>
          </a:p>
          <a:p>
            <a:pPr algn="l"/>
            <a:r>
              <a:rPr sz="1300">
                <a:solidFill>
                  <a:srgbClr val="E8EEF1"/>
                </a:solidFill>
                <a:latin typeface="Consolas"/>
              </a:rPr>
              <a:t> </a:t>
            </a:r>
          </a:p>
          <a:p>
            <a:pPr algn="l"/>
            <a:r>
              <a:rPr sz="1300" i="1">
                <a:solidFill>
                  <a:srgbClr val="8893A0"/>
                </a:solidFill>
                <a:latin typeface="Consolas"/>
              </a:rPr>
              <a:t>// Controller C (altro collega)</a:t>
            </a:r>
          </a:p>
          <a:p>
            <a:pPr algn="l"/>
            <a:r>
              <a:rPr sz="1300" b="1">
                <a:solidFill>
                  <a:srgbClr val="5DD8C3"/>
                </a:solidFill>
                <a:latin typeface="Consolas"/>
              </a:rPr>
              <a:t>if</a:t>
            </a:r>
            <a:r>
              <a:rPr sz="1300">
                <a:solidFill>
                  <a:srgbClr val="E8EEF1"/>
                </a:solidFill>
                <a:latin typeface="Consolas"/>
              </a:rPr>
              <a:t> (!user) </a:t>
            </a:r>
            <a:r>
              <a:rPr sz="1300" b="1">
                <a:solidFill>
                  <a:srgbClr val="5DD8C3"/>
                </a:solidFill>
                <a:latin typeface="Consolas"/>
              </a:rPr>
              <a:t>return</a:t>
            </a:r>
            <a:r>
              <a:rPr sz="1300">
                <a:solidFill>
                  <a:srgbClr val="E8EEF1"/>
                </a:solidFill>
                <a:latin typeface="Consolas"/>
              </a:rPr>
              <a:t> res.status(404).send(</a:t>
            </a:r>
            <a:r>
              <a:rPr sz="1300">
                <a:solidFill>
                  <a:srgbClr val="FFD27F"/>
                </a:solidFill>
                <a:latin typeface="Consolas"/>
              </a:rPr>
              <a:t>'Utente inesistente'</a:t>
            </a:r>
            <a:r>
              <a:rPr sz="1300">
                <a:solidFill>
                  <a:srgbClr val="E8EEF1"/>
                </a:solidFill>
                <a:latin typeface="Consolas"/>
              </a:rPr>
              <a:t>);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4663440"/>
            <a:ext cx="10515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>
                <a:solidFill>
                  <a:srgbClr val="00A69D"/>
                </a:solidFill>
                <a:latin typeface="Open Sans"/>
              </a:rPr>
              <a:t>RISULTATO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4983480"/>
            <a:ext cx="10515600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dirty="0">
                <a:solidFill>
                  <a:srgbClr val="555667"/>
                </a:solidFill>
                <a:latin typeface="Open Sans"/>
              </a:rPr>
              <a:t>Il client non </a:t>
            </a:r>
            <a:r>
              <a:rPr sz="1500" b="0" dirty="0" err="1">
                <a:solidFill>
                  <a:srgbClr val="555667"/>
                </a:solidFill>
                <a:latin typeface="Open Sans"/>
              </a:rPr>
              <a:t>sa</a:t>
            </a:r>
            <a:r>
              <a:rPr sz="1500" b="0" dirty="0">
                <a:solidFill>
                  <a:srgbClr val="555667"/>
                </a:solidFill>
                <a:latin typeface="Open Sans"/>
              </a:rPr>
              <a:t> </a:t>
            </a:r>
            <a:r>
              <a:rPr sz="1500" b="0" dirty="0" err="1">
                <a:solidFill>
                  <a:srgbClr val="555667"/>
                </a:solidFill>
                <a:latin typeface="Open Sans"/>
              </a:rPr>
              <a:t>cosa</a:t>
            </a:r>
            <a:r>
              <a:rPr sz="1500" b="0" dirty="0">
                <a:solidFill>
                  <a:srgbClr val="555667"/>
                </a:solidFill>
                <a:latin typeface="Open Sans"/>
              </a:rPr>
              <a:t> </a:t>
            </a:r>
            <a:r>
              <a:rPr sz="1500" b="0" dirty="0" err="1">
                <a:solidFill>
                  <a:srgbClr val="555667"/>
                </a:solidFill>
                <a:latin typeface="Open Sans"/>
              </a:rPr>
              <a:t>aspettarsi</a:t>
            </a:r>
            <a:r>
              <a:rPr sz="1500" b="0" dirty="0">
                <a:solidFill>
                  <a:srgbClr val="555667"/>
                </a:solidFill>
                <a:latin typeface="Open Sans"/>
              </a:rPr>
              <a:t>. La </a:t>
            </a:r>
            <a:r>
              <a:rPr sz="1500" b="0" dirty="0" err="1">
                <a:solidFill>
                  <a:srgbClr val="555667"/>
                </a:solidFill>
                <a:latin typeface="Open Sans"/>
              </a:rPr>
              <a:t>gestione</a:t>
            </a:r>
            <a:r>
              <a:rPr sz="1500" b="0" dirty="0">
                <a:solidFill>
                  <a:srgbClr val="555667"/>
                </a:solidFill>
                <a:latin typeface="Open Sans"/>
              </a:rPr>
              <a:t> </a:t>
            </a:r>
            <a:r>
              <a:rPr sz="1500" b="0" dirty="0" err="1">
                <a:solidFill>
                  <a:srgbClr val="555667"/>
                </a:solidFill>
                <a:latin typeface="Open Sans"/>
              </a:rPr>
              <a:t>errori</a:t>
            </a:r>
            <a:r>
              <a:rPr sz="1500" b="0" dirty="0">
                <a:solidFill>
                  <a:srgbClr val="555667"/>
                </a:solidFill>
                <a:latin typeface="Open Sans"/>
              </a:rPr>
              <a:t> è </a:t>
            </a:r>
            <a:r>
              <a:rPr sz="1500" b="0" dirty="0" err="1">
                <a:solidFill>
                  <a:srgbClr val="555667"/>
                </a:solidFill>
                <a:latin typeface="Open Sans"/>
              </a:rPr>
              <a:t>duplicata</a:t>
            </a:r>
            <a:r>
              <a:rPr sz="1500" b="0" dirty="0">
                <a:solidFill>
                  <a:srgbClr val="555667"/>
                </a:solidFill>
                <a:latin typeface="Open Sans"/>
              </a:rPr>
              <a:t> in N </a:t>
            </a:r>
            <a:r>
              <a:rPr sz="1500" b="0" dirty="0" err="1">
                <a:solidFill>
                  <a:srgbClr val="555667"/>
                </a:solidFill>
                <a:latin typeface="Open Sans"/>
              </a:rPr>
              <a:t>posti</a:t>
            </a:r>
            <a:r>
              <a:rPr sz="1500" b="0" dirty="0">
                <a:solidFill>
                  <a:srgbClr val="555667"/>
                </a:solidFill>
                <a:latin typeface="Open Sans"/>
              </a:rPr>
              <a:t>.</a:t>
            </a:r>
          </a:p>
          <a:p>
            <a:pPr algn="l"/>
            <a:r>
              <a:rPr sz="1500" b="0" dirty="0">
                <a:solidFill>
                  <a:srgbClr val="555667"/>
                </a:solidFill>
                <a:latin typeface="Open Sans"/>
              </a:rPr>
              <a:t>E </a:t>
            </a:r>
            <a:r>
              <a:rPr sz="1500" b="0" dirty="0" err="1">
                <a:solidFill>
                  <a:srgbClr val="555667"/>
                </a:solidFill>
                <a:latin typeface="Open Sans"/>
              </a:rPr>
              <a:t>quando</a:t>
            </a:r>
            <a:r>
              <a:rPr sz="1500" b="0" dirty="0">
                <a:solidFill>
                  <a:srgbClr val="555667"/>
                </a:solidFill>
                <a:latin typeface="Open Sans"/>
              </a:rPr>
              <a:t> un controller async </a:t>
            </a:r>
            <a:r>
              <a:rPr sz="1500" b="0" dirty="0" err="1">
                <a:solidFill>
                  <a:srgbClr val="555667"/>
                </a:solidFill>
                <a:latin typeface="Open Sans"/>
              </a:rPr>
              <a:t>lancia</a:t>
            </a:r>
            <a:r>
              <a:rPr sz="1500" b="0" dirty="0">
                <a:solidFill>
                  <a:srgbClr val="555667"/>
                </a:solidFill>
                <a:latin typeface="Open Sans"/>
              </a:rPr>
              <a:t> </a:t>
            </a:r>
            <a:r>
              <a:rPr sz="1500" b="0" dirty="0" err="1">
                <a:solidFill>
                  <a:srgbClr val="555667"/>
                </a:solidFill>
                <a:latin typeface="Open Sans"/>
              </a:rPr>
              <a:t>un'eccezione</a:t>
            </a:r>
            <a:r>
              <a:rPr sz="1500" b="0" dirty="0">
                <a:solidFill>
                  <a:srgbClr val="555667"/>
                </a:solidFill>
                <a:latin typeface="Open Sans"/>
              </a:rPr>
              <a:t> non </a:t>
            </a:r>
            <a:r>
              <a:rPr sz="1500" b="0" dirty="0" err="1">
                <a:solidFill>
                  <a:srgbClr val="555667"/>
                </a:solidFill>
                <a:latin typeface="Open Sans"/>
              </a:rPr>
              <a:t>catturata</a:t>
            </a:r>
            <a:r>
              <a:rPr sz="1500" b="0" dirty="0">
                <a:solidFill>
                  <a:srgbClr val="555667"/>
                </a:solidFill>
                <a:latin typeface="Open Sans"/>
              </a:rPr>
              <a:t>,</a:t>
            </a:r>
          </a:p>
          <a:p>
            <a:pPr algn="l"/>
            <a:r>
              <a:rPr sz="1500" b="0" dirty="0">
                <a:solidFill>
                  <a:srgbClr val="555667"/>
                </a:solidFill>
                <a:latin typeface="Open Sans"/>
              </a:rPr>
              <a:t>Express </a:t>
            </a:r>
            <a:r>
              <a:rPr sz="1500" b="0" dirty="0" err="1">
                <a:solidFill>
                  <a:srgbClr val="555667"/>
                </a:solidFill>
                <a:latin typeface="Open Sans"/>
              </a:rPr>
              <a:t>manda</a:t>
            </a:r>
            <a:r>
              <a:rPr sz="1500" b="0" dirty="0">
                <a:solidFill>
                  <a:srgbClr val="555667"/>
                </a:solidFill>
                <a:latin typeface="Open Sans"/>
              </a:rPr>
              <a:t> HTML </a:t>
            </a:r>
            <a:r>
              <a:rPr sz="1500" b="0" dirty="0" err="1">
                <a:solidFill>
                  <a:srgbClr val="555667"/>
                </a:solidFill>
                <a:latin typeface="Open Sans"/>
              </a:rPr>
              <a:t>brutto</a:t>
            </a:r>
            <a:r>
              <a:rPr sz="1500" b="0" dirty="0">
                <a:solidFill>
                  <a:srgbClr val="555667"/>
                </a:solidFill>
                <a:latin typeface="Open Sans"/>
              </a:rPr>
              <a:t> al client. </a:t>
            </a:r>
            <a:r>
              <a:rPr sz="1500" b="0" dirty="0" err="1">
                <a:solidFill>
                  <a:srgbClr val="555667"/>
                </a:solidFill>
                <a:latin typeface="Open Sans"/>
              </a:rPr>
              <a:t>Soluzione</a:t>
            </a:r>
            <a:r>
              <a:rPr sz="1500" b="0" dirty="0">
                <a:solidFill>
                  <a:srgbClr val="555667"/>
                </a:solidFill>
                <a:latin typeface="Open Sans"/>
              </a:rPr>
              <a:t>: </a:t>
            </a:r>
            <a:r>
              <a:rPr sz="1500" b="0" dirty="0" err="1">
                <a:solidFill>
                  <a:srgbClr val="555667"/>
                </a:solidFill>
                <a:latin typeface="Open Sans"/>
              </a:rPr>
              <a:t>centralizzare</a:t>
            </a:r>
            <a:r>
              <a:rPr sz="1500" b="0" dirty="0">
                <a:solidFill>
                  <a:srgbClr val="555667"/>
                </a:solidFill>
                <a:latin typeface="Open Sans"/>
              </a:rPr>
              <a:t>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329184"/>
          </a:xfrm>
          <a:prstGeom prst="rect">
            <a:avLst/>
          </a:prstGeom>
          <a:solidFill>
            <a:srgbClr val="111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822960" cy="164592"/>
          </a:xfrm>
          <a:prstGeom prst="rect">
            <a:avLst/>
          </a:prstGeom>
          <a:solidFill>
            <a:srgbClr val="33B8B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18288"/>
            <a:ext cx="82296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Open Sans"/>
              </a:rPr>
              <a:t>02 · ERROR HANDLER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418320" y="18288"/>
            <a:ext cx="26517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>
                <a:solidFill>
                  <a:srgbClr val="80D3CE"/>
                </a:solidFill>
                <a:latin typeface="Open Sans"/>
              </a:rPr>
              <a:t>CORSO NODE.JS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94360"/>
            <a:ext cx="109728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>
                <a:solidFill>
                  <a:srgbClr val="111820"/>
                </a:solidFill>
                <a:latin typeface="Open Sans"/>
              </a:rPr>
              <a:t>Il middleware error handler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1325880"/>
            <a:ext cx="105156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>
                <a:solidFill>
                  <a:srgbClr val="555667"/>
                </a:solidFill>
                <a:latin typeface="Open Sans"/>
              </a:rPr>
              <a:t>Firma a 4 parametri (err, req, res, next), registrato per ultimo.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>
                <a:solidFill>
                  <a:srgbClr val="90909B"/>
                </a:solidFill>
                <a:latin typeface="Open Sans"/>
              </a:rPr>
              <a:t>Giorno 2 — Parte 1 / Middleware + SQLite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492240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0">
                <a:solidFill>
                  <a:srgbClr val="90909B"/>
                </a:solidFill>
                <a:latin typeface="Open Sans"/>
              </a:rPr>
              <a:t>9 / 28</a:t>
            </a:r>
          </a:p>
        </p:txBody>
      </p:sp>
      <p:sp>
        <p:nvSpPr>
          <p:cNvPr id="10" name="Rectangle 9"/>
          <p:cNvSpPr/>
          <p:nvPr/>
        </p:nvSpPr>
        <p:spPr>
          <a:xfrm>
            <a:off x="868680" y="1828800"/>
            <a:ext cx="10515600" cy="2011680"/>
          </a:xfrm>
          <a:prstGeom prst="rect">
            <a:avLst/>
          </a:prstGeom>
          <a:solidFill>
            <a:srgbClr val="0F25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033272" y="1938528"/>
            <a:ext cx="10186416" cy="1792224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300" i="1" dirty="0">
                <a:solidFill>
                  <a:srgbClr val="8893A0"/>
                </a:solidFill>
                <a:latin typeface="Consolas"/>
              </a:rPr>
              <a:t>// </a:t>
            </a:r>
            <a:r>
              <a:rPr sz="1300" i="1" dirty="0" err="1">
                <a:solidFill>
                  <a:srgbClr val="8893A0"/>
                </a:solidFill>
                <a:latin typeface="Consolas"/>
              </a:rPr>
              <a:t>src</a:t>
            </a:r>
            <a:r>
              <a:rPr sz="1300" i="1" dirty="0">
                <a:solidFill>
                  <a:srgbClr val="8893A0"/>
                </a:solidFill>
                <a:latin typeface="Consolas"/>
              </a:rPr>
              <a:t>/</a:t>
            </a:r>
            <a:r>
              <a:rPr sz="1300" i="1" dirty="0" err="1">
                <a:solidFill>
                  <a:srgbClr val="8893A0"/>
                </a:solidFill>
                <a:latin typeface="Consolas"/>
              </a:rPr>
              <a:t>middlewares</a:t>
            </a:r>
            <a:r>
              <a:rPr sz="1300" i="1" dirty="0">
                <a:solidFill>
                  <a:srgbClr val="8893A0"/>
                </a:solidFill>
                <a:latin typeface="Consolas"/>
              </a:rPr>
              <a:t>/errorHandler.js</a:t>
            </a:r>
          </a:p>
          <a:p>
            <a:pPr algn="l"/>
            <a:r>
              <a:rPr sz="1300" b="1" dirty="0">
                <a:solidFill>
                  <a:srgbClr val="5DD8C3"/>
                </a:solidFill>
                <a:latin typeface="Consolas"/>
              </a:rPr>
              <a:t>export</a:t>
            </a:r>
            <a:r>
              <a:rPr sz="1300" dirty="0">
                <a:solidFill>
                  <a:srgbClr val="E8EEF1"/>
                </a:solidFill>
                <a:latin typeface="Consolas"/>
              </a:rPr>
              <a:t> </a:t>
            </a:r>
            <a:r>
              <a:rPr sz="1300" b="1" dirty="0">
                <a:solidFill>
                  <a:srgbClr val="5DD8C3"/>
                </a:solidFill>
                <a:latin typeface="Consolas"/>
              </a:rPr>
              <a:t>function</a:t>
            </a:r>
            <a:r>
              <a:rPr sz="1300" dirty="0">
                <a:solidFill>
                  <a:srgbClr val="E8EEF1"/>
                </a:solidFill>
                <a:latin typeface="Consolas"/>
              </a:rPr>
              <a:t> </a:t>
            </a:r>
            <a:r>
              <a:rPr sz="1300" dirty="0" err="1">
                <a:solidFill>
                  <a:srgbClr val="E8EEF1"/>
                </a:solidFill>
                <a:latin typeface="Consolas"/>
              </a:rPr>
              <a:t>errorHandler</a:t>
            </a:r>
            <a:r>
              <a:rPr sz="1300" dirty="0">
                <a:solidFill>
                  <a:srgbClr val="E8EEF1"/>
                </a:solidFill>
                <a:latin typeface="Consolas"/>
              </a:rPr>
              <a:t>(err, req, res, next) {</a:t>
            </a:r>
          </a:p>
          <a:p>
            <a:pPr algn="l"/>
            <a:r>
              <a:rPr sz="1300" dirty="0">
                <a:solidFill>
                  <a:srgbClr val="E8EEF1"/>
                </a:solidFill>
                <a:latin typeface="Consolas"/>
              </a:rPr>
              <a:t>  </a:t>
            </a:r>
            <a:r>
              <a:rPr sz="1300" dirty="0" err="1">
                <a:solidFill>
                  <a:srgbClr val="E8EEF1"/>
                </a:solidFill>
                <a:latin typeface="Consolas"/>
              </a:rPr>
              <a:t>console.error</a:t>
            </a:r>
            <a:r>
              <a:rPr sz="1300" dirty="0">
                <a:solidFill>
                  <a:srgbClr val="E8EEF1"/>
                </a:solidFill>
                <a:latin typeface="Consolas"/>
              </a:rPr>
              <a:t>(err);</a:t>
            </a:r>
          </a:p>
          <a:p>
            <a:pPr algn="l"/>
            <a:r>
              <a:rPr sz="1300" dirty="0">
                <a:solidFill>
                  <a:srgbClr val="E8EEF1"/>
                </a:solidFill>
                <a:latin typeface="Consolas"/>
              </a:rPr>
              <a:t>  </a:t>
            </a:r>
            <a:r>
              <a:rPr sz="1300" b="1" dirty="0">
                <a:solidFill>
                  <a:srgbClr val="5DD8C3"/>
                </a:solidFill>
                <a:latin typeface="Consolas"/>
              </a:rPr>
              <a:t>const</a:t>
            </a:r>
            <a:r>
              <a:rPr sz="1300" dirty="0">
                <a:solidFill>
                  <a:srgbClr val="E8EEF1"/>
                </a:solidFill>
                <a:latin typeface="Consolas"/>
              </a:rPr>
              <a:t> status = </a:t>
            </a:r>
            <a:r>
              <a:rPr sz="1300" dirty="0" err="1">
                <a:solidFill>
                  <a:srgbClr val="E8EEF1"/>
                </a:solidFill>
                <a:latin typeface="Consolas"/>
              </a:rPr>
              <a:t>err.statusCode</a:t>
            </a:r>
            <a:r>
              <a:rPr sz="1300" dirty="0">
                <a:solidFill>
                  <a:srgbClr val="E8EEF1"/>
                </a:solidFill>
                <a:latin typeface="Consolas"/>
              </a:rPr>
              <a:t> || 500;</a:t>
            </a:r>
          </a:p>
          <a:p>
            <a:pPr algn="l"/>
            <a:r>
              <a:rPr sz="1300" dirty="0">
                <a:solidFill>
                  <a:srgbClr val="E8EEF1"/>
                </a:solidFill>
                <a:latin typeface="Consolas"/>
              </a:rPr>
              <a:t>  </a:t>
            </a:r>
            <a:r>
              <a:rPr sz="1300" b="1" dirty="0">
                <a:solidFill>
                  <a:srgbClr val="5DD8C3"/>
                </a:solidFill>
                <a:latin typeface="Consolas"/>
              </a:rPr>
              <a:t>const</a:t>
            </a:r>
            <a:r>
              <a:rPr sz="1300" dirty="0">
                <a:solidFill>
                  <a:srgbClr val="E8EEF1"/>
                </a:solidFill>
                <a:latin typeface="Consolas"/>
              </a:rPr>
              <a:t> message = </a:t>
            </a:r>
            <a:r>
              <a:rPr sz="1300" dirty="0" err="1">
                <a:solidFill>
                  <a:srgbClr val="E8EEF1"/>
                </a:solidFill>
                <a:latin typeface="Consolas"/>
              </a:rPr>
              <a:t>err.message</a:t>
            </a:r>
            <a:r>
              <a:rPr sz="1300" dirty="0">
                <a:solidFill>
                  <a:srgbClr val="E8EEF1"/>
                </a:solidFill>
                <a:latin typeface="Consolas"/>
              </a:rPr>
              <a:t> || </a:t>
            </a:r>
            <a:r>
              <a:rPr sz="1300" dirty="0">
                <a:solidFill>
                  <a:srgbClr val="FFD27F"/>
                </a:solidFill>
                <a:latin typeface="Consolas"/>
              </a:rPr>
              <a:t>'</a:t>
            </a:r>
            <a:r>
              <a:rPr sz="1300" dirty="0" err="1">
                <a:solidFill>
                  <a:srgbClr val="FFD27F"/>
                </a:solidFill>
                <a:latin typeface="Consolas"/>
              </a:rPr>
              <a:t>Errore</a:t>
            </a:r>
            <a:r>
              <a:rPr sz="1300" dirty="0">
                <a:solidFill>
                  <a:srgbClr val="FFD27F"/>
                </a:solidFill>
                <a:latin typeface="Consolas"/>
              </a:rPr>
              <a:t> </a:t>
            </a:r>
            <a:r>
              <a:rPr sz="1300" dirty="0" err="1">
                <a:solidFill>
                  <a:srgbClr val="FFD27F"/>
                </a:solidFill>
                <a:latin typeface="Consolas"/>
              </a:rPr>
              <a:t>interno</a:t>
            </a:r>
            <a:r>
              <a:rPr sz="1300" dirty="0">
                <a:solidFill>
                  <a:srgbClr val="FFD27F"/>
                </a:solidFill>
                <a:latin typeface="Consolas"/>
              </a:rPr>
              <a:t>'</a:t>
            </a:r>
            <a:r>
              <a:rPr sz="1300" dirty="0">
                <a:solidFill>
                  <a:srgbClr val="E8EEF1"/>
                </a:solidFill>
                <a:latin typeface="Consolas"/>
              </a:rPr>
              <a:t>;</a:t>
            </a:r>
          </a:p>
          <a:p>
            <a:pPr algn="l"/>
            <a:r>
              <a:rPr sz="1300" dirty="0">
                <a:solidFill>
                  <a:srgbClr val="E8EEF1"/>
                </a:solidFill>
                <a:latin typeface="Consolas"/>
              </a:rPr>
              <a:t>  </a:t>
            </a:r>
            <a:r>
              <a:rPr sz="1300" dirty="0" err="1">
                <a:solidFill>
                  <a:srgbClr val="E8EEF1"/>
                </a:solidFill>
                <a:latin typeface="Consolas"/>
              </a:rPr>
              <a:t>res.status</a:t>
            </a:r>
            <a:r>
              <a:rPr sz="1300" dirty="0">
                <a:solidFill>
                  <a:srgbClr val="E8EEF1"/>
                </a:solidFill>
                <a:latin typeface="Consolas"/>
              </a:rPr>
              <a:t>(status).</a:t>
            </a:r>
            <a:r>
              <a:rPr sz="1300" dirty="0" err="1">
                <a:solidFill>
                  <a:srgbClr val="E8EEF1"/>
                </a:solidFill>
                <a:latin typeface="Consolas"/>
              </a:rPr>
              <a:t>json</a:t>
            </a:r>
            <a:r>
              <a:rPr sz="1300" dirty="0">
                <a:solidFill>
                  <a:srgbClr val="E8EEF1"/>
                </a:solidFill>
                <a:latin typeface="Consolas"/>
              </a:rPr>
              <a:t>({ </a:t>
            </a:r>
            <a:r>
              <a:rPr sz="1300" dirty="0" err="1">
                <a:solidFill>
                  <a:srgbClr val="E8EEF1"/>
                </a:solidFill>
                <a:latin typeface="Consolas"/>
              </a:rPr>
              <a:t>errore</a:t>
            </a:r>
            <a:r>
              <a:rPr sz="1300" dirty="0">
                <a:solidFill>
                  <a:srgbClr val="E8EEF1"/>
                </a:solidFill>
                <a:latin typeface="Consolas"/>
              </a:rPr>
              <a:t>: message });</a:t>
            </a:r>
          </a:p>
          <a:p>
            <a:pPr algn="l"/>
            <a:r>
              <a:rPr sz="1300" dirty="0">
                <a:solidFill>
                  <a:srgbClr val="E8EEF1"/>
                </a:solidFill>
                <a:latin typeface="Consolas"/>
              </a:rPr>
              <a:t>}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4023360"/>
            <a:ext cx="10515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>
                <a:solidFill>
                  <a:srgbClr val="00A69D"/>
                </a:solidFill>
                <a:latin typeface="Open Sans"/>
              </a:rPr>
              <a:t>REGISTRAZIONE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68680" y="4343400"/>
            <a:ext cx="10515600" cy="1554480"/>
          </a:xfrm>
          <a:prstGeom prst="rect">
            <a:avLst/>
          </a:prstGeom>
          <a:solidFill>
            <a:srgbClr val="0F25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033272" y="4453128"/>
            <a:ext cx="10186416" cy="1335024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300">
                <a:solidFill>
                  <a:srgbClr val="E8EEF1"/>
                </a:solidFill>
                <a:latin typeface="Consolas"/>
              </a:rPr>
              <a:t>app.use(</a:t>
            </a:r>
            <a:r>
              <a:rPr sz="1300">
                <a:solidFill>
                  <a:srgbClr val="FFD27F"/>
                </a:solidFill>
                <a:latin typeface="Consolas"/>
              </a:rPr>
              <a:t>'/api/users'</a:t>
            </a:r>
            <a:r>
              <a:rPr sz="1300">
                <a:solidFill>
                  <a:srgbClr val="E8EEF1"/>
                </a:solidFill>
                <a:latin typeface="Consolas"/>
              </a:rPr>
              <a:t>, userRoutes);</a:t>
            </a:r>
          </a:p>
          <a:p>
            <a:pPr algn="l"/>
            <a:r>
              <a:rPr sz="1300">
                <a:solidFill>
                  <a:srgbClr val="E8EEF1"/>
                </a:solidFill>
                <a:latin typeface="Consolas"/>
              </a:rPr>
              <a:t>app.use((req, res) =&gt; res.status(404).json({ errore: </a:t>
            </a:r>
            <a:r>
              <a:rPr sz="1300">
                <a:solidFill>
                  <a:srgbClr val="FFD27F"/>
                </a:solidFill>
                <a:latin typeface="Consolas"/>
              </a:rPr>
              <a:t>'Route non trovata'</a:t>
            </a:r>
            <a:r>
              <a:rPr sz="1300">
                <a:solidFill>
                  <a:srgbClr val="E8EEF1"/>
                </a:solidFill>
                <a:latin typeface="Consolas"/>
              </a:rPr>
              <a:t> }));</a:t>
            </a:r>
          </a:p>
          <a:p>
            <a:pPr algn="l"/>
            <a:r>
              <a:rPr sz="1300">
                <a:solidFill>
                  <a:srgbClr val="E8EEF1"/>
                </a:solidFill>
                <a:latin typeface="Consolas"/>
              </a:rPr>
              <a:t>app.use(errorHandler);  </a:t>
            </a:r>
            <a:r>
              <a:rPr sz="1300" i="1">
                <a:solidFill>
                  <a:srgbClr val="8893A0"/>
                </a:solidFill>
                <a:latin typeface="Consolas"/>
              </a:rPr>
              <a:t>// &lt;-- in fondo a tutto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329184"/>
          </a:xfrm>
          <a:prstGeom prst="rect">
            <a:avLst/>
          </a:prstGeom>
          <a:solidFill>
            <a:srgbClr val="111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822960" cy="164592"/>
          </a:xfrm>
          <a:prstGeom prst="rect">
            <a:avLst/>
          </a:prstGeom>
          <a:solidFill>
            <a:srgbClr val="33B8B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18288"/>
            <a:ext cx="82296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Open Sans"/>
              </a:rPr>
              <a:t>02 · ERROR HANDLER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418320" y="18288"/>
            <a:ext cx="26517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>
                <a:solidFill>
                  <a:srgbClr val="80D3CE"/>
                </a:solidFill>
                <a:latin typeface="Open Sans"/>
              </a:rPr>
              <a:t>CORSO NODE.JS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94360"/>
            <a:ext cx="109728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>
                <a:solidFill>
                  <a:srgbClr val="111820"/>
                </a:solidFill>
                <a:latin typeface="Open Sans"/>
              </a:rPr>
              <a:t>Classe AppError + asyncHandler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1325880"/>
            <a:ext cx="105156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>
                <a:solidFill>
                  <a:srgbClr val="555667"/>
                </a:solidFill>
                <a:latin typeface="Open Sans"/>
              </a:rPr>
              <a:t>Costruire errori in una riga, catturare le promise rifiutate.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>
                <a:solidFill>
                  <a:srgbClr val="90909B"/>
                </a:solidFill>
                <a:latin typeface="Open Sans"/>
              </a:rPr>
              <a:t>Giorno 2 — Parte 1 / Middleware + SQLite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492240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0">
                <a:solidFill>
                  <a:srgbClr val="90909B"/>
                </a:solidFill>
                <a:latin typeface="Open Sans"/>
              </a:rPr>
              <a:t>10 / 28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1828800"/>
            <a:ext cx="5212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>
                <a:solidFill>
                  <a:srgbClr val="00A69D"/>
                </a:solidFill>
                <a:latin typeface="Open Sans"/>
              </a:rPr>
              <a:t>AppError.js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68680" y="2148840"/>
            <a:ext cx="5212080" cy="1828800"/>
          </a:xfrm>
          <a:prstGeom prst="rect">
            <a:avLst/>
          </a:prstGeom>
          <a:solidFill>
            <a:srgbClr val="0F25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033272" y="2258568"/>
            <a:ext cx="4882896" cy="1609344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300" b="1" dirty="0">
                <a:solidFill>
                  <a:srgbClr val="5DD8C3"/>
                </a:solidFill>
                <a:latin typeface="Consolas"/>
              </a:rPr>
              <a:t>export</a:t>
            </a:r>
            <a:r>
              <a:rPr sz="1300" dirty="0">
                <a:solidFill>
                  <a:srgbClr val="E8EEF1"/>
                </a:solidFill>
                <a:latin typeface="Consolas"/>
              </a:rPr>
              <a:t> </a:t>
            </a:r>
            <a:r>
              <a:rPr sz="1300" b="1" dirty="0">
                <a:solidFill>
                  <a:srgbClr val="5DD8C3"/>
                </a:solidFill>
                <a:latin typeface="Consolas"/>
              </a:rPr>
              <a:t>class</a:t>
            </a:r>
            <a:r>
              <a:rPr sz="1300" dirty="0">
                <a:solidFill>
                  <a:srgbClr val="E8EEF1"/>
                </a:solidFill>
                <a:latin typeface="Consolas"/>
              </a:rPr>
              <a:t> </a:t>
            </a:r>
            <a:r>
              <a:rPr sz="1300" dirty="0" err="1">
                <a:solidFill>
                  <a:srgbClr val="E8EEF1"/>
                </a:solidFill>
                <a:latin typeface="Consolas"/>
              </a:rPr>
              <a:t>AppError</a:t>
            </a:r>
            <a:r>
              <a:rPr sz="1300" dirty="0">
                <a:solidFill>
                  <a:srgbClr val="E8EEF1"/>
                </a:solidFill>
                <a:latin typeface="Consolas"/>
              </a:rPr>
              <a:t> </a:t>
            </a:r>
            <a:r>
              <a:rPr sz="1300" b="1" dirty="0">
                <a:solidFill>
                  <a:srgbClr val="5DD8C3"/>
                </a:solidFill>
                <a:latin typeface="Consolas"/>
              </a:rPr>
              <a:t>extends</a:t>
            </a:r>
            <a:r>
              <a:rPr sz="1300" dirty="0">
                <a:solidFill>
                  <a:srgbClr val="E8EEF1"/>
                </a:solidFill>
                <a:latin typeface="Consolas"/>
              </a:rPr>
              <a:t> Error {</a:t>
            </a:r>
          </a:p>
          <a:p>
            <a:pPr algn="l"/>
            <a:r>
              <a:rPr sz="1300" dirty="0">
                <a:solidFill>
                  <a:srgbClr val="E8EEF1"/>
                </a:solidFill>
                <a:latin typeface="Consolas"/>
              </a:rPr>
              <a:t>  constructor(message, </a:t>
            </a:r>
            <a:r>
              <a:rPr sz="1300" dirty="0" err="1">
                <a:solidFill>
                  <a:srgbClr val="E8EEF1"/>
                </a:solidFill>
                <a:latin typeface="Consolas"/>
              </a:rPr>
              <a:t>statusCode</a:t>
            </a:r>
            <a:r>
              <a:rPr sz="1300" dirty="0">
                <a:solidFill>
                  <a:srgbClr val="E8EEF1"/>
                </a:solidFill>
                <a:latin typeface="Consolas"/>
              </a:rPr>
              <a:t> = 500) {</a:t>
            </a:r>
          </a:p>
          <a:p>
            <a:pPr algn="l"/>
            <a:r>
              <a:rPr sz="1300" dirty="0">
                <a:solidFill>
                  <a:srgbClr val="E8EEF1"/>
                </a:solidFill>
                <a:latin typeface="Consolas"/>
              </a:rPr>
              <a:t>    </a:t>
            </a:r>
            <a:r>
              <a:rPr sz="1300" b="1" dirty="0">
                <a:solidFill>
                  <a:srgbClr val="5DD8C3"/>
                </a:solidFill>
                <a:latin typeface="Consolas"/>
              </a:rPr>
              <a:t>super</a:t>
            </a:r>
            <a:r>
              <a:rPr sz="1300" dirty="0">
                <a:solidFill>
                  <a:srgbClr val="E8EEF1"/>
                </a:solidFill>
                <a:latin typeface="Consolas"/>
              </a:rPr>
              <a:t>(message);</a:t>
            </a:r>
          </a:p>
          <a:p>
            <a:pPr algn="l"/>
            <a:r>
              <a:rPr sz="1300" dirty="0">
                <a:solidFill>
                  <a:srgbClr val="E8EEF1"/>
                </a:solidFill>
                <a:latin typeface="Consolas"/>
              </a:rPr>
              <a:t>    </a:t>
            </a:r>
            <a:r>
              <a:rPr sz="1300" b="1" dirty="0" err="1">
                <a:solidFill>
                  <a:srgbClr val="5DD8C3"/>
                </a:solidFill>
                <a:latin typeface="Consolas"/>
              </a:rPr>
              <a:t>this</a:t>
            </a:r>
            <a:r>
              <a:rPr sz="1300" dirty="0" err="1">
                <a:solidFill>
                  <a:srgbClr val="E8EEF1"/>
                </a:solidFill>
                <a:latin typeface="Consolas"/>
              </a:rPr>
              <a:t>.statusCode</a:t>
            </a:r>
            <a:r>
              <a:rPr sz="1300" dirty="0">
                <a:solidFill>
                  <a:srgbClr val="E8EEF1"/>
                </a:solidFill>
                <a:latin typeface="Consolas"/>
              </a:rPr>
              <a:t> = </a:t>
            </a:r>
            <a:r>
              <a:rPr sz="1300" dirty="0" err="1">
                <a:solidFill>
                  <a:srgbClr val="E8EEF1"/>
                </a:solidFill>
                <a:latin typeface="Consolas"/>
              </a:rPr>
              <a:t>statusCode</a:t>
            </a:r>
            <a:r>
              <a:rPr sz="1300" dirty="0">
                <a:solidFill>
                  <a:srgbClr val="E8EEF1"/>
                </a:solidFill>
                <a:latin typeface="Consolas"/>
              </a:rPr>
              <a:t>;</a:t>
            </a:r>
          </a:p>
          <a:p>
            <a:pPr algn="l"/>
            <a:r>
              <a:rPr sz="1300" dirty="0">
                <a:solidFill>
                  <a:srgbClr val="E8EEF1"/>
                </a:solidFill>
                <a:latin typeface="Consolas"/>
              </a:rPr>
              <a:t>    </a:t>
            </a:r>
            <a:r>
              <a:rPr sz="1300" b="1" dirty="0">
                <a:solidFill>
                  <a:srgbClr val="5DD8C3"/>
                </a:solidFill>
                <a:latin typeface="Consolas"/>
              </a:rPr>
              <a:t>this</a:t>
            </a:r>
            <a:r>
              <a:rPr sz="1300" dirty="0">
                <a:solidFill>
                  <a:srgbClr val="E8EEF1"/>
                </a:solidFill>
                <a:latin typeface="Consolas"/>
              </a:rPr>
              <a:t>.name = </a:t>
            </a:r>
            <a:r>
              <a:rPr sz="1300" dirty="0">
                <a:solidFill>
                  <a:srgbClr val="FFD27F"/>
                </a:solidFill>
                <a:latin typeface="Consolas"/>
              </a:rPr>
              <a:t>'</a:t>
            </a:r>
            <a:r>
              <a:rPr sz="1300" dirty="0" err="1">
                <a:solidFill>
                  <a:srgbClr val="FFD27F"/>
                </a:solidFill>
                <a:latin typeface="Consolas"/>
              </a:rPr>
              <a:t>AppError</a:t>
            </a:r>
            <a:r>
              <a:rPr sz="1300" dirty="0">
                <a:solidFill>
                  <a:srgbClr val="FFD27F"/>
                </a:solidFill>
                <a:latin typeface="Consolas"/>
              </a:rPr>
              <a:t>'</a:t>
            </a:r>
            <a:r>
              <a:rPr sz="1300" dirty="0">
                <a:solidFill>
                  <a:srgbClr val="E8EEF1"/>
                </a:solidFill>
                <a:latin typeface="Consolas"/>
              </a:rPr>
              <a:t>;</a:t>
            </a:r>
          </a:p>
          <a:p>
            <a:pPr algn="l"/>
            <a:r>
              <a:rPr sz="1300" dirty="0">
                <a:solidFill>
                  <a:srgbClr val="E8EEF1"/>
                </a:solidFill>
                <a:latin typeface="Consolas"/>
              </a:rPr>
              <a:t>  }</a:t>
            </a:r>
          </a:p>
          <a:p>
            <a:pPr algn="l"/>
            <a:r>
              <a:rPr sz="1300" dirty="0">
                <a:solidFill>
                  <a:srgbClr val="E8EEF1"/>
                </a:solidFill>
                <a:latin typeface="Consolas"/>
              </a:rPr>
              <a:t>}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63640" y="1828800"/>
            <a:ext cx="51206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>
                <a:solidFill>
                  <a:srgbClr val="00A69D"/>
                </a:solidFill>
                <a:latin typeface="Open Sans"/>
              </a:rPr>
              <a:t>asyncHandler.js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63640" y="2148840"/>
            <a:ext cx="5120640" cy="1828800"/>
          </a:xfrm>
          <a:prstGeom prst="rect">
            <a:avLst/>
          </a:prstGeom>
          <a:solidFill>
            <a:srgbClr val="0F25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428232" y="2258568"/>
            <a:ext cx="4791456" cy="1609344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300" b="1">
                <a:solidFill>
                  <a:srgbClr val="5DD8C3"/>
                </a:solidFill>
                <a:latin typeface="Consolas"/>
              </a:rPr>
              <a:t>export</a:t>
            </a:r>
            <a:r>
              <a:rPr sz="1300">
                <a:solidFill>
                  <a:srgbClr val="E8EEF1"/>
                </a:solidFill>
                <a:latin typeface="Consolas"/>
              </a:rPr>
              <a:t> </a:t>
            </a:r>
            <a:r>
              <a:rPr sz="1300" b="1">
                <a:solidFill>
                  <a:srgbClr val="5DD8C3"/>
                </a:solidFill>
                <a:latin typeface="Consolas"/>
              </a:rPr>
              <a:t>const</a:t>
            </a:r>
            <a:r>
              <a:rPr sz="1300">
                <a:solidFill>
                  <a:srgbClr val="E8EEF1"/>
                </a:solidFill>
                <a:latin typeface="Consolas"/>
              </a:rPr>
              <a:t> asyncHandler = (fn) =&gt;</a:t>
            </a:r>
          </a:p>
          <a:p>
            <a:pPr algn="l"/>
            <a:r>
              <a:rPr sz="1300">
                <a:solidFill>
                  <a:srgbClr val="E8EEF1"/>
                </a:solidFill>
                <a:latin typeface="Consolas"/>
              </a:rPr>
              <a:t>  (req, res, next) =&gt;</a:t>
            </a:r>
          </a:p>
          <a:p>
            <a:pPr algn="l"/>
            <a:r>
              <a:rPr sz="1300">
                <a:solidFill>
                  <a:srgbClr val="E8EEF1"/>
                </a:solidFill>
                <a:latin typeface="Consolas"/>
              </a:rPr>
              <a:t>    Promise.resolve(fn(req, res, next))</a:t>
            </a:r>
          </a:p>
          <a:p>
            <a:pPr algn="l"/>
            <a:r>
              <a:rPr sz="1300">
                <a:solidFill>
                  <a:srgbClr val="E8EEF1"/>
                </a:solidFill>
                <a:latin typeface="Consolas"/>
              </a:rPr>
              <a:t>      .</a:t>
            </a:r>
            <a:r>
              <a:rPr sz="1300" b="1">
                <a:solidFill>
                  <a:srgbClr val="5DD8C3"/>
                </a:solidFill>
                <a:latin typeface="Consolas"/>
              </a:rPr>
              <a:t>catch</a:t>
            </a:r>
            <a:r>
              <a:rPr sz="1300">
                <a:solidFill>
                  <a:srgbClr val="E8EEF1"/>
                </a:solidFill>
                <a:latin typeface="Consolas"/>
              </a:rPr>
              <a:t>(next);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4160520"/>
            <a:ext cx="10515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>
                <a:solidFill>
                  <a:srgbClr val="00A69D"/>
                </a:solidFill>
                <a:latin typeface="Open Sans"/>
              </a:rPr>
              <a:t>NEI CONTROLLER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68680" y="4480560"/>
            <a:ext cx="10515600" cy="1554480"/>
          </a:xfrm>
          <a:prstGeom prst="rect">
            <a:avLst/>
          </a:prstGeom>
          <a:solidFill>
            <a:srgbClr val="0F25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1033272" y="4590288"/>
            <a:ext cx="10186416" cy="1335024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300" dirty="0" err="1">
                <a:solidFill>
                  <a:srgbClr val="E8EEF1"/>
                </a:solidFill>
                <a:latin typeface="Consolas"/>
              </a:rPr>
              <a:t>router.get</a:t>
            </a:r>
            <a:r>
              <a:rPr sz="1300" dirty="0">
                <a:solidFill>
                  <a:srgbClr val="E8EEF1"/>
                </a:solidFill>
                <a:latin typeface="Consolas"/>
              </a:rPr>
              <a:t>(</a:t>
            </a:r>
            <a:r>
              <a:rPr sz="1300" dirty="0">
                <a:solidFill>
                  <a:srgbClr val="FFD27F"/>
                </a:solidFill>
                <a:latin typeface="Consolas"/>
              </a:rPr>
              <a:t>'/:id'</a:t>
            </a:r>
            <a:r>
              <a:rPr sz="1300" dirty="0">
                <a:solidFill>
                  <a:srgbClr val="E8EEF1"/>
                </a:solidFill>
                <a:latin typeface="Consolas"/>
              </a:rPr>
              <a:t>, </a:t>
            </a:r>
            <a:r>
              <a:rPr sz="1300" dirty="0" err="1">
                <a:solidFill>
                  <a:srgbClr val="E8EEF1"/>
                </a:solidFill>
                <a:latin typeface="Consolas"/>
              </a:rPr>
              <a:t>asyncHandler</a:t>
            </a:r>
            <a:r>
              <a:rPr sz="1300" dirty="0">
                <a:solidFill>
                  <a:srgbClr val="E8EEF1"/>
                </a:solidFill>
                <a:latin typeface="Consolas"/>
              </a:rPr>
              <a:t>(</a:t>
            </a:r>
            <a:r>
              <a:rPr sz="1300" b="1" dirty="0">
                <a:solidFill>
                  <a:srgbClr val="5DD8C3"/>
                </a:solidFill>
                <a:latin typeface="Consolas"/>
              </a:rPr>
              <a:t>async</a:t>
            </a:r>
            <a:r>
              <a:rPr sz="1300" dirty="0">
                <a:solidFill>
                  <a:srgbClr val="E8EEF1"/>
                </a:solidFill>
                <a:latin typeface="Consolas"/>
              </a:rPr>
              <a:t> (req, res) =&gt; {</a:t>
            </a:r>
          </a:p>
          <a:p>
            <a:pPr algn="l"/>
            <a:r>
              <a:rPr sz="1300" dirty="0">
                <a:solidFill>
                  <a:srgbClr val="E8EEF1"/>
                </a:solidFill>
                <a:latin typeface="Consolas"/>
              </a:rPr>
              <a:t>  </a:t>
            </a:r>
            <a:r>
              <a:rPr sz="1300" b="1" dirty="0">
                <a:solidFill>
                  <a:srgbClr val="5DD8C3"/>
                </a:solidFill>
                <a:latin typeface="Consolas"/>
              </a:rPr>
              <a:t>const</a:t>
            </a:r>
            <a:r>
              <a:rPr sz="1300" dirty="0">
                <a:solidFill>
                  <a:srgbClr val="E8EEF1"/>
                </a:solidFill>
                <a:latin typeface="Consolas"/>
              </a:rPr>
              <a:t> user = </a:t>
            </a:r>
            <a:r>
              <a:rPr sz="1300" b="1" dirty="0">
                <a:solidFill>
                  <a:srgbClr val="5DD8C3"/>
                </a:solidFill>
                <a:latin typeface="Consolas"/>
              </a:rPr>
              <a:t>await</a:t>
            </a:r>
            <a:r>
              <a:rPr sz="1300" dirty="0">
                <a:solidFill>
                  <a:srgbClr val="E8EEF1"/>
                </a:solidFill>
                <a:latin typeface="Consolas"/>
              </a:rPr>
              <a:t> </a:t>
            </a:r>
            <a:r>
              <a:rPr sz="1300" dirty="0" err="1">
                <a:solidFill>
                  <a:srgbClr val="E8EEF1"/>
                </a:solidFill>
                <a:latin typeface="Consolas"/>
              </a:rPr>
              <a:t>userRepository.findById</a:t>
            </a:r>
            <a:r>
              <a:rPr sz="1300" dirty="0">
                <a:solidFill>
                  <a:srgbClr val="E8EEF1"/>
                </a:solidFill>
                <a:latin typeface="Consolas"/>
              </a:rPr>
              <a:t>(req.params.id);</a:t>
            </a:r>
          </a:p>
          <a:p>
            <a:pPr algn="l"/>
            <a:r>
              <a:rPr sz="1300" dirty="0">
                <a:solidFill>
                  <a:srgbClr val="E8EEF1"/>
                </a:solidFill>
                <a:latin typeface="Consolas"/>
              </a:rPr>
              <a:t>  </a:t>
            </a:r>
            <a:r>
              <a:rPr sz="1300" b="1" dirty="0">
                <a:solidFill>
                  <a:srgbClr val="5DD8C3"/>
                </a:solidFill>
                <a:latin typeface="Consolas"/>
              </a:rPr>
              <a:t>if</a:t>
            </a:r>
            <a:r>
              <a:rPr sz="1300" dirty="0">
                <a:solidFill>
                  <a:srgbClr val="E8EEF1"/>
                </a:solidFill>
                <a:latin typeface="Consolas"/>
              </a:rPr>
              <a:t> (!user) </a:t>
            </a:r>
            <a:r>
              <a:rPr sz="1300" b="1" dirty="0">
                <a:solidFill>
                  <a:srgbClr val="5DD8C3"/>
                </a:solidFill>
                <a:latin typeface="Consolas"/>
              </a:rPr>
              <a:t>throw</a:t>
            </a:r>
            <a:r>
              <a:rPr sz="1300" dirty="0">
                <a:solidFill>
                  <a:srgbClr val="E8EEF1"/>
                </a:solidFill>
                <a:latin typeface="Consolas"/>
              </a:rPr>
              <a:t> </a:t>
            </a:r>
            <a:r>
              <a:rPr sz="1300" b="1" dirty="0">
                <a:solidFill>
                  <a:srgbClr val="5DD8C3"/>
                </a:solidFill>
                <a:latin typeface="Consolas"/>
              </a:rPr>
              <a:t>new</a:t>
            </a:r>
            <a:r>
              <a:rPr sz="1300" dirty="0">
                <a:solidFill>
                  <a:srgbClr val="E8EEF1"/>
                </a:solidFill>
                <a:latin typeface="Consolas"/>
              </a:rPr>
              <a:t> </a:t>
            </a:r>
            <a:r>
              <a:rPr sz="1300" dirty="0" err="1">
                <a:solidFill>
                  <a:srgbClr val="E8EEF1"/>
                </a:solidFill>
                <a:latin typeface="Consolas"/>
              </a:rPr>
              <a:t>AppError</a:t>
            </a:r>
            <a:r>
              <a:rPr sz="1300" dirty="0">
                <a:solidFill>
                  <a:srgbClr val="E8EEF1"/>
                </a:solidFill>
                <a:latin typeface="Consolas"/>
              </a:rPr>
              <a:t>(</a:t>
            </a:r>
            <a:r>
              <a:rPr sz="1300" dirty="0">
                <a:solidFill>
                  <a:srgbClr val="FFD27F"/>
                </a:solidFill>
                <a:latin typeface="Consolas"/>
              </a:rPr>
              <a:t>'</a:t>
            </a:r>
            <a:r>
              <a:rPr sz="1300" dirty="0" err="1">
                <a:solidFill>
                  <a:srgbClr val="FFD27F"/>
                </a:solidFill>
                <a:latin typeface="Consolas"/>
              </a:rPr>
              <a:t>Utente</a:t>
            </a:r>
            <a:r>
              <a:rPr sz="1300" dirty="0">
                <a:solidFill>
                  <a:srgbClr val="FFD27F"/>
                </a:solidFill>
                <a:latin typeface="Consolas"/>
              </a:rPr>
              <a:t> non trovato'</a:t>
            </a:r>
            <a:r>
              <a:rPr sz="1300" dirty="0">
                <a:solidFill>
                  <a:srgbClr val="E8EEF1"/>
                </a:solidFill>
                <a:latin typeface="Consolas"/>
              </a:rPr>
              <a:t>, 404);</a:t>
            </a:r>
          </a:p>
          <a:p>
            <a:pPr algn="l"/>
            <a:r>
              <a:rPr sz="1300" dirty="0">
                <a:solidFill>
                  <a:srgbClr val="E8EEF1"/>
                </a:solidFill>
                <a:latin typeface="Consolas"/>
              </a:rPr>
              <a:t>  </a:t>
            </a:r>
            <a:r>
              <a:rPr sz="1300" dirty="0" err="1">
                <a:solidFill>
                  <a:srgbClr val="E8EEF1"/>
                </a:solidFill>
                <a:latin typeface="Consolas"/>
              </a:rPr>
              <a:t>res.json</a:t>
            </a:r>
            <a:r>
              <a:rPr sz="1300" dirty="0">
                <a:solidFill>
                  <a:srgbClr val="E8EEF1"/>
                </a:solidFill>
                <a:latin typeface="Consolas"/>
              </a:rPr>
              <a:t>(user);</a:t>
            </a:r>
          </a:p>
          <a:p>
            <a:pPr algn="l"/>
            <a:r>
              <a:rPr sz="1300" dirty="0">
                <a:solidFill>
                  <a:srgbClr val="E8EEF1"/>
                </a:solidFill>
                <a:latin typeface="Consolas"/>
              </a:rPr>
              <a:t>}));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6172200"/>
            <a:ext cx="10058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>
                <a:solidFill>
                  <a:srgbClr val="00A69D"/>
                </a:solidFill>
                <a:latin typeface="Open Sans"/>
              </a:rPr>
              <a:t>▸  CODICE: 02-error-handler/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8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33B8B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1463040"/>
            <a:ext cx="6400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>
                <a:solidFill>
                  <a:srgbClr val="33B8B1"/>
                </a:solidFill>
                <a:latin typeface="Open Sans"/>
              </a:rPr>
              <a:t>SEZIONE  ·  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194560"/>
            <a:ext cx="7863840" cy="2286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Open Sans"/>
              </a:rPr>
              <a:t>SQLite + sqlite3 + sqlite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4617720"/>
            <a:ext cx="1371600" cy="54864"/>
          </a:xfrm>
          <a:prstGeom prst="rect">
            <a:avLst/>
          </a:prstGeom>
          <a:solidFill>
            <a:srgbClr val="33B8B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40080" y="4800600"/>
            <a:ext cx="82296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900" b="0">
                <a:solidFill>
                  <a:srgbClr val="80D3CE"/>
                </a:solidFill>
                <a:latin typeface="Open Sans"/>
              </a:rPr>
              <a:t>Un database vero, niente compilatori, async/await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0" y="1371600"/>
            <a:ext cx="4114800" cy="4114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20000" b="1">
                <a:solidFill>
                  <a:srgbClr val="303143"/>
                </a:solidFill>
                <a:latin typeface="Open Sans"/>
              </a:rPr>
              <a:t>03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9224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>
                <a:solidFill>
                  <a:srgbClr val="90909B"/>
                </a:solidFill>
                <a:latin typeface="Open Sans"/>
              </a:rPr>
              <a:t>Giorno 2 — Parte 1 / Middleware + SQLite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492240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0">
                <a:solidFill>
                  <a:srgbClr val="90909B"/>
                </a:solidFill>
                <a:latin typeface="Open Sans"/>
              </a:rPr>
              <a:t>11 / 28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329184"/>
          </a:xfrm>
          <a:prstGeom prst="rect">
            <a:avLst/>
          </a:prstGeom>
          <a:solidFill>
            <a:srgbClr val="111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822960" cy="164592"/>
          </a:xfrm>
          <a:prstGeom prst="rect">
            <a:avLst/>
          </a:prstGeom>
          <a:solidFill>
            <a:srgbClr val="33B8B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18288"/>
            <a:ext cx="82296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Open Sans"/>
              </a:rPr>
              <a:t>03 · SQLITE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418320" y="18288"/>
            <a:ext cx="26517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>
                <a:solidFill>
                  <a:srgbClr val="80D3CE"/>
                </a:solidFill>
                <a:latin typeface="Open Sans"/>
              </a:rPr>
              <a:t>CORSO NODE.JS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94360"/>
            <a:ext cx="109728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>
                <a:solidFill>
                  <a:srgbClr val="111820"/>
                </a:solidFill>
                <a:latin typeface="Open Sans"/>
              </a:rPr>
              <a:t>Perché SQLite (e sqlite3 + sqlite)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1325880"/>
            <a:ext cx="105156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>
                <a:solidFill>
                  <a:srgbClr val="555667"/>
                </a:solidFill>
                <a:latin typeface="Open Sans"/>
              </a:rPr>
              <a:t>Zero configurazione, file unico, binari precompilati per Windows.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>
                <a:solidFill>
                  <a:srgbClr val="90909B"/>
                </a:solidFill>
                <a:latin typeface="Open Sans"/>
              </a:rPr>
              <a:t>Giorno 2 — Parte 1 / Middleware + SQLite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492240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0">
                <a:solidFill>
                  <a:srgbClr val="90909B"/>
                </a:solidFill>
                <a:latin typeface="Open Sans"/>
              </a:rPr>
              <a:t>12 / 28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1828800"/>
            <a:ext cx="5212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>
                <a:solidFill>
                  <a:srgbClr val="00A69D"/>
                </a:solidFill>
                <a:latin typeface="Open Sans"/>
              </a:rPr>
              <a:t>PERCHÉ SQLITE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148840"/>
            <a:ext cx="5212080" cy="3291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>
                <a:solidFill>
                  <a:srgbClr val="555667"/>
                </a:solidFill>
                <a:latin typeface="Open Sans"/>
              </a:rPr>
              <a:t>Zero config: niente demone, niente utenti</a:t>
            </a:r>
          </a:p>
          <a:p>
            <a:pPr algn="l"/>
            <a:r>
              <a:rPr sz="1400" b="0">
                <a:solidFill>
                  <a:srgbClr val="555667"/>
                </a:solidFill>
                <a:latin typeface="Open Sans"/>
              </a:rPr>
              <a:t>Tutto in un file .db sul disco</a:t>
            </a:r>
          </a:p>
          <a:p>
            <a:pPr algn="l"/>
            <a:r>
              <a:rPr sz="1400" b="0">
                <a:solidFill>
                  <a:srgbClr val="555667"/>
                </a:solidFill>
                <a:latin typeface="Open Sans"/>
              </a:rPr>
              <a:t>SQL standard (90% portabile a Postgres)</a:t>
            </a:r>
          </a:p>
          <a:p>
            <a:pPr algn="l"/>
            <a:r>
              <a:rPr sz="1400" b="0">
                <a:solidFill>
                  <a:srgbClr val="555667"/>
                </a:solidFill>
                <a:latin typeface="Open Sans"/>
              </a:rPr>
              <a:t>iOS, Chrome, Firefox lo usano in produzione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63640" y="1828800"/>
            <a:ext cx="51206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>
                <a:solidFill>
                  <a:srgbClr val="00A69D"/>
                </a:solidFill>
                <a:latin typeface="Open Sans"/>
              </a:rPr>
              <a:t>DRIVER: SQLITE3 + SQLITE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63640" y="2148840"/>
            <a:ext cx="5120640" cy="3291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>
                <a:solidFill>
                  <a:srgbClr val="555667"/>
                </a:solidFill>
                <a:latin typeface="Open Sans"/>
              </a:rPr>
              <a:t>sqlite3: binari precompilati per</a:t>
            </a:r>
          </a:p>
          <a:p>
            <a:pPr algn="l"/>
            <a:r>
              <a:rPr sz="1400" b="0">
                <a:solidFill>
                  <a:srgbClr val="555667"/>
                </a:solidFill>
                <a:latin typeface="Open Sans"/>
              </a:rPr>
              <a:t>Windows/macOS/Linux.</a:t>
            </a:r>
          </a:p>
          <a:p>
            <a:pPr algn="l"/>
            <a:r>
              <a:rPr sz="1400" b="0">
                <a:solidFill>
                  <a:srgbClr val="555667"/>
                </a:solidFill>
                <a:latin typeface="Open Sans"/>
              </a:rPr>
              <a:t>Niente Visual Studio Build Tools.</a:t>
            </a:r>
          </a:p>
          <a:p>
            <a:pPr algn="l"/>
            <a:endParaRPr sz="1400" b="0">
              <a:solidFill>
                <a:srgbClr val="555667"/>
              </a:solidFill>
              <a:latin typeface="Open Sans"/>
            </a:endParaRPr>
          </a:p>
          <a:p>
            <a:pPr algn="l"/>
            <a:r>
              <a:rPr sz="1400" b="0">
                <a:solidFill>
                  <a:srgbClr val="555667"/>
                </a:solidFill>
                <a:latin typeface="Open Sans"/>
              </a:rPr>
              <a:t>sqlite: wrapper a Promise sopra sqlite3.</a:t>
            </a:r>
          </a:p>
          <a:p>
            <a:pPr algn="l"/>
            <a:r>
              <a:rPr sz="1400" b="0">
                <a:solidFill>
                  <a:srgbClr val="555667"/>
                </a:solidFill>
                <a:latin typeface="Open Sans"/>
              </a:rPr>
              <a:t>Codice async/await pulito.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68680" y="5074920"/>
            <a:ext cx="10515600" cy="1005840"/>
          </a:xfrm>
          <a:prstGeom prst="rect">
            <a:avLst/>
          </a:prstGeom>
          <a:solidFill>
            <a:srgbClr val="0F25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033272" y="5184648"/>
            <a:ext cx="10186416" cy="786384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300">
                <a:solidFill>
                  <a:srgbClr val="E8EEF1"/>
                </a:solidFill>
                <a:latin typeface="Consolas"/>
              </a:rPr>
              <a:t>$ npm install sqlite3 sqlite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329184"/>
          </a:xfrm>
          <a:prstGeom prst="rect">
            <a:avLst/>
          </a:prstGeom>
          <a:solidFill>
            <a:srgbClr val="111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822960" cy="164592"/>
          </a:xfrm>
          <a:prstGeom prst="rect">
            <a:avLst/>
          </a:prstGeom>
          <a:solidFill>
            <a:srgbClr val="33B8B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18288"/>
            <a:ext cx="82296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Open Sans"/>
              </a:rPr>
              <a:t>03 · SQLITE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418320" y="18288"/>
            <a:ext cx="26517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>
                <a:solidFill>
                  <a:srgbClr val="80D3CE"/>
                </a:solidFill>
                <a:latin typeface="Open Sans"/>
              </a:rPr>
              <a:t>CORSO NODE.JS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94360"/>
            <a:ext cx="109728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>
                <a:solidFill>
                  <a:srgbClr val="111820"/>
                </a:solidFill>
                <a:latin typeface="Open Sans"/>
              </a:rPr>
              <a:t>Le tre operazioni base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1325880"/>
            <a:ext cx="105156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>
                <a:solidFill>
                  <a:srgbClr val="555667"/>
                </a:solidFill>
                <a:latin typeface="Open Sans"/>
              </a:rPr>
              <a:t>db.get / db.all / db.run — tutte async, tutte con await.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>
                <a:solidFill>
                  <a:srgbClr val="90909B"/>
                </a:solidFill>
                <a:latin typeface="Open Sans"/>
              </a:rPr>
              <a:t>Giorno 2 — Parte 1 / Middleware + SQLite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492240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0">
                <a:solidFill>
                  <a:srgbClr val="90909B"/>
                </a:solidFill>
                <a:latin typeface="Open Sans"/>
              </a:rPr>
              <a:t>13 / 28</a:t>
            </a:r>
          </a:p>
        </p:txBody>
      </p:sp>
      <p:sp>
        <p:nvSpPr>
          <p:cNvPr id="10" name="Rectangle 9"/>
          <p:cNvSpPr/>
          <p:nvPr/>
        </p:nvSpPr>
        <p:spPr>
          <a:xfrm>
            <a:off x="868680" y="1828800"/>
            <a:ext cx="10515600" cy="3840480"/>
          </a:xfrm>
          <a:prstGeom prst="rect">
            <a:avLst/>
          </a:prstGeom>
          <a:solidFill>
            <a:srgbClr val="0F25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033272" y="1938528"/>
            <a:ext cx="10186416" cy="3621024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300" b="1">
                <a:solidFill>
                  <a:srgbClr val="5DD8C3"/>
                </a:solidFill>
                <a:latin typeface="Consolas"/>
              </a:rPr>
              <a:t>import</a:t>
            </a:r>
            <a:r>
              <a:rPr sz="1300">
                <a:solidFill>
                  <a:srgbClr val="E8EEF1"/>
                </a:solidFill>
                <a:latin typeface="Consolas"/>
              </a:rPr>
              <a:t> sqlite3 </a:t>
            </a:r>
            <a:r>
              <a:rPr sz="1300" b="1">
                <a:solidFill>
                  <a:srgbClr val="5DD8C3"/>
                </a:solidFill>
                <a:latin typeface="Consolas"/>
              </a:rPr>
              <a:t>from</a:t>
            </a:r>
            <a:r>
              <a:rPr sz="1300">
                <a:solidFill>
                  <a:srgbClr val="E8EEF1"/>
                </a:solidFill>
                <a:latin typeface="Consolas"/>
              </a:rPr>
              <a:t> </a:t>
            </a:r>
            <a:r>
              <a:rPr sz="1300">
                <a:solidFill>
                  <a:srgbClr val="FFD27F"/>
                </a:solidFill>
                <a:latin typeface="Consolas"/>
              </a:rPr>
              <a:t>'sqlite3'</a:t>
            </a:r>
            <a:r>
              <a:rPr sz="1300">
                <a:solidFill>
                  <a:srgbClr val="E8EEF1"/>
                </a:solidFill>
                <a:latin typeface="Consolas"/>
              </a:rPr>
              <a:t>;</a:t>
            </a:r>
          </a:p>
          <a:p>
            <a:pPr algn="l"/>
            <a:r>
              <a:rPr sz="1300" b="1">
                <a:solidFill>
                  <a:srgbClr val="5DD8C3"/>
                </a:solidFill>
                <a:latin typeface="Consolas"/>
              </a:rPr>
              <a:t>import</a:t>
            </a:r>
            <a:r>
              <a:rPr sz="1300">
                <a:solidFill>
                  <a:srgbClr val="E8EEF1"/>
                </a:solidFill>
                <a:latin typeface="Consolas"/>
              </a:rPr>
              <a:t> { open } </a:t>
            </a:r>
            <a:r>
              <a:rPr sz="1300" b="1">
                <a:solidFill>
                  <a:srgbClr val="5DD8C3"/>
                </a:solidFill>
                <a:latin typeface="Consolas"/>
              </a:rPr>
              <a:t>from</a:t>
            </a:r>
            <a:r>
              <a:rPr sz="1300">
                <a:solidFill>
                  <a:srgbClr val="E8EEF1"/>
                </a:solidFill>
                <a:latin typeface="Consolas"/>
              </a:rPr>
              <a:t> </a:t>
            </a:r>
            <a:r>
              <a:rPr sz="1300">
                <a:solidFill>
                  <a:srgbClr val="FFD27F"/>
                </a:solidFill>
                <a:latin typeface="Consolas"/>
              </a:rPr>
              <a:t>'sqlite'</a:t>
            </a:r>
            <a:r>
              <a:rPr sz="1300">
                <a:solidFill>
                  <a:srgbClr val="E8EEF1"/>
                </a:solidFill>
                <a:latin typeface="Consolas"/>
              </a:rPr>
              <a:t>;</a:t>
            </a:r>
          </a:p>
          <a:p>
            <a:pPr algn="l"/>
            <a:r>
              <a:rPr sz="1300">
                <a:solidFill>
                  <a:srgbClr val="E8EEF1"/>
                </a:solidFill>
                <a:latin typeface="Consolas"/>
              </a:rPr>
              <a:t> </a:t>
            </a:r>
          </a:p>
          <a:p>
            <a:pPr algn="l"/>
            <a:r>
              <a:rPr sz="1300" b="1">
                <a:solidFill>
                  <a:srgbClr val="5DD8C3"/>
                </a:solidFill>
                <a:latin typeface="Consolas"/>
              </a:rPr>
              <a:t>const</a:t>
            </a:r>
            <a:r>
              <a:rPr sz="1300">
                <a:solidFill>
                  <a:srgbClr val="E8EEF1"/>
                </a:solidFill>
                <a:latin typeface="Consolas"/>
              </a:rPr>
              <a:t> db = </a:t>
            </a:r>
            <a:r>
              <a:rPr sz="1300" b="1">
                <a:solidFill>
                  <a:srgbClr val="5DD8C3"/>
                </a:solidFill>
                <a:latin typeface="Consolas"/>
              </a:rPr>
              <a:t>await</a:t>
            </a:r>
            <a:r>
              <a:rPr sz="1300">
                <a:solidFill>
                  <a:srgbClr val="E8EEF1"/>
                </a:solidFill>
                <a:latin typeface="Consolas"/>
              </a:rPr>
              <a:t> open({ filename: </a:t>
            </a:r>
            <a:r>
              <a:rPr sz="1300">
                <a:solidFill>
                  <a:srgbClr val="FFD27F"/>
                </a:solidFill>
                <a:latin typeface="Consolas"/>
              </a:rPr>
              <a:t>'./data/app.db'</a:t>
            </a:r>
            <a:r>
              <a:rPr sz="1300">
                <a:solidFill>
                  <a:srgbClr val="E8EEF1"/>
                </a:solidFill>
                <a:latin typeface="Consolas"/>
              </a:rPr>
              <a:t>,</a:t>
            </a:r>
          </a:p>
          <a:p>
            <a:pPr algn="l"/>
            <a:r>
              <a:rPr sz="1300">
                <a:solidFill>
                  <a:srgbClr val="E8EEF1"/>
                </a:solidFill>
                <a:latin typeface="Consolas"/>
              </a:rPr>
              <a:t>                        driver: sqlite3.Database });</a:t>
            </a:r>
          </a:p>
          <a:p>
            <a:pPr algn="l"/>
            <a:r>
              <a:rPr sz="1300">
                <a:solidFill>
                  <a:srgbClr val="E8EEF1"/>
                </a:solidFill>
                <a:latin typeface="Consolas"/>
              </a:rPr>
              <a:t> </a:t>
            </a:r>
          </a:p>
          <a:p>
            <a:pPr algn="l"/>
            <a:r>
              <a:rPr sz="1300" i="1">
                <a:solidFill>
                  <a:srgbClr val="8893A0"/>
                </a:solidFill>
                <a:latin typeface="Consolas"/>
              </a:rPr>
              <a:t>// .get(...) → UNA riga o undefined</a:t>
            </a:r>
          </a:p>
          <a:p>
            <a:pPr algn="l"/>
            <a:r>
              <a:rPr sz="1300" b="1">
                <a:solidFill>
                  <a:srgbClr val="5DD8C3"/>
                </a:solidFill>
                <a:latin typeface="Consolas"/>
              </a:rPr>
              <a:t>const</a:t>
            </a:r>
            <a:r>
              <a:rPr sz="1300">
                <a:solidFill>
                  <a:srgbClr val="E8EEF1"/>
                </a:solidFill>
                <a:latin typeface="Consolas"/>
              </a:rPr>
              <a:t> user = </a:t>
            </a:r>
            <a:r>
              <a:rPr sz="1300" b="1">
                <a:solidFill>
                  <a:srgbClr val="5DD8C3"/>
                </a:solidFill>
                <a:latin typeface="Consolas"/>
              </a:rPr>
              <a:t>await</a:t>
            </a:r>
            <a:r>
              <a:rPr sz="1300">
                <a:solidFill>
                  <a:srgbClr val="E8EEF1"/>
                </a:solidFill>
                <a:latin typeface="Consolas"/>
              </a:rPr>
              <a:t> db.get(</a:t>
            </a:r>
            <a:r>
              <a:rPr sz="1300">
                <a:solidFill>
                  <a:srgbClr val="FFD27F"/>
                </a:solidFill>
                <a:latin typeface="Consolas"/>
              </a:rPr>
              <a:t>'SELECT * FROM users WHERE id = ?'</a:t>
            </a:r>
            <a:r>
              <a:rPr sz="1300">
                <a:solidFill>
                  <a:srgbClr val="E8EEF1"/>
                </a:solidFill>
                <a:latin typeface="Consolas"/>
              </a:rPr>
              <a:t>, 1);</a:t>
            </a:r>
          </a:p>
          <a:p>
            <a:pPr algn="l"/>
            <a:r>
              <a:rPr sz="1300">
                <a:solidFill>
                  <a:srgbClr val="E8EEF1"/>
                </a:solidFill>
                <a:latin typeface="Consolas"/>
              </a:rPr>
              <a:t> </a:t>
            </a:r>
          </a:p>
          <a:p>
            <a:pPr algn="l"/>
            <a:r>
              <a:rPr sz="1300" i="1">
                <a:solidFill>
                  <a:srgbClr val="8893A0"/>
                </a:solidFill>
                <a:latin typeface="Consolas"/>
              </a:rPr>
              <a:t>// .all(...) → TUTTE le righe come array</a:t>
            </a:r>
          </a:p>
          <a:p>
            <a:pPr algn="l"/>
            <a:r>
              <a:rPr sz="1300" b="1">
                <a:solidFill>
                  <a:srgbClr val="5DD8C3"/>
                </a:solidFill>
                <a:latin typeface="Consolas"/>
              </a:rPr>
              <a:t>const</a:t>
            </a:r>
            <a:r>
              <a:rPr sz="1300">
                <a:solidFill>
                  <a:srgbClr val="E8EEF1"/>
                </a:solidFill>
                <a:latin typeface="Consolas"/>
              </a:rPr>
              <a:t> users = </a:t>
            </a:r>
            <a:r>
              <a:rPr sz="1300" b="1">
                <a:solidFill>
                  <a:srgbClr val="5DD8C3"/>
                </a:solidFill>
                <a:latin typeface="Consolas"/>
              </a:rPr>
              <a:t>await</a:t>
            </a:r>
            <a:r>
              <a:rPr sz="1300">
                <a:solidFill>
                  <a:srgbClr val="E8EEF1"/>
                </a:solidFill>
                <a:latin typeface="Consolas"/>
              </a:rPr>
              <a:t> db.all(</a:t>
            </a:r>
            <a:r>
              <a:rPr sz="1300">
                <a:solidFill>
                  <a:srgbClr val="FFD27F"/>
                </a:solidFill>
                <a:latin typeface="Consolas"/>
              </a:rPr>
              <a:t>'SELECT * FROM users'</a:t>
            </a:r>
            <a:r>
              <a:rPr sz="1300">
                <a:solidFill>
                  <a:srgbClr val="E8EEF1"/>
                </a:solidFill>
                <a:latin typeface="Consolas"/>
              </a:rPr>
              <a:t>);</a:t>
            </a:r>
          </a:p>
          <a:p>
            <a:pPr algn="l"/>
            <a:r>
              <a:rPr sz="1300">
                <a:solidFill>
                  <a:srgbClr val="E8EEF1"/>
                </a:solidFill>
                <a:latin typeface="Consolas"/>
              </a:rPr>
              <a:t> </a:t>
            </a:r>
          </a:p>
          <a:p>
            <a:pPr algn="l"/>
            <a:r>
              <a:rPr sz="1300" i="1">
                <a:solidFill>
                  <a:srgbClr val="8893A0"/>
                </a:solidFill>
                <a:latin typeface="Consolas"/>
              </a:rPr>
              <a:t>// .run(...) → INSERT / UPDATE / DELETE</a:t>
            </a:r>
          </a:p>
          <a:p>
            <a:pPr algn="l"/>
            <a:r>
              <a:rPr sz="1300" b="1">
                <a:solidFill>
                  <a:srgbClr val="5DD8C3"/>
                </a:solidFill>
                <a:latin typeface="Consolas"/>
              </a:rPr>
              <a:t>const</a:t>
            </a:r>
            <a:r>
              <a:rPr sz="1300">
                <a:solidFill>
                  <a:srgbClr val="E8EEF1"/>
                </a:solidFill>
                <a:latin typeface="Consolas"/>
              </a:rPr>
              <a:t> info = </a:t>
            </a:r>
            <a:r>
              <a:rPr sz="1300" b="1">
                <a:solidFill>
                  <a:srgbClr val="5DD8C3"/>
                </a:solidFill>
                <a:latin typeface="Consolas"/>
              </a:rPr>
              <a:t>await</a:t>
            </a:r>
            <a:r>
              <a:rPr sz="1300">
                <a:solidFill>
                  <a:srgbClr val="E8EEF1"/>
                </a:solidFill>
                <a:latin typeface="Consolas"/>
              </a:rPr>
              <a:t> db.run(</a:t>
            </a:r>
            <a:r>
              <a:rPr sz="1300">
                <a:solidFill>
                  <a:srgbClr val="FFD27F"/>
                </a:solidFill>
                <a:latin typeface="Consolas"/>
              </a:rPr>
              <a:t>'INSERT INTO users (email,...) VALUES (?,...)'</a:t>
            </a:r>
            <a:r>
              <a:rPr sz="1300">
                <a:solidFill>
                  <a:srgbClr val="E8EEF1"/>
                </a:solidFill>
                <a:latin typeface="Consolas"/>
              </a:rPr>
              <a:t>, email);</a:t>
            </a:r>
          </a:p>
          <a:p>
            <a:pPr algn="l"/>
            <a:r>
              <a:rPr sz="1300">
                <a:solidFill>
                  <a:srgbClr val="E8EEF1"/>
                </a:solidFill>
                <a:latin typeface="Consolas"/>
              </a:rPr>
              <a:t>console.log(</a:t>
            </a:r>
            <a:r>
              <a:rPr sz="1300">
                <a:solidFill>
                  <a:srgbClr val="FFD27F"/>
                </a:solidFill>
                <a:latin typeface="Consolas"/>
              </a:rPr>
              <a:t>'Inserito id:'</a:t>
            </a:r>
            <a:r>
              <a:rPr sz="1300">
                <a:solidFill>
                  <a:srgbClr val="E8EEF1"/>
                </a:solidFill>
                <a:latin typeface="Consolas"/>
              </a:rPr>
              <a:t>, info.lastID);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5852160"/>
            <a:ext cx="10058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>
                <a:solidFill>
                  <a:srgbClr val="00A69D"/>
                </a:solidFill>
                <a:latin typeface="Open Sans"/>
              </a:rPr>
              <a:t>▸  CODICE: 03-sqlite-base/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329184"/>
          </a:xfrm>
          <a:prstGeom prst="rect">
            <a:avLst/>
          </a:prstGeom>
          <a:solidFill>
            <a:srgbClr val="111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822960" cy="164592"/>
          </a:xfrm>
          <a:prstGeom prst="rect">
            <a:avLst/>
          </a:prstGeom>
          <a:solidFill>
            <a:srgbClr val="33B8B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18288"/>
            <a:ext cx="82296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Open Sans"/>
              </a:rPr>
              <a:t>03 · SQLITE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418320" y="18288"/>
            <a:ext cx="26517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>
                <a:solidFill>
                  <a:srgbClr val="80D3CE"/>
                </a:solidFill>
                <a:latin typeface="Open Sans"/>
              </a:rPr>
              <a:t>CORSO NODE.JS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94360"/>
            <a:ext cx="109728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>
                <a:solidFill>
                  <a:srgbClr val="111820"/>
                </a:solidFill>
                <a:latin typeface="Open Sans"/>
              </a:rPr>
              <a:t>Query parametrizzate: il `?` è obbligatorio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1325880"/>
            <a:ext cx="105156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>
                <a:solidFill>
                  <a:srgbClr val="555667"/>
                </a:solidFill>
                <a:latin typeface="Open Sans"/>
              </a:rPr>
              <a:t>Mai concatenare valori in una query SQL. È vulnerabilità 1 nel web.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>
                <a:solidFill>
                  <a:srgbClr val="90909B"/>
                </a:solidFill>
                <a:latin typeface="Open Sans"/>
              </a:rPr>
              <a:t>Giorno 2 — Parte 1 / Middleware + SQLite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492240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0">
                <a:solidFill>
                  <a:srgbClr val="90909B"/>
                </a:solidFill>
                <a:latin typeface="Open Sans"/>
              </a:rPr>
              <a:t>14 / 28</a:t>
            </a:r>
          </a:p>
        </p:txBody>
      </p:sp>
      <p:sp>
        <p:nvSpPr>
          <p:cNvPr id="10" name="Rectangle 9"/>
          <p:cNvSpPr/>
          <p:nvPr/>
        </p:nvSpPr>
        <p:spPr>
          <a:xfrm>
            <a:off x="868680" y="1828800"/>
            <a:ext cx="10515600" cy="1463040"/>
          </a:xfrm>
          <a:prstGeom prst="rect">
            <a:avLst/>
          </a:prstGeom>
          <a:solidFill>
            <a:srgbClr val="0F25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033272" y="1938528"/>
            <a:ext cx="10186416" cy="1243584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300" i="1">
                <a:solidFill>
                  <a:srgbClr val="8893A0"/>
                </a:solidFill>
                <a:latin typeface="Consolas"/>
              </a:rPr>
              <a:t>// SBAGLIATISSIMO — non fare MAI questo</a:t>
            </a:r>
          </a:p>
          <a:p>
            <a:pPr algn="l"/>
            <a:r>
              <a:rPr sz="1300" b="1">
                <a:solidFill>
                  <a:srgbClr val="5DD8C3"/>
                </a:solidFill>
                <a:latin typeface="Consolas"/>
              </a:rPr>
              <a:t>await</a:t>
            </a:r>
            <a:r>
              <a:rPr sz="1300">
                <a:solidFill>
                  <a:srgbClr val="E8EEF1"/>
                </a:solidFill>
                <a:latin typeface="Consolas"/>
              </a:rPr>
              <a:t> db.get(</a:t>
            </a:r>
            <a:r>
              <a:rPr sz="1300">
                <a:solidFill>
                  <a:srgbClr val="FFD27F"/>
                </a:solidFill>
                <a:latin typeface="Consolas"/>
              </a:rPr>
              <a:t>`SELECT * FROM users WHERE email = '${email}'`</a:t>
            </a:r>
            <a:r>
              <a:rPr sz="1300">
                <a:solidFill>
                  <a:srgbClr val="E8EEF1"/>
                </a:solidFill>
                <a:latin typeface="Consolas"/>
              </a:rPr>
              <a:t>);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68680" y="3474720"/>
            <a:ext cx="10515600" cy="1280160"/>
          </a:xfrm>
          <a:prstGeom prst="rect">
            <a:avLst/>
          </a:prstGeom>
          <a:solidFill>
            <a:srgbClr val="0F25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033272" y="3584448"/>
            <a:ext cx="10186416" cy="1060704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300" i="1">
                <a:solidFill>
                  <a:srgbClr val="8893A0"/>
                </a:solidFill>
                <a:latin typeface="Consolas"/>
              </a:rPr>
              <a:t>// GIUSTO — la libreria sanitizza i valori per te</a:t>
            </a:r>
          </a:p>
          <a:p>
            <a:pPr algn="l"/>
            <a:r>
              <a:rPr sz="1300" b="1">
                <a:solidFill>
                  <a:srgbClr val="5DD8C3"/>
                </a:solidFill>
                <a:latin typeface="Consolas"/>
              </a:rPr>
              <a:t>await</a:t>
            </a:r>
            <a:r>
              <a:rPr sz="1300">
                <a:solidFill>
                  <a:srgbClr val="E8EEF1"/>
                </a:solidFill>
                <a:latin typeface="Consolas"/>
              </a:rPr>
              <a:t> db.get(</a:t>
            </a:r>
            <a:r>
              <a:rPr sz="1300">
                <a:solidFill>
                  <a:srgbClr val="FFD27F"/>
                </a:solidFill>
                <a:latin typeface="Consolas"/>
              </a:rPr>
              <a:t>'SELECT * FROM users WHERE email = ?'</a:t>
            </a:r>
            <a:r>
              <a:rPr sz="1300">
                <a:solidFill>
                  <a:srgbClr val="E8EEF1"/>
                </a:solidFill>
                <a:latin typeface="Consolas"/>
              </a:rPr>
              <a:t>, email);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4937760"/>
            <a:ext cx="10515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>
                <a:solidFill>
                  <a:srgbClr val="00A69D"/>
                </a:solidFill>
                <a:latin typeface="Open Sans"/>
              </a:rPr>
              <a:t>IL PRINCIPIO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5257800"/>
            <a:ext cx="1051560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>
                <a:solidFill>
                  <a:srgbClr val="555667"/>
                </a:solidFill>
                <a:latin typeface="Open Sans"/>
              </a:rPr>
              <a:t>Ogni valore che viene dall'utente passa SEMPRE attraverso un placeholder ?.</a:t>
            </a:r>
          </a:p>
          <a:p>
            <a:pPr algn="l"/>
            <a:r>
              <a:rPr sz="1500" b="0">
                <a:solidFill>
                  <a:srgbClr val="555667"/>
                </a:solidFill>
                <a:latin typeface="Open Sans"/>
              </a:rPr>
              <a:t>Fallo diventare un riflesso: ti salverà da bug e da vulnerabilità.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8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33B8B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1463040"/>
            <a:ext cx="6400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>
                <a:solidFill>
                  <a:srgbClr val="33B8B1"/>
                </a:solidFill>
                <a:latin typeface="Open Sans"/>
              </a:rPr>
              <a:t>SEZIONE  ·  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194560"/>
            <a:ext cx="7863840" cy="2286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Open Sans"/>
              </a:rPr>
              <a:t>Schema della tabella users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4617720"/>
            <a:ext cx="1371600" cy="54864"/>
          </a:xfrm>
          <a:prstGeom prst="rect">
            <a:avLst/>
          </a:prstGeom>
          <a:solidFill>
            <a:srgbClr val="33B8B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40080" y="4800600"/>
            <a:ext cx="82296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900" b="0">
                <a:solidFill>
                  <a:srgbClr val="80D3CE"/>
                </a:solidFill>
                <a:latin typeface="Open Sans"/>
              </a:rPr>
              <a:t>DDL, scelte di progetto, bootstrap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0" y="1371600"/>
            <a:ext cx="4114800" cy="4114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20000" b="1">
                <a:solidFill>
                  <a:srgbClr val="303143"/>
                </a:solidFill>
                <a:latin typeface="Open Sans"/>
              </a:rPr>
              <a:t>04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9224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>
                <a:solidFill>
                  <a:srgbClr val="90909B"/>
                </a:solidFill>
                <a:latin typeface="Open Sans"/>
              </a:rPr>
              <a:t>Giorno 2 — Parte 1 / Middleware + SQLite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492240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0">
                <a:solidFill>
                  <a:srgbClr val="90909B"/>
                </a:solidFill>
                <a:latin typeface="Open Sans"/>
              </a:rPr>
              <a:t>15 / 28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329184"/>
          </a:xfrm>
          <a:prstGeom prst="rect">
            <a:avLst/>
          </a:prstGeom>
          <a:solidFill>
            <a:srgbClr val="111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822960" cy="164592"/>
          </a:xfrm>
          <a:prstGeom prst="rect">
            <a:avLst/>
          </a:prstGeom>
          <a:solidFill>
            <a:srgbClr val="33B8B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18288"/>
            <a:ext cx="82296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Open Sans"/>
              </a:rPr>
              <a:t>04 · SCHEMA USERS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418320" y="18288"/>
            <a:ext cx="26517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>
                <a:solidFill>
                  <a:srgbClr val="80D3CE"/>
                </a:solidFill>
                <a:latin typeface="Open Sans"/>
              </a:rPr>
              <a:t>CORSO NODE.JS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94360"/>
            <a:ext cx="109728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>
                <a:solidFill>
                  <a:srgbClr val="111820"/>
                </a:solidFill>
                <a:latin typeface="Open Sans"/>
              </a:rPr>
              <a:t>La DDL completa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1325880"/>
            <a:ext cx="105156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>
                <a:solidFill>
                  <a:srgbClr val="555667"/>
                </a:solidFill>
                <a:latin typeface="Open Sans"/>
              </a:rPr>
              <a:t>Una tabella semplice oggi, estendibile domani.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>
                <a:solidFill>
                  <a:srgbClr val="90909B"/>
                </a:solidFill>
                <a:latin typeface="Open Sans"/>
              </a:rPr>
              <a:t>Giorno 2 — Parte 1 / Middleware + SQLite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492240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0">
                <a:solidFill>
                  <a:srgbClr val="90909B"/>
                </a:solidFill>
                <a:latin typeface="Open Sans"/>
              </a:rPr>
              <a:t>16 / 28</a:t>
            </a:r>
          </a:p>
        </p:txBody>
      </p:sp>
      <p:sp>
        <p:nvSpPr>
          <p:cNvPr id="10" name="Rectangle 9"/>
          <p:cNvSpPr/>
          <p:nvPr/>
        </p:nvSpPr>
        <p:spPr>
          <a:xfrm>
            <a:off x="868680" y="1828800"/>
            <a:ext cx="10515600" cy="4023360"/>
          </a:xfrm>
          <a:prstGeom prst="rect">
            <a:avLst/>
          </a:prstGeom>
          <a:solidFill>
            <a:srgbClr val="0F25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033272" y="1938528"/>
            <a:ext cx="10186416" cy="3803904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300" b="1">
                <a:solidFill>
                  <a:srgbClr val="5DD8C3"/>
                </a:solidFill>
                <a:latin typeface="Consolas"/>
              </a:rPr>
              <a:t>CREATE</a:t>
            </a:r>
            <a:r>
              <a:rPr sz="1300">
                <a:solidFill>
                  <a:srgbClr val="E8EEF1"/>
                </a:solidFill>
                <a:latin typeface="Consolas"/>
              </a:rPr>
              <a:t> </a:t>
            </a:r>
            <a:r>
              <a:rPr sz="1300" b="1">
                <a:solidFill>
                  <a:srgbClr val="5DD8C3"/>
                </a:solidFill>
                <a:latin typeface="Consolas"/>
              </a:rPr>
              <a:t>TABLE</a:t>
            </a:r>
            <a:r>
              <a:rPr sz="1300">
                <a:solidFill>
                  <a:srgbClr val="E8EEF1"/>
                </a:solidFill>
                <a:latin typeface="Consolas"/>
              </a:rPr>
              <a:t> IF </a:t>
            </a:r>
            <a:r>
              <a:rPr sz="1300" b="1">
                <a:solidFill>
                  <a:srgbClr val="5DD8C3"/>
                </a:solidFill>
                <a:latin typeface="Consolas"/>
              </a:rPr>
              <a:t>NOT</a:t>
            </a:r>
            <a:r>
              <a:rPr sz="1300">
                <a:solidFill>
                  <a:srgbClr val="E8EEF1"/>
                </a:solidFill>
                <a:latin typeface="Consolas"/>
              </a:rPr>
              <a:t> EXISTS users (</a:t>
            </a:r>
          </a:p>
          <a:p>
            <a:pPr algn="l"/>
            <a:r>
              <a:rPr sz="1300">
                <a:solidFill>
                  <a:srgbClr val="E8EEF1"/>
                </a:solidFill>
                <a:latin typeface="Consolas"/>
              </a:rPr>
              <a:t>  id            INTEGER </a:t>
            </a:r>
            <a:r>
              <a:rPr sz="1300" b="1">
                <a:solidFill>
                  <a:srgbClr val="5DD8C3"/>
                </a:solidFill>
                <a:latin typeface="Consolas"/>
              </a:rPr>
              <a:t>PRIMARY</a:t>
            </a:r>
            <a:r>
              <a:rPr sz="1300">
                <a:solidFill>
                  <a:srgbClr val="E8EEF1"/>
                </a:solidFill>
                <a:latin typeface="Consolas"/>
              </a:rPr>
              <a:t> </a:t>
            </a:r>
            <a:r>
              <a:rPr sz="1300" b="1">
                <a:solidFill>
                  <a:srgbClr val="5DD8C3"/>
                </a:solidFill>
                <a:latin typeface="Consolas"/>
              </a:rPr>
              <a:t>KEY</a:t>
            </a:r>
            <a:r>
              <a:rPr sz="1300">
                <a:solidFill>
                  <a:srgbClr val="E8EEF1"/>
                </a:solidFill>
                <a:latin typeface="Consolas"/>
              </a:rPr>
              <a:t> </a:t>
            </a:r>
            <a:r>
              <a:rPr sz="1300" b="1">
                <a:solidFill>
                  <a:srgbClr val="5DD8C3"/>
                </a:solidFill>
                <a:latin typeface="Consolas"/>
              </a:rPr>
              <a:t>AUTOINCREMENT</a:t>
            </a:r>
            <a:r>
              <a:rPr sz="1300">
                <a:solidFill>
                  <a:srgbClr val="E8EEF1"/>
                </a:solidFill>
                <a:latin typeface="Consolas"/>
              </a:rPr>
              <a:t>,</a:t>
            </a:r>
          </a:p>
          <a:p>
            <a:pPr algn="l"/>
            <a:r>
              <a:rPr sz="1300">
                <a:solidFill>
                  <a:srgbClr val="E8EEF1"/>
                </a:solidFill>
                <a:latin typeface="Consolas"/>
              </a:rPr>
              <a:t>  email         TEXT </a:t>
            </a:r>
            <a:r>
              <a:rPr sz="1300" b="1">
                <a:solidFill>
                  <a:srgbClr val="5DD8C3"/>
                </a:solidFill>
                <a:latin typeface="Consolas"/>
              </a:rPr>
              <a:t>NOT</a:t>
            </a:r>
            <a:r>
              <a:rPr sz="1300">
                <a:solidFill>
                  <a:srgbClr val="E8EEF1"/>
                </a:solidFill>
                <a:latin typeface="Consolas"/>
              </a:rPr>
              <a:t> </a:t>
            </a:r>
            <a:r>
              <a:rPr sz="1300" b="1">
                <a:solidFill>
                  <a:srgbClr val="5DD8C3"/>
                </a:solidFill>
                <a:latin typeface="Consolas"/>
              </a:rPr>
              <a:t>NULL</a:t>
            </a:r>
            <a:r>
              <a:rPr sz="1300">
                <a:solidFill>
                  <a:srgbClr val="E8EEF1"/>
                </a:solidFill>
                <a:latin typeface="Consolas"/>
              </a:rPr>
              <a:t> </a:t>
            </a:r>
            <a:r>
              <a:rPr sz="1300" b="1">
                <a:solidFill>
                  <a:srgbClr val="5DD8C3"/>
                </a:solidFill>
                <a:latin typeface="Consolas"/>
              </a:rPr>
              <a:t>UNIQUE</a:t>
            </a:r>
            <a:r>
              <a:rPr sz="1300">
                <a:solidFill>
                  <a:srgbClr val="E8EEF1"/>
                </a:solidFill>
                <a:latin typeface="Consolas"/>
              </a:rPr>
              <a:t>,</a:t>
            </a:r>
          </a:p>
          <a:p>
            <a:pPr algn="l"/>
            <a:r>
              <a:rPr sz="1300">
                <a:solidFill>
                  <a:srgbClr val="E8EEF1"/>
                </a:solidFill>
                <a:latin typeface="Consolas"/>
              </a:rPr>
              <a:t>  password_hash TEXT </a:t>
            </a:r>
            <a:r>
              <a:rPr sz="1300" b="1">
                <a:solidFill>
                  <a:srgbClr val="5DD8C3"/>
                </a:solidFill>
                <a:latin typeface="Consolas"/>
              </a:rPr>
              <a:t>NOT</a:t>
            </a:r>
            <a:r>
              <a:rPr sz="1300">
                <a:solidFill>
                  <a:srgbClr val="E8EEF1"/>
                </a:solidFill>
                <a:latin typeface="Consolas"/>
              </a:rPr>
              <a:t> </a:t>
            </a:r>
            <a:r>
              <a:rPr sz="1300" b="1">
                <a:solidFill>
                  <a:srgbClr val="5DD8C3"/>
                </a:solidFill>
                <a:latin typeface="Consolas"/>
              </a:rPr>
              <a:t>NULL</a:t>
            </a:r>
            <a:r>
              <a:rPr sz="1300">
                <a:solidFill>
                  <a:srgbClr val="E8EEF1"/>
                </a:solidFill>
                <a:latin typeface="Consolas"/>
              </a:rPr>
              <a:t>,</a:t>
            </a:r>
          </a:p>
          <a:p>
            <a:pPr algn="l"/>
            <a:r>
              <a:rPr sz="1300">
                <a:solidFill>
                  <a:srgbClr val="E8EEF1"/>
                </a:solidFill>
                <a:latin typeface="Consolas"/>
              </a:rPr>
              <a:t>  name          TEXT,</a:t>
            </a:r>
          </a:p>
          <a:p>
            <a:pPr algn="l"/>
            <a:r>
              <a:rPr sz="1300">
                <a:solidFill>
                  <a:srgbClr val="E8EEF1"/>
                </a:solidFill>
                <a:latin typeface="Consolas"/>
              </a:rPr>
              <a:t>  role          TEXT </a:t>
            </a:r>
            <a:r>
              <a:rPr sz="1300" b="1">
                <a:solidFill>
                  <a:srgbClr val="5DD8C3"/>
                </a:solidFill>
                <a:latin typeface="Consolas"/>
              </a:rPr>
              <a:t>NOT</a:t>
            </a:r>
            <a:r>
              <a:rPr sz="1300">
                <a:solidFill>
                  <a:srgbClr val="E8EEF1"/>
                </a:solidFill>
                <a:latin typeface="Consolas"/>
              </a:rPr>
              <a:t> </a:t>
            </a:r>
            <a:r>
              <a:rPr sz="1300" b="1">
                <a:solidFill>
                  <a:srgbClr val="5DD8C3"/>
                </a:solidFill>
                <a:latin typeface="Consolas"/>
              </a:rPr>
              <a:t>NULL</a:t>
            </a:r>
            <a:r>
              <a:rPr sz="1300">
                <a:solidFill>
                  <a:srgbClr val="E8EEF1"/>
                </a:solidFill>
                <a:latin typeface="Consolas"/>
              </a:rPr>
              <a:t> </a:t>
            </a:r>
            <a:r>
              <a:rPr sz="1300" b="1">
                <a:solidFill>
                  <a:srgbClr val="5DD8C3"/>
                </a:solidFill>
                <a:latin typeface="Consolas"/>
              </a:rPr>
              <a:t>DEFAULT</a:t>
            </a:r>
            <a:r>
              <a:rPr sz="1300">
                <a:solidFill>
                  <a:srgbClr val="E8EEF1"/>
                </a:solidFill>
                <a:latin typeface="Consolas"/>
              </a:rPr>
              <a:t> </a:t>
            </a:r>
            <a:r>
              <a:rPr sz="1300">
                <a:solidFill>
                  <a:srgbClr val="FFD27F"/>
                </a:solidFill>
                <a:latin typeface="Consolas"/>
              </a:rPr>
              <a:t>'user'</a:t>
            </a:r>
            <a:r>
              <a:rPr sz="1300">
                <a:solidFill>
                  <a:srgbClr val="E8EEF1"/>
                </a:solidFill>
                <a:latin typeface="Consolas"/>
              </a:rPr>
              <a:t>,</a:t>
            </a:r>
          </a:p>
          <a:p>
            <a:pPr algn="l"/>
            <a:r>
              <a:rPr sz="1300">
                <a:solidFill>
                  <a:srgbClr val="E8EEF1"/>
                </a:solidFill>
                <a:latin typeface="Consolas"/>
              </a:rPr>
              <a:t>  created_at    DATETIME </a:t>
            </a:r>
            <a:r>
              <a:rPr sz="1300" b="1">
                <a:solidFill>
                  <a:srgbClr val="5DD8C3"/>
                </a:solidFill>
                <a:latin typeface="Consolas"/>
              </a:rPr>
              <a:t>NOT</a:t>
            </a:r>
            <a:r>
              <a:rPr sz="1300">
                <a:solidFill>
                  <a:srgbClr val="E8EEF1"/>
                </a:solidFill>
                <a:latin typeface="Consolas"/>
              </a:rPr>
              <a:t> </a:t>
            </a:r>
            <a:r>
              <a:rPr sz="1300" b="1">
                <a:solidFill>
                  <a:srgbClr val="5DD8C3"/>
                </a:solidFill>
                <a:latin typeface="Consolas"/>
              </a:rPr>
              <a:t>NULL</a:t>
            </a:r>
            <a:r>
              <a:rPr sz="1300">
                <a:solidFill>
                  <a:srgbClr val="E8EEF1"/>
                </a:solidFill>
                <a:latin typeface="Consolas"/>
              </a:rPr>
              <a:t> </a:t>
            </a:r>
            <a:r>
              <a:rPr sz="1300" b="1">
                <a:solidFill>
                  <a:srgbClr val="5DD8C3"/>
                </a:solidFill>
                <a:latin typeface="Consolas"/>
              </a:rPr>
              <a:t>DEFAULT</a:t>
            </a:r>
            <a:r>
              <a:rPr sz="1300">
                <a:solidFill>
                  <a:srgbClr val="E8EEF1"/>
                </a:solidFill>
                <a:latin typeface="Consolas"/>
              </a:rPr>
              <a:t> CURRENT_TIMESTAMP,</a:t>
            </a:r>
          </a:p>
          <a:p>
            <a:pPr algn="l"/>
            <a:r>
              <a:rPr sz="1300">
                <a:solidFill>
                  <a:srgbClr val="E8EEF1"/>
                </a:solidFill>
                <a:latin typeface="Consolas"/>
              </a:rPr>
              <a:t>  updated_at    DATETIME </a:t>
            </a:r>
            <a:r>
              <a:rPr sz="1300" b="1">
                <a:solidFill>
                  <a:srgbClr val="5DD8C3"/>
                </a:solidFill>
                <a:latin typeface="Consolas"/>
              </a:rPr>
              <a:t>NOT</a:t>
            </a:r>
            <a:r>
              <a:rPr sz="1300">
                <a:solidFill>
                  <a:srgbClr val="E8EEF1"/>
                </a:solidFill>
                <a:latin typeface="Consolas"/>
              </a:rPr>
              <a:t> </a:t>
            </a:r>
            <a:r>
              <a:rPr sz="1300" b="1">
                <a:solidFill>
                  <a:srgbClr val="5DD8C3"/>
                </a:solidFill>
                <a:latin typeface="Consolas"/>
              </a:rPr>
              <a:t>NULL</a:t>
            </a:r>
            <a:r>
              <a:rPr sz="1300">
                <a:solidFill>
                  <a:srgbClr val="E8EEF1"/>
                </a:solidFill>
                <a:latin typeface="Consolas"/>
              </a:rPr>
              <a:t> </a:t>
            </a:r>
            <a:r>
              <a:rPr sz="1300" b="1">
                <a:solidFill>
                  <a:srgbClr val="5DD8C3"/>
                </a:solidFill>
                <a:latin typeface="Consolas"/>
              </a:rPr>
              <a:t>DEFAULT</a:t>
            </a:r>
            <a:r>
              <a:rPr sz="1300">
                <a:solidFill>
                  <a:srgbClr val="E8EEF1"/>
                </a:solidFill>
                <a:latin typeface="Consolas"/>
              </a:rPr>
              <a:t> CURRENT_TIMESTAMP</a:t>
            </a:r>
          </a:p>
          <a:p>
            <a:pPr algn="l"/>
            <a:r>
              <a:rPr sz="1300">
                <a:solidFill>
                  <a:srgbClr val="E8EEF1"/>
                </a:solidFill>
                <a:latin typeface="Consolas"/>
              </a:rPr>
              <a:t>);</a:t>
            </a:r>
          </a:p>
          <a:p>
            <a:pPr algn="l"/>
            <a:r>
              <a:rPr sz="1300">
                <a:solidFill>
                  <a:srgbClr val="E8EEF1"/>
                </a:solidFill>
                <a:latin typeface="Consolas"/>
              </a:rPr>
              <a:t> </a:t>
            </a:r>
          </a:p>
          <a:p>
            <a:pPr algn="l"/>
            <a:r>
              <a:rPr sz="1300" b="1">
                <a:solidFill>
                  <a:srgbClr val="5DD8C3"/>
                </a:solidFill>
                <a:latin typeface="Consolas"/>
              </a:rPr>
              <a:t>CREATE</a:t>
            </a:r>
            <a:r>
              <a:rPr sz="1300">
                <a:solidFill>
                  <a:srgbClr val="E8EEF1"/>
                </a:solidFill>
                <a:latin typeface="Consolas"/>
              </a:rPr>
              <a:t> </a:t>
            </a:r>
            <a:r>
              <a:rPr sz="1300" b="1">
                <a:solidFill>
                  <a:srgbClr val="5DD8C3"/>
                </a:solidFill>
                <a:latin typeface="Consolas"/>
              </a:rPr>
              <a:t>INDEX</a:t>
            </a:r>
            <a:r>
              <a:rPr sz="1300">
                <a:solidFill>
                  <a:srgbClr val="E8EEF1"/>
                </a:solidFill>
                <a:latin typeface="Consolas"/>
              </a:rPr>
              <a:t> IF </a:t>
            </a:r>
            <a:r>
              <a:rPr sz="1300" b="1">
                <a:solidFill>
                  <a:srgbClr val="5DD8C3"/>
                </a:solidFill>
                <a:latin typeface="Consolas"/>
              </a:rPr>
              <a:t>NOT</a:t>
            </a:r>
            <a:r>
              <a:rPr sz="1300">
                <a:solidFill>
                  <a:srgbClr val="E8EEF1"/>
                </a:solidFill>
                <a:latin typeface="Consolas"/>
              </a:rPr>
              <a:t> EXISTS idx_users_email ON users(email);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329184"/>
          </a:xfrm>
          <a:prstGeom prst="rect">
            <a:avLst/>
          </a:prstGeom>
          <a:solidFill>
            <a:srgbClr val="111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822960" cy="164592"/>
          </a:xfrm>
          <a:prstGeom prst="rect">
            <a:avLst/>
          </a:prstGeom>
          <a:solidFill>
            <a:srgbClr val="33B8B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18288"/>
            <a:ext cx="82296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Open Sans"/>
              </a:rPr>
              <a:t>04 · SCHEMA USERS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418320" y="18288"/>
            <a:ext cx="26517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>
                <a:solidFill>
                  <a:srgbClr val="80D3CE"/>
                </a:solidFill>
                <a:latin typeface="Open Sans"/>
              </a:rPr>
              <a:t>CORSO NODE.JS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94360"/>
            <a:ext cx="109728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>
                <a:solidFill>
                  <a:srgbClr val="111820"/>
                </a:solidFill>
                <a:latin typeface="Open Sans"/>
              </a:rPr>
              <a:t>Ogni colonna, ogni scelta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1325880"/>
            <a:ext cx="105156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>
                <a:solidFill>
                  <a:srgbClr val="555667"/>
                </a:solidFill>
                <a:latin typeface="Open Sans"/>
              </a:rPr>
              <a:t>Ricordati di queste motivazioni: te le porterai in ogni progetto.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>
                <a:solidFill>
                  <a:srgbClr val="90909B"/>
                </a:solidFill>
                <a:latin typeface="Open Sans"/>
              </a:rPr>
              <a:t>Giorno 2 — Parte 1 / Middleware + SQLite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492240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0">
                <a:solidFill>
                  <a:srgbClr val="90909B"/>
                </a:solidFill>
                <a:latin typeface="Open Sans"/>
              </a:rPr>
              <a:t>17 / 28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1828800"/>
            <a:ext cx="10515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>
                <a:solidFill>
                  <a:srgbClr val="00A69D"/>
                </a:solidFill>
                <a:latin typeface="Open Sans"/>
              </a:rPr>
              <a:t>email TEXT NOT NULL UNIQUE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148840"/>
            <a:ext cx="105156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>
                <a:solidFill>
                  <a:srgbClr val="555667"/>
                </a:solidFill>
                <a:latin typeface="Open Sans"/>
              </a:rPr>
              <a:t>UNIQUE a livello DB: ultima difesa anche se il check applicativo fallisce.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2743200"/>
            <a:ext cx="10515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>
                <a:solidFill>
                  <a:srgbClr val="00A69D"/>
                </a:solidFill>
                <a:latin typeface="Open Sans"/>
              </a:rPr>
              <a:t>password_hash TEXT NOT NULL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63240"/>
            <a:ext cx="105156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>
                <a:solidFill>
                  <a:srgbClr val="555667"/>
                </a:solidFill>
                <a:latin typeface="Open Sans"/>
              </a:rPr>
              <a:t>Il nome del campo ti ricorda visivamente: qui dentro non c'è la password in chiaro.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657600"/>
            <a:ext cx="10515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>
                <a:solidFill>
                  <a:srgbClr val="00A69D"/>
                </a:solidFill>
                <a:latin typeface="Open Sans"/>
              </a:rPr>
              <a:t>role TEXT NOT NULL DEFAULT 'user'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3977639"/>
            <a:ext cx="105156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>
                <a:solidFill>
                  <a:srgbClr val="555667"/>
                </a:solidFill>
                <a:latin typeface="Open Sans"/>
              </a:rPr>
              <a:t>Predisposto per gestione permessi futura. Costa zero metterlo ora, molto aggiungerlo dopo.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4572000"/>
            <a:ext cx="10515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>
                <a:solidFill>
                  <a:srgbClr val="00A69D"/>
                </a:solidFill>
                <a:latin typeface="Open Sans"/>
              </a:rPr>
              <a:t>created_at / updated_at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4892040"/>
            <a:ext cx="105156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>
                <a:solidFill>
                  <a:srgbClr val="555667"/>
                </a:solidFill>
                <a:latin typeface="Open Sans"/>
              </a:rPr>
              <a:t>Audit, ordinamento, debugging. Always-on in ogni tabella, da abitudine.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5486400"/>
            <a:ext cx="10515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>
                <a:solidFill>
                  <a:srgbClr val="00A69D"/>
                </a:solidFill>
                <a:latin typeface="Open Sans"/>
              </a:rPr>
              <a:t>INDEX idx_users_email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5806440"/>
            <a:ext cx="10515600" cy="20005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dirty="0">
                <a:solidFill>
                  <a:srgbClr val="555667"/>
                </a:solidFill>
                <a:latin typeface="Open Sans"/>
              </a:rPr>
              <a:t>Ogni login </a:t>
            </a:r>
            <a:r>
              <a:rPr sz="1300" b="0" dirty="0" err="1">
                <a:solidFill>
                  <a:srgbClr val="555667"/>
                </a:solidFill>
                <a:latin typeface="Open Sans"/>
              </a:rPr>
              <a:t>farà</a:t>
            </a:r>
            <a:r>
              <a:rPr sz="1300" b="0" dirty="0">
                <a:solidFill>
                  <a:srgbClr val="555667"/>
                </a:solidFill>
                <a:latin typeface="Open Sans"/>
              </a:rPr>
              <a:t> WHERE email = ?. </a:t>
            </a:r>
            <a:r>
              <a:rPr sz="1300" b="0" dirty="0" err="1">
                <a:solidFill>
                  <a:srgbClr val="555667"/>
                </a:solidFill>
                <a:latin typeface="Open Sans"/>
              </a:rPr>
              <a:t>L'indice</a:t>
            </a:r>
            <a:r>
              <a:rPr sz="1300" b="0" dirty="0">
                <a:solidFill>
                  <a:srgbClr val="555667"/>
                </a:solidFill>
                <a:latin typeface="Open Sans"/>
              </a:rPr>
              <a:t> </a:t>
            </a:r>
            <a:r>
              <a:rPr sz="1300" b="0" dirty="0" err="1">
                <a:solidFill>
                  <a:srgbClr val="555667"/>
                </a:solidFill>
                <a:latin typeface="Open Sans"/>
              </a:rPr>
              <a:t>rende</a:t>
            </a:r>
            <a:r>
              <a:rPr sz="1300" b="0" dirty="0">
                <a:solidFill>
                  <a:srgbClr val="555667"/>
                </a:solidFill>
                <a:latin typeface="Open Sans"/>
              </a:rPr>
              <a:t> la lookup </a:t>
            </a:r>
            <a:r>
              <a:rPr lang="it-IT" sz="1300" dirty="0">
                <a:solidFill>
                  <a:srgbClr val="555667"/>
                </a:solidFill>
                <a:latin typeface="Open Sans"/>
              </a:rPr>
              <a:t>ottimizzata</a:t>
            </a:r>
            <a:r>
              <a:rPr sz="1300" b="0" dirty="0">
                <a:solidFill>
                  <a:srgbClr val="555667"/>
                </a:solidFill>
                <a:latin typeface="Open Sans"/>
              </a:rPr>
              <a:t>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329184"/>
          </a:xfrm>
          <a:prstGeom prst="rect">
            <a:avLst/>
          </a:prstGeom>
          <a:solidFill>
            <a:srgbClr val="111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822960" cy="164592"/>
          </a:xfrm>
          <a:prstGeom prst="rect">
            <a:avLst/>
          </a:prstGeom>
          <a:solidFill>
            <a:srgbClr val="33B8B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18288"/>
            <a:ext cx="82296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Open Sans"/>
              </a:rPr>
              <a:t>04 · SCHEMA USERS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418320" y="18288"/>
            <a:ext cx="26517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>
                <a:solidFill>
                  <a:srgbClr val="80D3CE"/>
                </a:solidFill>
                <a:latin typeface="Open Sans"/>
              </a:rPr>
              <a:t>CORSO NODE.JS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94360"/>
            <a:ext cx="109728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>
                <a:solidFill>
                  <a:srgbClr val="111820"/>
                </a:solidFill>
                <a:latin typeface="Open Sans"/>
              </a:rPr>
              <a:t>Bootstrap della connessione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1325880"/>
            <a:ext cx="105156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>
                <a:solidFill>
                  <a:srgbClr val="555667"/>
                </a:solidFill>
                <a:latin typeface="Open Sans"/>
              </a:rPr>
              <a:t>src/db/connection.js — apertura DB + esecuzione schema all'avvio.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>
                <a:solidFill>
                  <a:srgbClr val="90909B"/>
                </a:solidFill>
                <a:latin typeface="Open Sans"/>
              </a:rPr>
              <a:t>Giorno 2 — Parte 1 / Middleware + SQLite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492240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0">
                <a:solidFill>
                  <a:srgbClr val="90909B"/>
                </a:solidFill>
                <a:latin typeface="Open Sans"/>
              </a:rPr>
              <a:t>18 / 28</a:t>
            </a:r>
          </a:p>
        </p:txBody>
      </p:sp>
      <p:sp>
        <p:nvSpPr>
          <p:cNvPr id="10" name="Rectangle 9"/>
          <p:cNvSpPr/>
          <p:nvPr/>
        </p:nvSpPr>
        <p:spPr>
          <a:xfrm>
            <a:off x="868680" y="1828800"/>
            <a:ext cx="10515600" cy="4023360"/>
          </a:xfrm>
          <a:prstGeom prst="rect">
            <a:avLst/>
          </a:prstGeom>
          <a:solidFill>
            <a:srgbClr val="0F25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033272" y="1938528"/>
            <a:ext cx="10186416" cy="3803904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300" b="1" dirty="0">
                <a:solidFill>
                  <a:srgbClr val="5DD8C3"/>
                </a:solidFill>
                <a:latin typeface="Consolas"/>
              </a:rPr>
              <a:t>import</a:t>
            </a:r>
            <a:r>
              <a:rPr sz="1300" dirty="0">
                <a:solidFill>
                  <a:srgbClr val="E8EEF1"/>
                </a:solidFill>
                <a:latin typeface="Consolas"/>
              </a:rPr>
              <a:t> sqlite3 </a:t>
            </a:r>
            <a:r>
              <a:rPr sz="1300" b="1" dirty="0">
                <a:solidFill>
                  <a:srgbClr val="5DD8C3"/>
                </a:solidFill>
                <a:latin typeface="Consolas"/>
              </a:rPr>
              <a:t>from</a:t>
            </a:r>
            <a:r>
              <a:rPr sz="1300" dirty="0">
                <a:solidFill>
                  <a:srgbClr val="E8EEF1"/>
                </a:solidFill>
                <a:latin typeface="Consolas"/>
              </a:rPr>
              <a:t> </a:t>
            </a:r>
            <a:r>
              <a:rPr sz="1300" dirty="0">
                <a:solidFill>
                  <a:srgbClr val="FFD27F"/>
                </a:solidFill>
                <a:latin typeface="Consolas"/>
              </a:rPr>
              <a:t>'sqlite3'</a:t>
            </a:r>
            <a:r>
              <a:rPr sz="1300" dirty="0">
                <a:solidFill>
                  <a:srgbClr val="E8EEF1"/>
                </a:solidFill>
                <a:latin typeface="Consolas"/>
              </a:rPr>
              <a:t>;</a:t>
            </a:r>
          </a:p>
          <a:p>
            <a:pPr algn="l"/>
            <a:r>
              <a:rPr sz="1300" b="1" dirty="0">
                <a:solidFill>
                  <a:srgbClr val="5DD8C3"/>
                </a:solidFill>
                <a:latin typeface="Consolas"/>
              </a:rPr>
              <a:t>import</a:t>
            </a:r>
            <a:r>
              <a:rPr sz="1300" dirty="0">
                <a:solidFill>
                  <a:srgbClr val="E8EEF1"/>
                </a:solidFill>
                <a:latin typeface="Consolas"/>
              </a:rPr>
              <a:t> { open } </a:t>
            </a:r>
            <a:r>
              <a:rPr sz="1300" b="1" dirty="0">
                <a:solidFill>
                  <a:srgbClr val="5DD8C3"/>
                </a:solidFill>
                <a:latin typeface="Consolas"/>
              </a:rPr>
              <a:t>from</a:t>
            </a:r>
            <a:r>
              <a:rPr sz="1300" dirty="0">
                <a:solidFill>
                  <a:srgbClr val="E8EEF1"/>
                </a:solidFill>
                <a:latin typeface="Consolas"/>
              </a:rPr>
              <a:t> </a:t>
            </a:r>
            <a:r>
              <a:rPr sz="1300" dirty="0">
                <a:solidFill>
                  <a:srgbClr val="FFD27F"/>
                </a:solidFill>
                <a:latin typeface="Consolas"/>
              </a:rPr>
              <a:t>'</a:t>
            </a:r>
            <a:r>
              <a:rPr sz="1300" dirty="0" err="1">
                <a:solidFill>
                  <a:srgbClr val="FFD27F"/>
                </a:solidFill>
                <a:latin typeface="Consolas"/>
              </a:rPr>
              <a:t>sqlite</a:t>
            </a:r>
            <a:r>
              <a:rPr sz="1300" dirty="0">
                <a:solidFill>
                  <a:srgbClr val="FFD27F"/>
                </a:solidFill>
                <a:latin typeface="Consolas"/>
              </a:rPr>
              <a:t>'</a:t>
            </a:r>
            <a:r>
              <a:rPr sz="1300" dirty="0">
                <a:solidFill>
                  <a:srgbClr val="E8EEF1"/>
                </a:solidFill>
                <a:latin typeface="Consolas"/>
              </a:rPr>
              <a:t>;</a:t>
            </a:r>
          </a:p>
          <a:p>
            <a:pPr algn="l"/>
            <a:r>
              <a:rPr sz="1300" b="1" dirty="0">
                <a:solidFill>
                  <a:srgbClr val="5DD8C3"/>
                </a:solidFill>
                <a:latin typeface="Consolas"/>
              </a:rPr>
              <a:t>import</a:t>
            </a:r>
            <a:r>
              <a:rPr sz="1300" dirty="0">
                <a:solidFill>
                  <a:srgbClr val="E8EEF1"/>
                </a:solidFill>
                <a:latin typeface="Consolas"/>
              </a:rPr>
              <a:t> { </a:t>
            </a:r>
            <a:r>
              <a:rPr sz="1300" dirty="0" err="1">
                <a:solidFill>
                  <a:srgbClr val="E8EEF1"/>
                </a:solidFill>
                <a:latin typeface="Consolas"/>
              </a:rPr>
              <a:t>readFileSync</a:t>
            </a:r>
            <a:r>
              <a:rPr sz="1300" dirty="0">
                <a:solidFill>
                  <a:srgbClr val="E8EEF1"/>
                </a:solidFill>
                <a:latin typeface="Consolas"/>
              </a:rPr>
              <a:t>, </a:t>
            </a:r>
            <a:r>
              <a:rPr sz="1300" dirty="0" err="1">
                <a:solidFill>
                  <a:srgbClr val="E8EEF1"/>
                </a:solidFill>
                <a:latin typeface="Consolas"/>
              </a:rPr>
              <a:t>mkdirSync</a:t>
            </a:r>
            <a:r>
              <a:rPr sz="1300" dirty="0">
                <a:solidFill>
                  <a:srgbClr val="E8EEF1"/>
                </a:solidFill>
                <a:latin typeface="Consolas"/>
              </a:rPr>
              <a:t> } </a:t>
            </a:r>
            <a:r>
              <a:rPr sz="1300" b="1" dirty="0">
                <a:solidFill>
                  <a:srgbClr val="5DD8C3"/>
                </a:solidFill>
                <a:latin typeface="Consolas"/>
              </a:rPr>
              <a:t>from</a:t>
            </a:r>
            <a:r>
              <a:rPr sz="1300" dirty="0">
                <a:solidFill>
                  <a:srgbClr val="E8EEF1"/>
                </a:solidFill>
                <a:latin typeface="Consolas"/>
              </a:rPr>
              <a:t> </a:t>
            </a:r>
            <a:r>
              <a:rPr sz="1300" dirty="0">
                <a:solidFill>
                  <a:srgbClr val="FFD27F"/>
                </a:solidFill>
                <a:latin typeface="Consolas"/>
              </a:rPr>
              <a:t>'fs'</a:t>
            </a:r>
            <a:r>
              <a:rPr sz="1300" dirty="0">
                <a:solidFill>
                  <a:srgbClr val="E8EEF1"/>
                </a:solidFill>
                <a:latin typeface="Consolas"/>
              </a:rPr>
              <a:t>;</a:t>
            </a:r>
          </a:p>
          <a:p>
            <a:pPr algn="l"/>
            <a:r>
              <a:rPr sz="1300" b="1" dirty="0">
                <a:solidFill>
                  <a:srgbClr val="5DD8C3"/>
                </a:solidFill>
                <a:latin typeface="Consolas"/>
              </a:rPr>
              <a:t>import</a:t>
            </a:r>
            <a:r>
              <a:rPr sz="1300" dirty="0">
                <a:solidFill>
                  <a:srgbClr val="E8EEF1"/>
                </a:solidFill>
                <a:latin typeface="Consolas"/>
              </a:rPr>
              <a:t> path </a:t>
            </a:r>
            <a:r>
              <a:rPr sz="1300" b="1" dirty="0">
                <a:solidFill>
                  <a:srgbClr val="5DD8C3"/>
                </a:solidFill>
                <a:latin typeface="Consolas"/>
              </a:rPr>
              <a:t>from</a:t>
            </a:r>
            <a:r>
              <a:rPr sz="1300" dirty="0">
                <a:solidFill>
                  <a:srgbClr val="E8EEF1"/>
                </a:solidFill>
                <a:latin typeface="Consolas"/>
              </a:rPr>
              <a:t> </a:t>
            </a:r>
            <a:r>
              <a:rPr sz="1300" dirty="0">
                <a:solidFill>
                  <a:srgbClr val="FFD27F"/>
                </a:solidFill>
                <a:latin typeface="Consolas"/>
              </a:rPr>
              <a:t>'path'</a:t>
            </a:r>
            <a:r>
              <a:rPr sz="1300" dirty="0">
                <a:solidFill>
                  <a:srgbClr val="E8EEF1"/>
                </a:solidFill>
                <a:latin typeface="Consolas"/>
              </a:rPr>
              <a:t>;</a:t>
            </a:r>
          </a:p>
          <a:p>
            <a:pPr algn="l"/>
            <a:r>
              <a:rPr sz="1300" b="1" dirty="0">
                <a:solidFill>
                  <a:srgbClr val="5DD8C3"/>
                </a:solidFill>
                <a:latin typeface="Consolas"/>
              </a:rPr>
              <a:t>import</a:t>
            </a:r>
            <a:r>
              <a:rPr sz="1300" dirty="0">
                <a:solidFill>
                  <a:srgbClr val="E8EEF1"/>
                </a:solidFill>
                <a:latin typeface="Consolas"/>
              </a:rPr>
              <a:t> { </a:t>
            </a:r>
            <a:r>
              <a:rPr sz="1300" dirty="0" err="1">
                <a:solidFill>
                  <a:srgbClr val="E8EEF1"/>
                </a:solidFill>
                <a:latin typeface="Consolas"/>
              </a:rPr>
              <a:t>fileURLToPath</a:t>
            </a:r>
            <a:r>
              <a:rPr sz="1300" dirty="0">
                <a:solidFill>
                  <a:srgbClr val="E8EEF1"/>
                </a:solidFill>
                <a:latin typeface="Consolas"/>
              </a:rPr>
              <a:t> } </a:t>
            </a:r>
            <a:r>
              <a:rPr sz="1300" b="1" dirty="0">
                <a:solidFill>
                  <a:srgbClr val="5DD8C3"/>
                </a:solidFill>
                <a:latin typeface="Consolas"/>
              </a:rPr>
              <a:t>from</a:t>
            </a:r>
            <a:r>
              <a:rPr sz="1300" dirty="0">
                <a:solidFill>
                  <a:srgbClr val="E8EEF1"/>
                </a:solidFill>
                <a:latin typeface="Consolas"/>
              </a:rPr>
              <a:t> </a:t>
            </a:r>
            <a:r>
              <a:rPr sz="1300" dirty="0">
                <a:solidFill>
                  <a:srgbClr val="FFD27F"/>
                </a:solidFill>
                <a:latin typeface="Consolas"/>
              </a:rPr>
              <a:t>'</a:t>
            </a:r>
            <a:r>
              <a:rPr sz="1300" dirty="0" err="1">
                <a:solidFill>
                  <a:srgbClr val="FFD27F"/>
                </a:solidFill>
                <a:latin typeface="Consolas"/>
              </a:rPr>
              <a:t>url</a:t>
            </a:r>
            <a:r>
              <a:rPr sz="1300" dirty="0">
                <a:solidFill>
                  <a:srgbClr val="FFD27F"/>
                </a:solidFill>
                <a:latin typeface="Consolas"/>
              </a:rPr>
              <a:t>'</a:t>
            </a:r>
            <a:r>
              <a:rPr sz="1300" dirty="0">
                <a:solidFill>
                  <a:srgbClr val="E8EEF1"/>
                </a:solidFill>
                <a:latin typeface="Consolas"/>
              </a:rPr>
              <a:t>;</a:t>
            </a:r>
          </a:p>
          <a:p>
            <a:pPr algn="l"/>
            <a:r>
              <a:rPr sz="1300" dirty="0">
                <a:solidFill>
                  <a:srgbClr val="E8EEF1"/>
                </a:solidFill>
                <a:latin typeface="Consolas"/>
              </a:rPr>
              <a:t> </a:t>
            </a:r>
          </a:p>
          <a:p>
            <a:pPr algn="l"/>
            <a:r>
              <a:rPr sz="1300" b="1" dirty="0">
                <a:solidFill>
                  <a:srgbClr val="5DD8C3"/>
                </a:solidFill>
                <a:latin typeface="Consolas"/>
              </a:rPr>
              <a:t>const</a:t>
            </a:r>
            <a:r>
              <a:rPr sz="1300" dirty="0">
                <a:solidFill>
                  <a:srgbClr val="E8EEF1"/>
                </a:solidFill>
                <a:latin typeface="Consolas"/>
              </a:rPr>
              <a:t> __</a:t>
            </a:r>
            <a:r>
              <a:rPr sz="1300" dirty="0" err="1">
                <a:solidFill>
                  <a:srgbClr val="E8EEF1"/>
                </a:solidFill>
                <a:latin typeface="Consolas"/>
              </a:rPr>
              <a:t>dirname</a:t>
            </a:r>
            <a:r>
              <a:rPr sz="1300" dirty="0">
                <a:solidFill>
                  <a:srgbClr val="E8EEF1"/>
                </a:solidFill>
                <a:latin typeface="Consolas"/>
              </a:rPr>
              <a:t> = </a:t>
            </a:r>
            <a:r>
              <a:rPr sz="1300" dirty="0" err="1">
                <a:solidFill>
                  <a:srgbClr val="E8EEF1"/>
                </a:solidFill>
                <a:latin typeface="Consolas"/>
              </a:rPr>
              <a:t>path.dirname</a:t>
            </a:r>
            <a:r>
              <a:rPr sz="1300" dirty="0">
                <a:solidFill>
                  <a:srgbClr val="E8EEF1"/>
                </a:solidFill>
                <a:latin typeface="Consolas"/>
              </a:rPr>
              <a:t>(</a:t>
            </a:r>
            <a:r>
              <a:rPr sz="1300" dirty="0" err="1">
                <a:solidFill>
                  <a:srgbClr val="E8EEF1"/>
                </a:solidFill>
                <a:latin typeface="Consolas"/>
              </a:rPr>
              <a:t>fileURLToPath</a:t>
            </a:r>
            <a:r>
              <a:rPr sz="1300" dirty="0">
                <a:solidFill>
                  <a:srgbClr val="E8EEF1"/>
                </a:solidFill>
                <a:latin typeface="Consolas"/>
              </a:rPr>
              <a:t>(</a:t>
            </a:r>
            <a:r>
              <a:rPr sz="1300" b="1" dirty="0">
                <a:solidFill>
                  <a:srgbClr val="5DD8C3"/>
                </a:solidFill>
                <a:latin typeface="Consolas"/>
              </a:rPr>
              <a:t>import</a:t>
            </a:r>
            <a:r>
              <a:rPr sz="1300" dirty="0">
                <a:solidFill>
                  <a:srgbClr val="E8EEF1"/>
                </a:solidFill>
                <a:latin typeface="Consolas"/>
              </a:rPr>
              <a:t>.meta.url));</a:t>
            </a:r>
          </a:p>
          <a:p>
            <a:pPr algn="l"/>
            <a:r>
              <a:rPr sz="1300" b="1" dirty="0">
                <a:solidFill>
                  <a:srgbClr val="5DD8C3"/>
                </a:solidFill>
                <a:latin typeface="Consolas"/>
              </a:rPr>
              <a:t>const</a:t>
            </a:r>
            <a:r>
              <a:rPr sz="1300" dirty="0">
                <a:solidFill>
                  <a:srgbClr val="E8EEF1"/>
                </a:solidFill>
                <a:latin typeface="Consolas"/>
              </a:rPr>
              <a:t> </a:t>
            </a:r>
            <a:r>
              <a:rPr sz="1300" dirty="0" err="1">
                <a:solidFill>
                  <a:srgbClr val="E8EEF1"/>
                </a:solidFill>
                <a:latin typeface="Consolas"/>
              </a:rPr>
              <a:t>dataDir</a:t>
            </a:r>
            <a:r>
              <a:rPr sz="1300" dirty="0">
                <a:solidFill>
                  <a:srgbClr val="E8EEF1"/>
                </a:solidFill>
                <a:latin typeface="Consolas"/>
              </a:rPr>
              <a:t> = </a:t>
            </a:r>
            <a:r>
              <a:rPr sz="1300" dirty="0" err="1">
                <a:solidFill>
                  <a:srgbClr val="E8EEF1"/>
                </a:solidFill>
                <a:latin typeface="Consolas"/>
              </a:rPr>
              <a:t>path.join</a:t>
            </a:r>
            <a:r>
              <a:rPr sz="1300" dirty="0">
                <a:solidFill>
                  <a:srgbClr val="E8EEF1"/>
                </a:solidFill>
                <a:latin typeface="Consolas"/>
              </a:rPr>
              <a:t>(__</a:t>
            </a:r>
            <a:r>
              <a:rPr sz="1300" dirty="0" err="1">
                <a:solidFill>
                  <a:srgbClr val="E8EEF1"/>
                </a:solidFill>
                <a:latin typeface="Consolas"/>
              </a:rPr>
              <a:t>dirname</a:t>
            </a:r>
            <a:r>
              <a:rPr sz="1300" dirty="0">
                <a:solidFill>
                  <a:srgbClr val="E8EEF1"/>
                </a:solidFill>
                <a:latin typeface="Consolas"/>
              </a:rPr>
              <a:t>, </a:t>
            </a:r>
            <a:r>
              <a:rPr sz="1300" dirty="0">
                <a:solidFill>
                  <a:srgbClr val="FFD27F"/>
                </a:solidFill>
                <a:latin typeface="Consolas"/>
              </a:rPr>
              <a:t>'../../data'</a:t>
            </a:r>
            <a:r>
              <a:rPr sz="1300" dirty="0">
                <a:solidFill>
                  <a:srgbClr val="E8EEF1"/>
                </a:solidFill>
                <a:latin typeface="Consolas"/>
              </a:rPr>
              <a:t>);</a:t>
            </a:r>
          </a:p>
          <a:p>
            <a:pPr algn="l"/>
            <a:r>
              <a:rPr sz="1300" dirty="0" err="1">
                <a:solidFill>
                  <a:srgbClr val="E8EEF1"/>
                </a:solidFill>
                <a:latin typeface="Consolas"/>
              </a:rPr>
              <a:t>mkdirSync</a:t>
            </a:r>
            <a:r>
              <a:rPr sz="1300" dirty="0">
                <a:solidFill>
                  <a:srgbClr val="E8EEF1"/>
                </a:solidFill>
                <a:latin typeface="Consolas"/>
              </a:rPr>
              <a:t>(</a:t>
            </a:r>
            <a:r>
              <a:rPr sz="1300" dirty="0" err="1">
                <a:solidFill>
                  <a:srgbClr val="E8EEF1"/>
                </a:solidFill>
                <a:latin typeface="Consolas"/>
              </a:rPr>
              <a:t>dataDir</a:t>
            </a:r>
            <a:r>
              <a:rPr sz="1300" dirty="0">
                <a:solidFill>
                  <a:srgbClr val="E8EEF1"/>
                </a:solidFill>
                <a:latin typeface="Consolas"/>
              </a:rPr>
              <a:t>, { recursive: </a:t>
            </a:r>
            <a:r>
              <a:rPr sz="1300" b="1" dirty="0">
                <a:solidFill>
                  <a:srgbClr val="5DD8C3"/>
                </a:solidFill>
                <a:latin typeface="Consolas"/>
              </a:rPr>
              <a:t>true</a:t>
            </a:r>
            <a:r>
              <a:rPr sz="1300" dirty="0">
                <a:solidFill>
                  <a:srgbClr val="E8EEF1"/>
                </a:solidFill>
                <a:latin typeface="Consolas"/>
              </a:rPr>
              <a:t> });</a:t>
            </a:r>
          </a:p>
          <a:p>
            <a:pPr algn="l"/>
            <a:r>
              <a:rPr sz="1300" dirty="0">
                <a:solidFill>
                  <a:srgbClr val="E8EEF1"/>
                </a:solidFill>
                <a:latin typeface="Consolas"/>
              </a:rPr>
              <a:t> </a:t>
            </a:r>
          </a:p>
          <a:p>
            <a:pPr algn="l"/>
            <a:r>
              <a:rPr sz="1300" i="1" dirty="0">
                <a:solidFill>
                  <a:srgbClr val="8893A0"/>
                </a:solidFill>
                <a:latin typeface="Consolas"/>
              </a:rPr>
              <a:t>// top-level await: il modulo </a:t>
            </a:r>
            <a:r>
              <a:rPr sz="1300" i="1" dirty="0" err="1">
                <a:solidFill>
                  <a:srgbClr val="8893A0"/>
                </a:solidFill>
                <a:latin typeface="Consolas"/>
              </a:rPr>
              <a:t>espone</a:t>
            </a:r>
            <a:r>
              <a:rPr sz="1300" i="1" dirty="0">
                <a:solidFill>
                  <a:srgbClr val="8893A0"/>
                </a:solidFill>
                <a:latin typeface="Consolas"/>
              </a:rPr>
              <a:t> </a:t>
            </a:r>
            <a:r>
              <a:rPr sz="1300" i="1" dirty="0" err="1">
                <a:solidFill>
                  <a:srgbClr val="8893A0"/>
                </a:solidFill>
                <a:latin typeface="Consolas"/>
              </a:rPr>
              <a:t>db</a:t>
            </a:r>
            <a:r>
              <a:rPr sz="1300" i="1" dirty="0">
                <a:solidFill>
                  <a:srgbClr val="8893A0"/>
                </a:solidFill>
                <a:latin typeface="Consolas"/>
              </a:rPr>
              <a:t> </a:t>
            </a:r>
            <a:r>
              <a:rPr sz="1300" i="1" dirty="0" err="1">
                <a:solidFill>
                  <a:srgbClr val="8893A0"/>
                </a:solidFill>
                <a:latin typeface="Consolas"/>
              </a:rPr>
              <a:t>gia</a:t>
            </a:r>
            <a:r>
              <a:rPr sz="1300" i="1" dirty="0">
                <a:solidFill>
                  <a:srgbClr val="8893A0"/>
                </a:solidFill>
                <a:latin typeface="Consolas"/>
              </a:rPr>
              <a:t>' pronto</a:t>
            </a:r>
          </a:p>
          <a:p>
            <a:pPr algn="l"/>
            <a:r>
              <a:rPr sz="1300" b="1" dirty="0">
                <a:solidFill>
                  <a:srgbClr val="5DD8C3"/>
                </a:solidFill>
                <a:latin typeface="Consolas"/>
              </a:rPr>
              <a:t>const</a:t>
            </a:r>
            <a:r>
              <a:rPr sz="1300" dirty="0">
                <a:solidFill>
                  <a:srgbClr val="E8EEF1"/>
                </a:solidFill>
                <a:latin typeface="Consolas"/>
              </a:rPr>
              <a:t> </a:t>
            </a:r>
            <a:r>
              <a:rPr sz="1300" dirty="0" err="1">
                <a:solidFill>
                  <a:srgbClr val="E8EEF1"/>
                </a:solidFill>
                <a:latin typeface="Consolas"/>
              </a:rPr>
              <a:t>db</a:t>
            </a:r>
            <a:r>
              <a:rPr sz="1300" dirty="0">
                <a:solidFill>
                  <a:srgbClr val="E8EEF1"/>
                </a:solidFill>
                <a:latin typeface="Consolas"/>
              </a:rPr>
              <a:t> = </a:t>
            </a:r>
            <a:r>
              <a:rPr sz="1300" b="1" dirty="0">
                <a:solidFill>
                  <a:srgbClr val="5DD8C3"/>
                </a:solidFill>
                <a:latin typeface="Consolas"/>
              </a:rPr>
              <a:t>await</a:t>
            </a:r>
            <a:r>
              <a:rPr sz="1300" dirty="0">
                <a:solidFill>
                  <a:srgbClr val="E8EEF1"/>
                </a:solidFill>
                <a:latin typeface="Consolas"/>
              </a:rPr>
              <a:t> open({ filename: </a:t>
            </a:r>
            <a:r>
              <a:rPr sz="1300" dirty="0" err="1">
                <a:solidFill>
                  <a:srgbClr val="E8EEF1"/>
                </a:solidFill>
                <a:latin typeface="Consolas"/>
              </a:rPr>
              <a:t>path.join</a:t>
            </a:r>
            <a:r>
              <a:rPr sz="1300" dirty="0">
                <a:solidFill>
                  <a:srgbClr val="E8EEF1"/>
                </a:solidFill>
                <a:latin typeface="Consolas"/>
              </a:rPr>
              <a:t>(</a:t>
            </a:r>
            <a:r>
              <a:rPr sz="1300" dirty="0" err="1">
                <a:solidFill>
                  <a:srgbClr val="E8EEF1"/>
                </a:solidFill>
                <a:latin typeface="Consolas"/>
              </a:rPr>
              <a:t>dataDir</a:t>
            </a:r>
            <a:r>
              <a:rPr sz="1300" dirty="0">
                <a:solidFill>
                  <a:srgbClr val="E8EEF1"/>
                </a:solidFill>
                <a:latin typeface="Consolas"/>
              </a:rPr>
              <a:t>, </a:t>
            </a:r>
            <a:r>
              <a:rPr sz="1300" dirty="0">
                <a:solidFill>
                  <a:srgbClr val="FFD27F"/>
                </a:solidFill>
                <a:latin typeface="Consolas"/>
              </a:rPr>
              <a:t>'</a:t>
            </a:r>
            <a:r>
              <a:rPr sz="1300" dirty="0" err="1">
                <a:solidFill>
                  <a:srgbClr val="FFD27F"/>
                </a:solidFill>
                <a:latin typeface="Consolas"/>
              </a:rPr>
              <a:t>app.db</a:t>
            </a:r>
            <a:r>
              <a:rPr sz="1300" dirty="0">
                <a:solidFill>
                  <a:srgbClr val="FFD27F"/>
                </a:solidFill>
                <a:latin typeface="Consolas"/>
              </a:rPr>
              <a:t>'</a:t>
            </a:r>
            <a:r>
              <a:rPr sz="1300" dirty="0">
                <a:solidFill>
                  <a:srgbClr val="E8EEF1"/>
                </a:solidFill>
                <a:latin typeface="Consolas"/>
              </a:rPr>
              <a:t>),</a:t>
            </a:r>
          </a:p>
          <a:p>
            <a:pPr algn="l"/>
            <a:r>
              <a:rPr sz="1300" dirty="0">
                <a:solidFill>
                  <a:srgbClr val="E8EEF1"/>
                </a:solidFill>
                <a:latin typeface="Consolas"/>
              </a:rPr>
              <a:t>                        driver: sqlite3.Database });</a:t>
            </a:r>
          </a:p>
          <a:p>
            <a:pPr algn="l"/>
            <a:r>
              <a:rPr sz="1300" dirty="0">
                <a:solidFill>
                  <a:srgbClr val="E8EEF1"/>
                </a:solidFill>
                <a:latin typeface="Consolas"/>
              </a:rPr>
              <a:t> </a:t>
            </a:r>
          </a:p>
          <a:p>
            <a:pPr algn="l"/>
            <a:r>
              <a:rPr sz="1300" b="1" dirty="0">
                <a:solidFill>
                  <a:srgbClr val="5DD8C3"/>
                </a:solidFill>
                <a:latin typeface="Consolas"/>
              </a:rPr>
              <a:t>const</a:t>
            </a:r>
            <a:r>
              <a:rPr sz="1300" dirty="0">
                <a:solidFill>
                  <a:srgbClr val="E8EEF1"/>
                </a:solidFill>
                <a:latin typeface="Consolas"/>
              </a:rPr>
              <a:t> schema = </a:t>
            </a:r>
            <a:r>
              <a:rPr sz="1300" dirty="0" err="1">
                <a:solidFill>
                  <a:srgbClr val="E8EEF1"/>
                </a:solidFill>
                <a:latin typeface="Consolas"/>
              </a:rPr>
              <a:t>readFileSync</a:t>
            </a:r>
            <a:r>
              <a:rPr sz="1300" dirty="0">
                <a:solidFill>
                  <a:srgbClr val="E8EEF1"/>
                </a:solidFill>
                <a:latin typeface="Consolas"/>
              </a:rPr>
              <a:t>(</a:t>
            </a:r>
            <a:r>
              <a:rPr sz="1300" dirty="0" err="1">
                <a:solidFill>
                  <a:srgbClr val="E8EEF1"/>
                </a:solidFill>
                <a:latin typeface="Consolas"/>
              </a:rPr>
              <a:t>path.join</a:t>
            </a:r>
            <a:r>
              <a:rPr sz="1300" dirty="0">
                <a:solidFill>
                  <a:srgbClr val="E8EEF1"/>
                </a:solidFill>
                <a:latin typeface="Consolas"/>
              </a:rPr>
              <a:t>(__</a:t>
            </a:r>
            <a:r>
              <a:rPr sz="1300" dirty="0" err="1">
                <a:solidFill>
                  <a:srgbClr val="E8EEF1"/>
                </a:solidFill>
                <a:latin typeface="Consolas"/>
              </a:rPr>
              <a:t>dirname</a:t>
            </a:r>
            <a:r>
              <a:rPr sz="1300" dirty="0">
                <a:solidFill>
                  <a:srgbClr val="E8EEF1"/>
                </a:solidFill>
                <a:latin typeface="Consolas"/>
              </a:rPr>
              <a:t>, </a:t>
            </a:r>
            <a:r>
              <a:rPr sz="1300" dirty="0">
                <a:solidFill>
                  <a:srgbClr val="FFD27F"/>
                </a:solidFill>
                <a:latin typeface="Consolas"/>
              </a:rPr>
              <a:t>'</a:t>
            </a:r>
            <a:r>
              <a:rPr sz="1300" dirty="0" err="1">
                <a:solidFill>
                  <a:srgbClr val="FFD27F"/>
                </a:solidFill>
                <a:latin typeface="Consolas"/>
              </a:rPr>
              <a:t>schema.sql</a:t>
            </a:r>
            <a:r>
              <a:rPr sz="1300" dirty="0">
                <a:solidFill>
                  <a:srgbClr val="FFD27F"/>
                </a:solidFill>
                <a:latin typeface="Consolas"/>
              </a:rPr>
              <a:t>'</a:t>
            </a:r>
            <a:r>
              <a:rPr sz="1300" dirty="0">
                <a:solidFill>
                  <a:srgbClr val="E8EEF1"/>
                </a:solidFill>
                <a:latin typeface="Consolas"/>
              </a:rPr>
              <a:t>), </a:t>
            </a:r>
            <a:r>
              <a:rPr sz="1300" dirty="0">
                <a:solidFill>
                  <a:srgbClr val="FFD27F"/>
                </a:solidFill>
                <a:latin typeface="Consolas"/>
              </a:rPr>
              <a:t>'utf-8'</a:t>
            </a:r>
            <a:r>
              <a:rPr sz="1300" dirty="0">
                <a:solidFill>
                  <a:srgbClr val="E8EEF1"/>
                </a:solidFill>
                <a:latin typeface="Consolas"/>
              </a:rPr>
              <a:t>);</a:t>
            </a:r>
          </a:p>
          <a:p>
            <a:pPr algn="l"/>
            <a:r>
              <a:rPr sz="1300" b="1" dirty="0">
                <a:solidFill>
                  <a:srgbClr val="5DD8C3"/>
                </a:solidFill>
                <a:latin typeface="Consolas"/>
              </a:rPr>
              <a:t>await</a:t>
            </a:r>
            <a:r>
              <a:rPr sz="1300" dirty="0">
                <a:solidFill>
                  <a:srgbClr val="E8EEF1"/>
                </a:solidFill>
                <a:latin typeface="Consolas"/>
              </a:rPr>
              <a:t> </a:t>
            </a:r>
            <a:r>
              <a:rPr sz="1300" dirty="0" err="1">
                <a:solidFill>
                  <a:srgbClr val="E8EEF1"/>
                </a:solidFill>
                <a:latin typeface="Consolas"/>
              </a:rPr>
              <a:t>db.exec</a:t>
            </a:r>
            <a:r>
              <a:rPr sz="1300" dirty="0">
                <a:solidFill>
                  <a:srgbClr val="E8EEF1"/>
                </a:solidFill>
                <a:latin typeface="Consolas"/>
              </a:rPr>
              <a:t>(schema);</a:t>
            </a:r>
          </a:p>
          <a:p>
            <a:pPr algn="l"/>
            <a:r>
              <a:rPr sz="1300" dirty="0">
                <a:solidFill>
                  <a:srgbClr val="E8EEF1"/>
                </a:solidFill>
                <a:latin typeface="Consolas"/>
              </a:rPr>
              <a:t> </a:t>
            </a:r>
          </a:p>
          <a:p>
            <a:pPr algn="l"/>
            <a:r>
              <a:rPr sz="1300" b="1" dirty="0">
                <a:solidFill>
                  <a:srgbClr val="5DD8C3"/>
                </a:solidFill>
                <a:latin typeface="Consolas"/>
              </a:rPr>
              <a:t>export</a:t>
            </a:r>
            <a:r>
              <a:rPr sz="1300" dirty="0">
                <a:solidFill>
                  <a:srgbClr val="E8EEF1"/>
                </a:solidFill>
                <a:latin typeface="Consolas"/>
              </a:rPr>
              <a:t> </a:t>
            </a:r>
            <a:r>
              <a:rPr sz="1300" b="1" dirty="0">
                <a:solidFill>
                  <a:srgbClr val="5DD8C3"/>
                </a:solidFill>
                <a:latin typeface="Consolas"/>
              </a:rPr>
              <a:t>default</a:t>
            </a:r>
            <a:r>
              <a:rPr sz="1300" dirty="0">
                <a:solidFill>
                  <a:srgbClr val="E8EEF1"/>
                </a:solidFill>
                <a:latin typeface="Consolas"/>
              </a:rPr>
              <a:t> </a:t>
            </a:r>
            <a:r>
              <a:rPr sz="1300" dirty="0" err="1">
                <a:solidFill>
                  <a:srgbClr val="E8EEF1"/>
                </a:solidFill>
                <a:latin typeface="Consolas"/>
              </a:rPr>
              <a:t>db</a:t>
            </a:r>
            <a:r>
              <a:rPr sz="1300" dirty="0">
                <a:solidFill>
                  <a:srgbClr val="E8EEF1"/>
                </a:solidFill>
                <a:latin typeface="Consolas"/>
              </a:rPr>
              <a:t>;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5989320"/>
            <a:ext cx="10058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>
                <a:solidFill>
                  <a:srgbClr val="00A69D"/>
                </a:solidFill>
                <a:latin typeface="Open Sans"/>
              </a:rPr>
              <a:t>▸  CODICE: 04-schema-users/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8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33B8B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1463040"/>
            <a:ext cx="6400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>
                <a:solidFill>
                  <a:srgbClr val="33B8B1"/>
                </a:solidFill>
                <a:latin typeface="Open Sans"/>
              </a:rPr>
              <a:t>SEZIONE  ·  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194560"/>
            <a:ext cx="7863840" cy="2286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Open Sans"/>
              </a:rPr>
              <a:t>Il Repository Pattern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4617720"/>
            <a:ext cx="1371600" cy="54864"/>
          </a:xfrm>
          <a:prstGeom prst="rect">
            <a:avLst/>
          </a:prstGeom>
          <a:solidFill>
            <a:srgbClr val="33B8B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40080" y="4800600"/>
            <a:ext cx="82296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900" b="0">
                <a:solidFill>
                  <a:srgbClr val="80D3CE"/>
                </a:solidFill>
                <a:latin typeface="Open Sans"/>
              </a:rPr>
              <a:t>Tutto il DB in un file solo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0" y="1371600"/>
            <a:ext cx="4114800" cy="4114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20000" b="1">
                <a:solidFill>
                  <a:srgbClr val="303143"/>
                </a:solidFill>
                <a:latin typeface="Open Sans"/>
              </a:rPr>
              <a:t>05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9224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>
                <a:solidFill>
                  <a:srgbClr val="90909B"/>
                </a:solidFill>
                <a:latin typeface="Open Sans"/>
              </a:rPr>
              <a:t>Giorno 2 — Parte 1 / Middleware + SQLite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492240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0">
                <a:solidFill>
                  <a:srgbClr val="90909B"/>
                </a:solidFill>
                <a:latin typeface="Open Sans"/>
              </a:rPr>
              <a:t>19 / 28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329184"/>
          </a:xfrm>
          <a:prstGeom prst="rect">
            <a:avLst/>
          </a:prstGeom>
          <a:solidFill>
            <a:srgbClr val="111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822960" cy="164592"/>
          </a:xfrm>
          <a:prstGeom prst="rect">
            <a:avLst/>
          </a:prstGeom>
          <a:solidFill>
            <a:srgbClr val="33B8B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18288"/>
            <a:ext cx="82296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Open Sans"/>
              </a:rPr>
              <a:t>05 · REPOSITORY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418320" y="18288"/>
            <a:ext cx="26517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>
                <a:solidFill>
                  <a:srgbClr val="80D3CE"/>
                </a:solidFill>
                <a:latin typeface="Open Sans"/>
              </a:rPr>
              <a:t>CORSO NODE.JS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94360"/>
            <a:ext cx="109728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>
                <a:solidFill>
                  <a:srgbClr val="111820"/>
                </a:solidFill>
                <a:latin typeface="Open Sans"/>
              </a:rPr>
              <a:t>Il principio: chi conosce il DB?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1325880"/>
            <a:ext cx="105156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>
                <a:solidFill>
                  <a:srgbClr val="555667"/>
                </a:solidFill>
                <a:latin typeface="Open Sans"/>
              </a:rPr>
              <a:t>Il database lo conosce solo il repository. Tutto il resto chiama funzioni neutre.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>
                <a:solidFill>
                  <a:srgbClr val="90909B"/>
                </a:solidFill>
                <a:latin typeface="Open Sans"/>
              </a:rPr>
              <a:t>Giorno 2 — Parte 1 / Middleware + SQLite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492240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0">
                <a:solidFill>
                  <a:srgbClr val="90909B"/>
                </a:solidFill>
                <a:latin typeface="Open Sans"/>
              </a:rPr>
              <a:t>20 / 28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1828800"/>
            <a:ext cx="10515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>
                <a:solidFill>
                  <a:srgbClr val="00A69D"/>
                </a:solidFill>
                <a:latin typeface="Open Sans"/>
              </a:rPr>
              <a:t>DUE VANTAGGI CONCRETI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194560"/>
            <a:ext cx="521208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>
                <a:solidFill>
                  <a:srgbClr val="111820"/>
                </a:solidFill>
                <a:latin typeface="Open Sans"/>
              </a:rPr>
              <a:t>Manutenibilità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2743200"/>
            <a:ext cx="5212080" cy="2194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>
                <a:solidFill>
                  <a:srgbClr val="555667"/>
                </a:solidFill>
                <a:latin typeface="Open Sans"/>
              </a:rPr>
              <a:t>Cambiare DB significa</a:t>
            </a:r>
          </a:p>
          <a:p>
            <a:pPr algn="l"/>
            <a:r>
              <a:rPr sz="1400" b="0">
                <a:solidFill>
                  <a:srgbClr val="555667"/>
                </a:solidFill>
                <a:latin typeface="Open Sans"/>
              </a:rPr>
              <a:t>riscrivere SOLO il repository.</a:t>
            </a:r>
          </a:p>
          <a:p>
            <a:pPr algn="l"/>
            <a:r>
              <a:rPr sz="1400" b="0">
                <a:solidFill>
                  <a:srgbClr val="555667"/>
                </a:solidFill>
                <a:latin typeface="Open Sans"/>
              </a:rPr>
              <a:t>Route, controller, service</a:t>
            </a:r>
          </a:p>
          <a:p>
            <a:pPr algn="l"/>
            <a:r>
              <a:rPr sz="1400" b="0">
                <a:solidFill>
                  <a:srgbClr val="555667"/>
                </a:solidFill>
                <a:latin typeface="Open Sans"/>
              </a:rPr>
              <a:t>restano intatti.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55080" y="2194560"/>
            <a:ext cx="521208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>
                <a:solidFill>
                  <a:srgbClr val="111820"/>
                </a:solidFill>
                <a:latin typeface="Open Sans"/>
              </a:rPr>
              <a:t>Testabilità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55080" y="2743200"/>
            <a:ext cx="5212080" cy="2194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>
                <a:solidFill>
                  <a:srgbClr val="555667"/>
                </a:solidFill>
                <a:latin typeface="Open Sans"/>
              </a:rPr>
              <a:t>In test si sostituisce il</a:t>
            </a:r>
          </a:p>
          <a:p>
            <a:pPr algn="l"/>
            <a:r>
              <a:rPr sz="1400" b="0">
                <a:solidFill>
                  <a:srgbClr val="555667"/>
                </a:solidFill>
                <a:latin typeface="Open Sans"/>
              </a:rPr>
              <a:t>repository con un mock</a:t>
            </a:r>
          </a:p>
          <a:p>
            <a:pPr algn="l"/>
            <a:r>
              <a:rPr sz="1400" b="0">
                <a:solidFill>
                  <a:srgbClr val="555667"/>
                </a:solidFill>
                <a:latin typeface="Open Sans"/>
              </a:rPr>
              <a:t>che ritorna dati hard-coded.</a:t>
            </a:r>
          </a:p>
          <a:p>
            <a:pPr algn="l"/>
            <a:r>
              <a:rPr sz="1400" b="0">
                <a:solidFill>
                  <a:srgbClr val="555667"/>
                </a:solidFill>
                <a:latin typeface="Open Sans"/>
              </a:rPr>
              <a:t>Niente DB vero nei test.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5074920"/>
            <a:ext cx="10515600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>
                <a:solidFill>
                  <a:srgbClr val="35364A"/>
                </a:solidFill>
                <a:latin typeface="Open Sans"/>
              </a:rPr>
              <a:t>Non è inventato qui: è un pattern architetturale presente</a:t>
            </a:r>
          </a:p>
          <a:p>
            <a:pPr algn="l"/>
            <a:r>
              <a:rPr sz="1500" b="1">
                <a:solidFill>
                  <a:srgbClr val="35364A"/>
                </a:solidFill>
                <a:latin typeface="Open Sans"/>
              </a:rPr>
              <a:t>in qualsiasi linguaggio (Spring, .NET, Django). Imparato qui, lo userai sempre.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329184"/>
          </a:xfrm>
          <a:prstGeom prst="rect">
            <a:avLst/>
          </a:prstGeom>
          <a:solidFill>
            <a:srgbClr val="111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822960" cy="164592"/>
          </a:xfrm>
          <a:prstGeom prst="rect">
            <a:avLst/>
          </a:prstGeom>
          <a:solidFill>
            <a:srgbClr val="33B8B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18288"/>
            <a:ext cx="82296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Open Sans"/>
              </a:rPr>
              <a:t>05 · REPOSITORY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418320" y="18288"/>
            <a:ext cx="26517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>
                <a:solidFill>
                  <a:srgbClr val="80D3CE"/>
                </a:solidFill>
                <a:latin typeface="Open Sans"/>
              </a:rPr>
              <a:t>CORSO NODE.JS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94360"/>
            <a:ext cx="109728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>
                <a:solidFill>
                  <a:srgbClr val="111820"/>
                </a:solidFill>
                <a:latin typeface="Open Sans"/>
              </a:rPr>
              <a:t>userRepository.js — find e create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1325880"/>
            <a:ext cx="105156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>
                <a:solidFill>
                  <a:srgbClr val="555667"/>
                </a:solidFill>
                <a:latin typeface="Open Sans"/>
              </a:rPr>
              <a:t>Le funzioni essenziali per la nostra Auth API.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>
                <a:solidFill>
                  <a:srgbClr val="90909B"/>
                </a:solidFill>
                <a:latin typeface="Open Sans"/>
              </a:rPr>
              <a:t>Giorno 2 — Parte 1 / Middleware + SQLite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492240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0">
                <a:solidFill>
                  <a:srgbClr val="90909B"/>
                </a:solidFill>
                <a:latin typeface="Open Sans"/>
              </a:rPr>
              <a:t>21 / 28</a:t>
            </a:r>
          </a:p>
        </p:txBody>
      </p:sp>
      <p:sp>
        <p:nvSpPr>
          <p:cNvPr id="10" name="Rectangle 9"/>
          <p:cNvSpPr/>
          <p:nvPr/>
        </p:nvSpPr>
        <p:spPr>
          <a:xfrm>
            <a:off x="868680" y="1828800"/>
            <a:ext cx="10515600" cy="4206240"/>
          </a:xfrm>
          <a:prstGeom prst="rect">
            <a:avLst/>
          </a:prstGeom>
          <a:solidFill>
            <a:srgbClr val="0F25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033272" y="1938528"/>
            <a:ext cx="10186416" cy="3986784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300" b="1">
                <a:solidFill>
                  <a:srgbClr val="5DD8C3"/>
                </a:solidFill>
                <a:latin typeface="Consolas"/>
              </a:rPr>
              <a:t>import</a:t>
            </a:r>
            <a:r>
              <a:rPr sz="1300">
                <a:solidFill>
                  <a:srgbClr val="E8EEF1"/>
                </a:solidFill>
                <a:latin typeface="Consolas"/>
              </a:rPr>
              <a:t> db </a:t>
            </a:r>
            <a:r>
              <a:rPr sz="1300" b="1">
                <a:solidFill>
                  <a:srgbClr val="5DD8C3"/>
                </a:solidFill>
                <a:latin typeface="Consolas"/>
              </a:rPr>
              <a:t>from</a:t>
            </a:r>
            <a:r>
              <a:rPr sz="1300">
                <a:solidFill>
                  <a:srgbClr val="E8EEF1"/>
                </a:solidFill>
                <a:latin typeface="Consolas"/>
              </a:rPr>
              <a:t> </a:t>
            </a:r>
            <a:r>
              <a:rPr sz="1300">
                <a:solidFill>
                  <a:srgbClr val="FFD27F"/>
                </a:solidFill>
                <a:latin typeface="Consolas"/>
              </a:rPr>
              <a:t>'../db/connection.js'</a:t>
            </a:r>
            <a:r>
              <a:rPr sz="1300">
                <a:solidFill>
                  <a:srgbClr val="E8EEF1"/>
                </a:solidFill>
                <a:latin typeface="Consolas"/>
              </a:rPr>
              <a:t>;</a:t>
            </a:r>
          </a:p>
          <a:p>
            <a:pPr algn="l"/>
            <a:r>
              <a:rPr sz="1300">
                <a:solidFill>
                  <a:srgbClr val="E8EEF1"/>
                </a:solidFill>
                <a:latin typeface="Consolas"/>
              </a:rPr>
              <a:t> </a:t>
            </a:r>
          </a:p>
          <a:p>
            <a:pPr algn="l"/>
            <a:r>
              <a:rPr sz="1300" b="1">
                <a:solidFill>
                  <a:srgbClr val="5DD8C3"/>
                </a:solidFill>
                <a:latin typeface="Consolas"/>
              </a:rPr>
              <a:t>export</a:t>
            </a:r>
            <a:r>
              <a:rPr sz="1300">
                <a:solidFill>
                  <a:srgbClr val="E8EEF1"/>
                </a:solidFill>
                <a:latin typeface="Consolas"/>
              </a:rPr>
              <a:t> </a:t>
            </a:r>
            <a:r>
              <a:rPr sz="1300" b="1">
                <a:solidFill>
                  <a:srgbClr val="5DD8C3"/>
                </a:solidFill>
                <a:latin typeface="Consolas"/>
              </a:rPr>
              <a:t>async</a:t>
            </a:r>
            <a:r>
              <a:rPr sz="1300">
                <a:solidFill>
                  <a:srgbClr val="E8EEF1"/>
                </a:solidFill>
                <a:latin typeface="Consolas"/>
              </a:rPr>
              <a:t> </a:t>
            </a:r>
            <a:r>
              <a:rPr sz="1300" b="1">
                <a:solidFill>
                  <a:srgbClr val="5DD8C3"/>
                </a:solidFill>
                <a:latin typeface="Consolas"/>
              </a:rPr>
              <a:t>function</a:t>
            </a:r>
            <a:r>
              <a:rPr sz="1300">
                <a:solidFill>
                  <a:srgbClr val="E8EEF1"/>
                </a:solidFill>
                <a:latin typeface="Consolas"/>
              </a:rPr>
              <a:t> findByEmail(email) {</a:t>
            </a:r>
          </a:p>
          <a:p>
            <a:pPr algn="l"/>
            <a:r>
              <a:rPr sz="1300">
                <a:solidFill>
                  <a:srgbClr val="E8EEF1"/>
                </a:solidFill>
                <a:latin typeface="Consolas"/>
              </a:rPr>
              <a:t>  </a:t>
            </a:r>
            <a:r>
              <a:rPr sz="1300" b="1">
                <a:solidFill>
                  <a:srgbClr val="5DD8C3"/>
                </a:solidFill>
                <a:latin typeface="Consolas"/>
              </a:rPr>
              <a:t>return</a:t>
            </a:r>
            <a:r>
              <a:rPr sz="1300">
                <a:solidFill>
                  <a:srgbClr val="E8EEF1"/>
                </a:solidFill>
                <a:latin typeface="Consolas"/>
              </a:rPr>
              <a:t> db.get(</a:t>
            </a:r>
            <a:r>
              <a:rPr sz="1300">
                <a:solidFill>
                  <a:srgbClr val="FFD27F"/>
                </a:solidFill>
                <a:latin typeface="Consolas"/>
              </a:rPr>
              <a:t>'SELECT * FROM users WHERE email = ?'</a:t>
            </a:r>
            <a:r>
              <a:rPr sz="1300">
                <a:solidFill>
                  <a:srgbClr val="E8EEF1"/>
                </a:solidFill>
                <a:latin typeface="Consolas"/>
              </a:rPr>
              <a:t>, email);</a:t>
            </a:r>
          </a:p>
          <a:p>
            <a:pPr algn="l"/>
            <a:r>
              <a:rPr sz="1300">
                <a:solidFill>
                  <a:srgbClr val="E8EEF1"/>
                </a:solidFill>
                <a:latin typeface="Consolas"/>
              </a:rPr>
              <a:t>}</a:t>
            </a:r>
          </a:p>
          <a:p>
            <a:pPr algn="l"/>
            <a:r>
              <a:rPr sz="1300">
                <a:solidFill>
                  <a:srgbClr val="E8EEF1"/>
                </a:solidFill>
                <a:latin typeface="Consolas"/>
              </a:rPr>
              <a:t> </a:t>
            </a:r>
          </a:p>
          <a:p>
            <a:pPr algn="l"/>
            <a:r>
              <a:rPr sz="1300" b="1">
                <a:solidFill>
                  <a:srgbClr val="5DD8C3"/>
                </a:solidFill>
                <a:latin typeface="Consolas"/>
              </a:rPr>
              <a:t>export</a:t>
            </a:r>
            <a:r>
              <a:rPr sz="1300">
                <a:solidFill>
                  <a:srgbClr val="E8EEF1"/>
                </a:solidFill>
                <a:latin typeface="Consolas"/>
              </a:rPr>
              <a:t> </a:t>
            </a:r>
            <a:r>
              <a:rPr sz="1300" b="1">
                <a:solidFill>
                  <a:srgbClr val="5DD8C3"/>
                </a:solidFill>
                <a:latin typeface="Consolas"/>
              </a:rPr>
              <a:t>async</a:t>
            </a:r>
            <a:r>
              <a:rPr sz="1300">
                <a:solidFill>
                  <a:srgbClr val="E8EEF1"/>
                </a:solidFill>
                <a:latin typeface="Consolas"/>
              </a:rPr>
              <a:t> </a:t>
            </a:r>
            <a:r>
              <a:rPr sz="1300" b="1">
                <a:solidFill>
                  <a:srgbClr val="5DD8C3"/>
                </a:solidFill>
                <a:latin typeface="Consolas"/>
              </a:rPr>
              <a:t>function</a:t>
            </a:r>
            <a:r>
              <a:rPr sz="1300">
                <a:solidFill>
                  <a:srgbClr val="E8EEF1"/>
                </a:solidFill>
                <a:latin typeface="Consolas"/>
              </a:rPr>
              <a:t> findById(id) {</a:t>
            </a:r>
          </a:p>
          <a:p>
            <a:pPr algn="l"/>
            <a:r>
              <a:rPr sz="1300">
                <a:solidFill>
                  <a:srgbClr val="E8EEF1"/>
                </a:solidFill>
                <a:latin typeface="Consolas"/>
              </a:rPr>
              <a:t>  </a:t>
            </a:r>
            <a:r>
              <a:rPr sz="1300" b="1">
                <a:solidFill>
                  <a:srgbClr val="5DD8C3"/>
                </a:solidFill>
                <a:latin typeface="Consolas"/>
              </a:rPr>
              <a:t>return</a:t>
            </a:r>
            <a:r>
              <a:rPr sz="1300">
                <a:solidFill>
                  <a:srgbClr val="E8EEF1"/>
                </a:solidFill>
                <a:latin typeface="Consolas"/>
              </a:rPr>
              <a:t> db.get(</a:t>
            </a:r>
            <a:r>
              <a:rPr sz="1300">
                <a:solidFill>
                  <a:srgbClr val="FFD27F"/>
                </a:solidFill>
                <a:latin typeface="Consolas"/>
              </a:rPr>
              <a:t>'SELECT * FROM users WHERE id = ?'</a:t>
            </a:r>
            <a:r>
              <a:rPr sz="1300">
                <a:solidFill>
                  <a:srgbClr val="E8EEF1"/>
                </a:solidFill>
                <a:latin typeface="Consolas"/>
              </a:rPr>
              <a:t>, id);</a:t>
            </a:r>
          </a:p>
          <a:p>
            <a:pPr algn="l"/>
            <a:r>
              <a:rPr sz="1300">
                <a:solidFill>
                  <a:srgbClr val="E8EEF1"/>
                </a:solidFill>
                <a:latin typeface="Consolas"/>
              </a:rPr>
              <a:t>}</a:t>
            </a:r>
          </a:p>
          <a:p>
            <a:pPr algn="l"/>
            <a:r>
              <a:rPr sz="1300">
                <a:solidFill>
                  <a:srgbClr val="E8EEF1"/>
                </a:solidFill>
                <a:latin typeface="Consolas"/>
              </a:rPr>
              <a:t> </a:t>
            </a:r>
          </a:p>
          <a:p>
            <a:pPr algn="l"/>
            <a:r>
              <a:rPr sz="1300" b="1">
                <a:solidFill>
                  <a:srgbClr val="5DD8C3"/>
                </a:solidFill>
                <a:latin typeface="Consolas"/>
              </a:rPr>
              <a:t>export</a:t>
            </a:r>
            <a:r>
              <a:rPr sz="1300">
                <a:solidFill>
                  <a:srgbClr val="E8EEF1"/>
                </a:solidFill>
                <a:latin typeface="Consolas"/>
              </a:rPr>
              <a:t> </a:t>
            </a:r>
            <a:r>
              <a:rPr sz="1300" b="1">
                <a:solidFill>
                  <a:srgbClr val="5DD8C3"/>
                </a:solidFill>
                <a:latin typeface="Consolas"/>
              </a:rPr>
              <a:t>async</a:t>
            </a:r>
            <a:r>
              <a:rPr sz="1300">
                <a:solidFill>
                  <a:srgbClr val="E8EEF1"/>
                </a:solidFill>
                <a:latin typeface="Consolas"/>
              </a:rPr>
              <a:t> </a:t>
            </a:r>
            <a:r>
              <a:rPr sz="1300" b="1">
                <a:solidFill>
                  <a:srgbClr val="5DD8C3"/>
                </a:solidFill>
                <a:latin typeface="Consolas"/>
              </a:rPr>
              <a:t>function</a:t>
            </a:r>
            <a:r>
              <a:rPr sz="1300">
                <a:solidFill>
                  <a:srgbClr val="E8EEF1"/>
                </a:solidFill>
                <a:latin typeface="Consolas"/>
              </a:rPr>
              <a:t> create({ email, passwordHash, name = </a:t>
            </a:r>
            <a:r>
              <a:rPr sz="1300" b="1">
                <a:solidFill>
                  <a:srgbClr val="5DD8C3"/>
                </a:solidFill>
                <a:latin typeface="Consolas"/>
              </a:rPr>
              <a:t>null</a:t>
            </a:r>
            <a:r>
              <a:rPr sz="1300">
                <a:solidFill>
                  <a:srgbClr val="E8EEF1"/>
                </a:solidFill>
                <a:latin typeface="Consolas"/>
              </a:rPr>
              <a:t>, role = </a:t>
            </a:r>
            <a:r>
              <a:rPr sz="1300">
                <a:solidFill>
                  <a:srgbClr val="FFD27F"/>
                </a:solidFill>
                <a:latin typeface="Consolas"/>
              </a:rPr>
              <a:t>'user'</a:t>
            </a:r>
            <a:r>
              <a:rPr sz="1300">
                <a:solidFill>
                  <a:srgbClr val="E8EEF1"/>
                </a:solidFill>
                <a:latin typeface="Consolas"/>
              </a:rPr>
              <a:t> }) {</a:t>
            </a:r>
          </a:p>
          <a:p>
            <a:pPr algn="l"/>
            <a:r>
              <a:rPr sz="1300">
                <a:solidFill>
                  <a:srgbClr val="E8EEF1"/>
                </a:solidFill>
                <a:latin typeface="Consolas"/>
              </a:rPr>
              <a:t>  </a:t>
            </a:r>
            <a:r>
              <a:rPr sz="1300" b="1">
                <a:solidFill>
                  <a:srgbClr val="5DD8C3"/>
                </a:solidFill>
                <a:latin typeface="Consolas"/>
              </a:rPr>
              <a:t>const</a:t>
            </a:r>
            <a:r>
              <a:rPr sz="1300">
                <a:solidFill>
                  <a:srgbClr val="E8EEF1"/>
                </a:solidFill>
                <a:latin typeface="Consolas"/>
              </a:rPr>
              <a:t> info = </a:t>
            </a:r>
            <a:r>
              <a:rPr sz="1300" b="1">
                <a:solidFill>
                  <a:srgbClr val="5DD8C3"/>
                </a:solidFill>
                <a:latin typeface="Consolas"/>
              </a:rPr>
              <a:t>await</a:t>
            </a:r>
            <a:r>
              <a:rPr sz="1300">
                <a:solidFill>
                  <a:srgbClr val="E8EEF1"/>
                </a:solidFill>
                <a:latin typeface="Consolas"/>
              </a:rPr>
              <a:t> db.run(</a:t>
            </a:r>
          </a:p>
          <a:p>
            <a:pPr algn="l"/>
            <a:r>
              <a:rPr sz="1300">
                <a:solidFill>
                  <a:srgbClr val="E8EEF1"/>
                </a:solidFill>
                <a:latin typeface="Consolas"/>
              </a:rPr>
              <a:t>    </a:t>
            </a:r>
            <a:r>
              <a:rPr sz="1300">
                <a:solidFill>
                  <a:srgbClr val="FFD27F"/>
                </a:solidFill>
                <a:latin typeface="Consolas"/>
              </a:rPr>
              <a:t>`</a:t>
            </a:r>
            <a:r>
              <a:rPr sz="1300" b="1">
                <a:solidFill>
                  <a:srgbClr val="5DD8C3"/>
                </a:solidFill>
                <a:latin typeface="Consolas"/>
              </a:rPr>
              <a:t>INSERT</a:t>
            </a:r>
            <a:r>
              <a:rPr sz="1300">
                <a:solidFill>
                  <a:srgbClr val="E8EEF1"/>
                </a:solidFill>
                <a:latin typeface="Consolas"/>
              </a:rPr>
              <a:t> </a:t>
            </a:r>
            <a:r>
              <a:rPr sz="1300" b="1">
                <a:solidFill>
                  <a:srgbClr val="5DD8C3"/>
                </a:solidFill>
                <a:latin typeface="Consolas"/>
              </a:rPr>
              <a:t>INTO</a:t>
            </a:r>
            <a:r>
              <a:rPr sz="1300">
                <a:solidFill>
                  <a:srgbClr val="E8EEF1"/>
                </a:solidFill>
                <a:latin typeface="Consolas"/>
              </a:rPr>
              <a:t> users (email, password_hash, name, role)</a:t>
            </a:r>
          </a:p>
          <a:p>
            <a:pPr algn="l"/>
            <a:r>
              <a:rPr sz="1300">
                <a:solidFill>
                  <a:srgbClr val="E8EEF1"/>
                </a:solidFill>
                <a:latin typeface="Consolas"/>
              </a:rPr>
              <a:t>     </a:t>
            </a:r>
            <a:r>
              <a:rPr sz="1300" b="1">
                <a:solidFill>
                  <a:srgbClr val="5DD8C3"/>
                </a:solidFill>
                <a:latin typeface="Consolas"/>
              </a:rPr>
              <a:t>VALUES</a:t>
            </a:r>
            <a:r>
              <a:rPr sz="1300">
                <a:solidFill>
                  <a:srgbClr val="E8EEF1"/>
                </a:solidFill>
                <a:latin typeface="Consolas"/>
              </a:rPr>
              <a:t> (?, ?, ?, ?)</a:t>
            </a:r>
            <a:r>
              <a:rPr sz="1300">
                <a:solidFill>
                  <a:srgbClr val="FFD27F"/>
                </a:solidFill>
                <a:latin typeface="Consolas"/>
              </a:rPr>
              <a:t>`</a:t>
            </a:r>
            <a:r>
              <a:rPr sz="1300">
                <a:solidFill>
                  <a:srgbClr val="E8EEF1"/>
                </a:solidFill>
                <a:latin typeface="Consolas"/>
              </a:rPr>
              <a:t>,</a:t>
            </a:r>
          </a:p>
          <a:p>
            <a:pPr algn="l"/>
            <a:r>
              <a:rPr sz="1300">
                <a:solidFill>
                  <a:srgbClr val="E8EEF1"/>
                </a:solidFill>
                <a:latin typeface="Consolas"/>
              </a:rPr>
              <a:t>    email, passwordHash, name, role);</a:t>
            </a:r>
          </a:p>
          <a:p>
            <a:pPr algn="l"/>
            <a:r>
              <a:rPr sz="1300">
                <a:solidFill>
                  <a:srgbClr val="E8EEF1"/>
                </a:solidFill>
                <a:latin typeface="Consolas"/>
              </a:rPr>
              <a:t>  </a:t>
            </a:r>
            <a:r>
              <a:rPr sz="1300" b="1">
                <a:solidFill>
                  <a:srgbClr val="5DD8C3"/>
                </a:solidFill>
                <a:latin typeface="Consolas"/>
              </a:rPr>
              <a:t>return</a:t>
            </a:r>
            <a:r>
              <a:rPr sz="1300">
                <a:solidFill>
                  <a:srgbClr val="E8EEF1"/>
                </a:solidFill>
                <a:latin typeface="Consolas"/>
              </a:rPr>
              <a:t> findById(info.lastID);  </a:t>
            </a:r>
            <a:r>
              <a:rPr sz="1300" i="1">
                <a:solidFill>
                  <a:srgbClr val="8893A0"/>
                </a:solidFill>
                <a:latin typeface="Consolas"/>
              </a:rPr>
              <a:t>// sqlite usa lastID</a:t>
            </a:r>
          </a:p>
          <a:p>
            <a:pPr algn="l"/>
            <a:r>
              <a:rPr sz="1300">
                <a:solidFill>
                  <a:srgbClr val="E8EEF1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329184"/>
          </a:xfrm>
          <a:prstGeom prst="rect">
            <a:avLst/>
          </a:prstGeom>
          <a:solidFill>
            <a:srgbClr val="111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822960" cy="164592"/>
          </a:xfrm>
          <a:prstGeom prst="rect">
            <a:avLst/>
          </a:prstGeom>
          <a:solidFill>
            <a:srgbClr val="33B8B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18288"/>
            <a:ext cx="82296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Open Sans"/>
              </a:rPr>
              <a:t>05 · REPOSITORY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418320" y="18288"/>
            <a:ext cx="26517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>
                <a:solidFill>
                  <a:srgbClr val="80D3CE"/>
                </a:solidFill>
                <a:latin typeface="Open Sans"/>
              </a:rPr>
              <a:t>CORSO NODE.JS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94360"/>
            <a:ext cx="109728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>
                <a:solidFill>
                  <a:srgbClr val="111820"/>
                </a:solidFill>
                <a:latin typeface="Open Sans"/>
              </a:rPr>
              <a:t>userRepository.js — update e delete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1325880"/>
            <a:ext cx="105156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>
                <a:solidFill>
                  <a:srgbClr val="555667"/>
                </a:solidFill>
                <a:latin typeface="Open Sans"/>
              </a:rPr>
              <a:t>Update parziale costruito dinamicamente, delete con conferma.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>
                <a:solidFill>
                  <a:srgbClr val="90909B"/>
                </a:solidFill>
                <a:latin typeface="Open Sans"/>
              </a:rPr>
              <a:t>Giorno 2 — Parte 1 / Middleware + SQLite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492240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0">
                <a:solidFill>
                  <a:srgbClr val="90909B"/>
                </a:solidFill>
                <a:latin typeface="Open Sans"/>
              </a:rPr>
              <a:t>22 / 28</a:t>
            </a:r>
          </a:p>
        </p:txBody>
      </p:sp>
      <p:sp>
        <p:nvSpPr>
          <p:cNvPr id="10" name="Rectangle 9"/>
          <p:cNvSpPr/>
          <p:nvPr/>
        </p:nvSpPr>
        <p:spPr>
          <a:xfrm>
            <a:off x="868680" y="1828800"/>
            <a:ext cx="10515600" cy="4206240"/>
          </a:xfrm>
          <a:prstGeom prst="rect">
            <a:avLst/>
          </a:prstGeom>
          <a:solidFill>
            <a:srgbClr val="0F25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033272" y="1938528"/>
            <a:ext cx="10186416" cy="3986784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300" b="1">
                <a:solidFill>
                  <a:srgbClr val="5DD8C3"/>
                </a:solidFill>
                <a:latin typeface="Consolas"/>
              </a:rPr>
              <a:t>export</a:t>
            </a:r>
            <a:r>
              <a:rPr sz="1300">
                <a:solidFill>
                  <a:srgbClr val="E8EEF1"/>
                </a:solidFill>
                <a:latin typeface="Consolas"/>
              </a:rPr>
              <a:t> </a:t>
            </a:r>
            <a:r>
              <a:rPr sz="1300" b="1">
                <a:solidFill>
                  <a:srgbClr val="5DD8C3"/>
                </a:solidFill>
                <a:latin typeface="Consolas"/>
              </a:rPr>
              <a:t>async</a:t>
            </a:r>
            <a:r>
              <a:rPr sz="1300">
                <a:solidFill>
                  <a:srgbClr val="E8EEF1"/>
                </a:solidFill>
                <a:latin typeface="Consolas"/>
              </a:rPr>
              <a:t> </a:t>
            </a:r>
            <a:r>
              <a:rPr sz="1300" b="1">
                <a:solidFill>
                  <a:srgbClr val="5DD8C3"/>
                </a:solidFill>
                <a:latin typeface="Consolas"/>
              </a:rPr>
              <a:t>function</a:t>
            </a:r>
            <a:r>
              <a:rPr sz="1300">
                <a:solidFill>
                  <a:srgbClr val="E8EEF1"/>
                </a:solidFill>
                <a:latin typeface="Consolas"/>
              </a:rPr>
              <a:t> update(id, data) {</a:t>
            </a:r>
          </a:p>
          <a:p>
            <a:pPr algn="l"/>
            <a:r>
              <a:rPr sz="1300">
                <a:solidFill>
                  <a:srgbClr val="E8EEF1"/>
                </a:solidFill>
                <a:latin typeface="Consolas"/>
              </a:rPr>
              <a:t>  </a:t>
            </a:r>
            <a:r>
              <a:rPr sz="1300" b="1">
                <a:solidFill>
                  <a:srgbClr val="5DD8C3"/>
                </a:solidFill>
                <a:latin typeface="Consolas"/>
              </a:rPr>
              <a:t>const</a:t>
            </a:r>
            <a:r>
              <a:rPr sz="1300">
                <a:solidFill>
                  <a:srgbClr val="E8EEF1"/>
                </a:solidFill>
                <a:latin typeface="Consolas"/>
              </a:rPr>
              <a:t> fields = []; </a:t>
            </a:r>
            <a:r>
              <a:rPr sz="1300" b="1">
                <a:solidFill>
                  <a:srgbClr val="5DD8C3"/>
                </a:solidFill>
                <a:latin typeface="Consolas"/>
              </a:rPr>
              <a:t>const</a:t>
            </a:r>
            <a:r>
              <a:rPr sz="1300">
                <a:solidFill>
                  <a:srgbClr val="E8EEF1"/>
                </a:solidFill>
                <a:latin typeface="Consolas"/>
              </a:rPr>
              <a:t> values = [];</a:t>
            </a:r>
          </a:p>
          <a:p>
            <a:pPr algn="l"/>
            <a:r>
              <a:rPr sz="1300">
                <a:solidFill>
                  <a:srgbClr val="E8EEF1"/>
                </a:solidFill>
                <a:latin typeface="Consolas"/>
              </a:rPr>
              <a:t> </a:t>
            </a:r>
          </a:p>
          <a:p>
            <a:pPr algn="l"/>
            <a:r>
              <a:rPr sz="1300">
                <a:solidFill>
                  <a:srgbClr val="E8EEF1"/>
                </a:solidFill>
                <a:latin typeface="Consolas"/>
              </a:rPr>
              <a:t>  </a:t>
            </a:r>
            <a:r>
              <a:rPr sz="1300" b="1">
                <a:solidFill>
                  <a:srgbClr val="5DD8C3"/>
                </a:solidFill>
                <a:latin typeface="Consolas"/>
              </a:rPr>
              <a:t>if</a:t>
            </a:r>
            <a:r>
              <a:rPr sz="1300">
                <a:solidFill>
                  <a:srgbClr val="E8EEF1"/>
                </a:solidFill>
                <a:latin typeface="Consolas"/>
              </a:rPr>
              <a:t> (data.name !== </a:t>
            </a:r>
            <a:r>
              <a:rPr sz="1300" b="1">
                <a:solidFill>
                  <a:srgbClr val="5DD8C3"/>
                </a:solidFill>
                <a:latin typeface="Consolas"/>
              </a:rPr>
              <a:t>undefined</a:t>
            </a:r>
            <a:r>
              <a:rPr sz="1300">
                <a:solidFill>
                  <a:srgbClr val="E8EEF1"/>
                </a:solidFill>
                <a:latin typeface="Consolas"/>
              </a:rPr>
              <a:t>) { fields.push(</a:t>
            </a:r>
            <a:r>
              <a:rPr sz="1300">
                <a:solidFill>
                  <a:srgbClr val="FFD27F"/>
                </a:solidFill>
                <a:latin typeface="Consolas"/>
              </a:rPr>
              <a:t>'name = ?'</a:t>
            </a:r>
            <a:r>
              <a:rPr sz="1300">
                <a:solidFill>
                  <a:srgbClr val="E8EEF1"/>
                </a:solidFill>
                <a:latin typeface="Consolas"/>
              </a:rPr>
              <a:t>);          values.push(data.name); }</a:t>
            </a:r>
          </a:p>
          <a:p>
            <a:pPr algn="l"/>
            <a:r>
              <a:rPr sz="1300">
                <a:solidFill>
                  <a:srgbClr val="E8EEF1"/>
                </a:solidFill>
                <a:latin typeface="Consolas"/>
              </a:rPr>
              <a:t>  </a:t>
            </a:r>
            <a:r>
              <a:rPr sz="1300" b="1">
                <a:solidFill>
                  <a:srgbClr val="5DD8C3"/>
                </a:solidFill>
                <a:latin typeface="Consolas"/>
              </a:rPr>
              <a:t>if</a:t>
            </a:r>
            <a:r>
              <a:rPr sz="1300">
                <a:solidFill>
                  <a:srgbClr val="E8EEF1"/>
                </a:solidFill>
                <a:latin typeface="Consolas"/>
              </a:rPr>
              <a:t> (data.passwordHash      ) { fields.push(</a:t>
            </a:r>
            <a:r>
              <a:rPr sz="1300">
                <a:solidFill>
                  <a:srgbClr val="FFD27F"/>
                </a:solidFill>
                <a:latin typeface="Consolas"/>
              </a:rPr>
              <a:t>'password_hash = ?'</a:t>
            </a:r>
            <a:r>
              <a:rPr sz="1300">
                <a:solidFill>
                  <a:srgbClr val="E8EEF1"/>
                </a:solidFill>
                <a:latin typeface="Consolas"/>
              </a:rPr>
              <a:t>); values.push(data.passwordHash); }</a:t>
            </a:r>
          </a:p>
          <a:p>
            <a:pPr algn="l"/>
            <a:r>
              <a:rPr sz="1300">
                <a:solidFill>
                  <a:srgbClr val="E8EEF1"/>
                </a:solidFill>
                <a:latin typeface="Consolas"/>
              </a:rPr>
              <a:t>  </a:t>
            </a:r>
            <a:r>
              <a:rPr sz="1300" b="1">
                <a:solidFill>
                  <a:srgbClr val="5DD8C3"/>
                </a:solidFill>
                <a:latin typeface="Consolas"/>
              </a:rPr>
              <a:t>if</a:t>
            </a:r>
            <a:r>
              <a:rPr sz="1300">
                <a:solidFill>
                  <a:srgbClr val="E8EEF1"/>
                </a:solidFill>
                <a:latin typeface="Consolas"/>
              </a:rPr>
              <a:t> (data.role              ) { fields.push(</a:t>
            </a:r>
            <a:r>
              <a:rPr sz="1300">
                <a:solidFill>
                  <a:srgbClr val="FFD27F"/>
                </a:solidFill>
                <a:latin typeface="Consolas"/>
              </a:rPr>
              <a:t>'role = ?'</a:t>
            </a:r>
            <a:r>
              <a:rPr sz="1300">
                <a:solidFill>
                  <a:srgbClr val="E8EEF1"/>
                </a:solidFill>
                <a:latin typeface="Consolas"/>
              </a:rPr>
              <a:t>);          values.push(data.role); }</a:t>
            </a:r>
          </a:p>
          <a:p>
            <a:pPr algn="l"/>
            <a:r>
              <a:rPr sz="1300">
                <a:solidFill>
                  <a:srgbClr val="E8EEF1"/>
                </a:solidFill>
                <a:latin typeface="Consolas"/>
              </a:rPr>
              <a:t> </a:t>
            </a:r>
          </a:p>
          <a:p>
            <a:pPr algn="l"/>
            <a:r>
              <a:rPr sz="1300">
                <a:solidFill>
                  <a:srgbClr val="E8EEF1"/>
                </a:solidFill>
                <a:latin typeface="Consolas"/>
              </a:rPr>
              <a:t>  </a:t>
            </a:r>
            <a:r>
              <a:rPr sz="1300" b="1">
                <a:solidFill>
                  <a:srgbClr val="5DD8C3"/>
                </a:solidFill>
                <a:latin typeface="Consolas"/>
              </a:rPr>
              <a:t>if</a:t>
            </a:r>
            <a:r>
              <a:rPr sz="1300">
                <a:solidFill>
                  <a:srgbClr val="E8EEF1"/>
                </a:solidFill>
                <a:latin typeface="Consolas"/>
              </a:rPr>
              <a:t> (fields.length === 0) </a:t>
            </a:r>
            <a:r>
              <a:rPr sz="1300" b="1">
                <a:solidFill>
                  <a:srgbClr val="5DD8C3"/>
                </a:solidFill>
                <a:latin typeface="Consolas"/>
              </a:rPr>
              <a:t>return</a:t>
            </a:r>
            <a:r>
              <a:rPr sz="1300">
                <a:solidFill>
                  <a:srgbClr val="E8EEF1"/>
                </a:solidFill>
                <a:latin typeface="Consolas"/>
              </a:rPr>
              <a:t> findById(id);</a:t>
            </a:r>
          </a:p>
          <a:p>
            <a:pPr algn="l"/>
            <a:r>
              <a:rPr sz="1300">
                <a:solidFill>
                  <a:srgbClr val="E8EEF1"/>
                </a:solidFill>
                <a:latin typeface="Consolas"/>
              </a:rPr>
              <a:t> </a:t>
            </a:r>
          </a:p>
          <a:p>
            <a:pPr algn="l"/>
            <a:r>
              <a:rPr sz="1300">
                <a:solidFill>
                  <a:srgbClr val="E8EEF1"/>
                </a:solidFill>
                <a:latin typeface="Consolas"/>
              </a:rPr>
              <a:t>  fields.push(</a:t>
            </a:r>
            <a:r>
              <a:rPr sz="1300">
                <a:solidFill>
                  <a:srgbClr val="FFD27F"/>
                </a:solidFill>
                <a:latin typeface="Consolas"/>
              </a:rPr>
              <a:t>"updated_at = CURRENT_TIMESTAMP"</a:t>
            </a:r>
            <a:r>
              <a:rPr sz="1300">
                <a:solidFill>
                  <a:srgbClr val="E8EEF1"/>
                </a:solidFill>
                <a:latin typeface="Consolas"/>
              </a:rPr>
              <a:t>);</a:t>
            </a:r>
          </a:p>
          <a:p>
            <a:pPr algn="l"/>
            <a:r>
              <a:rPr sz="1300">
                <a:solidFill>
                  <a:srgbClr val="E8EEF1"/>
                </a:solidFill>
                <a:latin typeface="Consolas"/>
              </a:rPr>
              <a:t>  values.push(id);</a:t>
            </a:r>
          </a:p>
          <a:p>
            <a:pPr algn="l"/>
            <a:r>
              <a:rPr sz="1300">
                <a:solidFill>
                  <a:srgbClr val="E8EEF1"/>
                </a:solidFill>
                <a:latin typeface="Consolas"/>
              </a:rPr>
              <a:t> </a:t>
            </a:r>
          </a:p>
          <a:p>
            <a:pPr algn="l"/>
            <a:r>
              <a:rPr sz="1300">
                <a:solidFill>
                  <a:srgbClr val="E8EEF1"/>
                </a:solidFill>
                <a:latin typeface="Consolas"/>
              </a:rPr>
              <a:t>  </a:t>
            </a:r>
            <a:r>
              <a:rPr sz="1300" b="1">
                <a:solidFill>
                  <a:srgbClr val="5DD8C3"/>
                </a:solidFill>
                <a:latin typeface="Consolas"/>
              </a:rPr>
              <a:t>await</a:t>
            </a:r>
            <a:r>
              <a:rPr sz="1300">
                <a:solidFill>
                  <a:srgbClr val="E8EEF1"/>
                </a:solidFill>
                <a:latin typeface="Consolas"/>
              </a:rPr>
              <a:t> db.run(</a:t>
            </a:r>
            <a:r>
              <a:rPr sz="1300">
                <a:solidFill>
                  <a:srgbClr val="FFD27F"/>
                </a:solidFill>
                <a:latin typeface="Consolas"/>
              </a:rPr>
              <a:t>`UPDATE users SET ${fields.join(', ')} WHERE id = ?`</a:t>
            </a:r>
            <a:r>
              <a:rPr sz="1300">
                <a:solidFill>
                  <a:srgbClr val="E8EEF1"/>
                </a:solidFill>
                <a:latin typeface="Consolas"/>
              </a:rPr>
              <a:t>, ...values);</a:t>
            </a:r>
          </a:p>
          <a:p>
            <a:pPr algn="l"/>
            <a:r>
              <a:rPr sz="1300">
                <a:solidFill>
                  <a:srgbClr val="E8EEF1"/>
                </a:solidFill>
                <a:latin typeface="Consolas"/>
              </a:rPr>
              <a:t>  </a:t>
            </a:r>
            <a:r>
              <a:rPr sz="1300" b="1">
                <a:solidFill>
                  <a:srgbClr val="5DD8C3"/>
                </a:solidFill>
                <a:latin typeface="Consolas"/>
              </a:rPr>
              <a:t>return</a:t>
            </a:r>
            <a:r>
              <a:rPr sz="1300">
                <a:solidFill>
                  <a:srgbClr val="E8EEF1"/>
                </a:solidFill>
                <a:latin typeface="Consolas"/>
              </a:rPr>
              <a:t> findById(id);</a:t>
            </a:r>
          </a:p>
          <a:p>
            <a:pPr algn="l"/>
            <a:r>
              <a:rPr sz="1300">
                <a:solidFill>
                  <a:srgbClr val="E8EEF1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329184"/>
          </a:xfrm>
          <a:prstGeom prst="rect">
            <a:avLst/>
          </a:prstGeom>
          <a:solidFill>
            <a:srgbClr val="111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822960" cy="164592"/>
          </a:xfrm>
          <a:prstGeom prst="rect">
            <a:avLst/>
          </a:prstGeom>
          <a:solidFill>
            <a:srgbClr val="33B8B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18288"/>
            <a:ext cx="82296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Open Sans"/>
              </a:rPr>
              <a:t>05 · REPOSITORY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418320" y="18288"/>
            <a:ext cx="26517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>
                <a:solidFill>
                  <a:srgbClr val="80D3CE"/>
                </a:solidFill>
                <a:latin typeface="Open Sans"/>
              </a:rPr>
              <a:t>CORSO NODE.JS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94360"/>
            <a:ext cx="109728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>
                <a:solidFill>
                  <a:srgbClr val="111820"/>
                </a:solidFill>
                <a:latin typeface="Open Sans"/>
              </a:rPr>
              <a:t>Refactor: dal CRUD in-memory a SQLite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1325880"/>
            <a:ext cx="105156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>
                <a:solidFill>
                  <a:srgbClr val="555667"/>
                </a:solidFill>
                <a:latin typeface="Open Sans"/>
              </a:rPr>
              <a:t>La route è praticamente identica. Cambia solo l'import.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>
                <a:solidFill>
                  <a:srgbClr val="90909B"/>
                </a:solidFill>
                <a:latin typeface="Open Sans"/>
              </a:rPr>
              <a:t>Giorno 2 — Parte 1 / Middleware + SQLite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492240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0">
                <a:solidFill>
                  <a:srgbClr val="90909B"/>
                </a:solidFill>
                <a:latin typeface="Open Sans"/>
              </a:rPr>
              <a:t>23 / 28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1828800"/>
            <a:ext cx="5212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>
                <a:solidFill>
                  <a:srgbClr val="00A69D"/>
                </a:solidFill>
                <a:latin typeface="Open Sans"/>
              </a:rPr>
              <a:t>PRIMA (in-memory)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68680" y="2148840"/>
            <a:ext cx="5212080" cy="2377440"/>
          </a:xfrm>
          <a:prstGeom prst="rect">
            <a:avLst/>
          </a:prstGeom>
          <a:solidFill>
            <a:srgbClr val="0F25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033272" y="2258568"/>
            <a:ext cx="4882896" cy="2157984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300" b="1">
                <a:solidFill>
                  <a:srgbClr val="5DD8C3"/>
                </a:solidFill>
                <a:latin typeface="Consolas"/>
              </a:rPr>
              <a:t>import</a:t>
            </a:r>
            <a:r>
              <a:rPr sz="1300">
                <a:solidFill>
                  <a:srgbClr val="E8EEF1"/>
                </a:solidFill>
                <a:latin typeface="Consolas"/>
              </a:rPr>
              <a:t> * </a:t>
            </a:r>
            <a:r>
              <a:rPr sz="1300" b="1">
                <a:solidFill>
                  <a:srgbClr val="5DD8C3"/>
                </a:solidFill>
                <a:latin typeface="Consolas"/>
              </a:rPr>
              <a:t>as</a:t>
            </a:r>
            <a:r>
              <a:rPr sz="1300">
                <a:solidFill>
                  <a:srgbClr val="E8EEF1"/>
                </a:solidFill>
                <a:latin typeface="Consolas"/>
              </a:rPr>
              <a:t> store</a:t>
            </a:r>
          </a:p>
          <a:p>
            <a:pPr algn="l"/>
            <a:r>
              <a:rPr sz="1300">
                <a:solidFill>
                  <a:srgbClr val="E8EEF1"/>
                </a:solidFill>
                <a:latin typeface="Consolas"/>
              </a:rPr>
              <a:t>  </a:t>
            </a:r>
            <a:r>
              <a:rPr sz="1300" b="1">
                <a:solidFill>
                  <a:srgbClr val="5DD8C3"/>
                </a:solidFill>
                <a:latin typeface="Consolas"/>
              </a:rPr>
              <a:t>from</a:t>
            </a:r>
            <a:r>
              <a:rPr sz="1300">
                <a:solidFill>
                  <a:srgbClr val="E8EEF1"/>
                </a:solidFill>
                <a:latin typeface="Consolas"/>
              </a:rPr>
              <a:t> </a:t>
            </a:r>
            <a:r>
              <a:rPr sz="1300">
                <a:solidFill>
                  <a:srgbClr val="FFD27F"/>
                </a:solidFill>
                <a:latin typeface="Consolas"/>
              </a:rPr>
              <a:t>'../data/userStore.js'</a:t>
            </a:r>
            <a:r>
              <a:rPr sz="1300">
                <a:solidFill>
                  <a:srgbClr val="E8EEF1"/>
                </a:solidFill>
                <a:latin typeface="Consolas"/>
              </a:rPr>
              <a:t>;</a:t>
            </a:r>
          </a:p>
          <a:p>
            <a:pPr algn="l"/>
            <a:r>
              <a:rPr sz="1300">
                <a:solidFill>
                  <a:srgbClr val="E8EEF1"/>
                </a:solidFill>
                <a:latin typeface="Consolas"/>
              </a:rPr>
              <a:t> </a:t>
            </a:r>
          </a:p>
          <a:p>
            <a:pPr algn="l"/>
            <a:r>
              <a:rPr sz="1300">
                <a:solidFill>
                  <a:srgbClr val="E8EEF1"/>
                </a:solidFill>
                <a:latin typeface="Consolas"/>
              </a:rPr>
              <a:t>router.get(</a:t>
            </a:r>
            <a:r>
              <a:rPr sz="1300">
                <a:solidFill>
                  <a:srgbClr val="FFD27F"/>
                </a:solidFill>
                <a:latin typeface="Consolas"/>
              </a:rPr>
              <a:t>'/:id'</a:t>
            </a:r>
            <a:r>
              <a:rPr sz="1300">
                <a:solidFill>
                  <a:srgbClr val="E8EEF1"/>
                </a:solidFill>
                <a:latin typeface="Consolas"/>
              </a:rPr>
              <a:t>, (req, res) =&gt; {</a:t>
            </a:r>
          </a:p>
          <a:p>
            <a:pPr algn="l"/>
            <a:r>
              <a:rPr sz="1300">
                <a:solidFill>
                  <a:srgbClr val="E8EEF1"/>
                </a:solidFill>
                <a:latin typeface="Consolas"/>
              </a:rPr>
              <a:t>  </a:t>
            </a:r>
            <a:r>
              <a:rPr sz="1300" b="1">
                <a:solidFill>
                  <a:srgbClr val="5DD8C3"/>
                </a:solidFill>
                <a:latin typeface="Consolas"/>
              </a:rPr>
              <a:t>const</a:t>
            </a:r>
            <a:r>
              <a:rPr sz="1300">
                <a:solidFill>
                  <a:srgbClr val="E8EEF1"/>
                </a:solidFill>
                <a:latin typeface="Consolas"/>
              </a:rPr>
              <a:t> user = store.findById(</a:t>
            </a:r>
          </a:p>
          <a:p>
            <a:pPr algn="l"/>
            <a:r>
              <a:rPr sz="1300">
                <a:solidFill>
                  <a:srgbClr val="E8EEF1"/>
                </a:solidFill>
                <a:latin typeface="Consolas"/>
              </a:rPr>
              <a:t>    req.params.id);</a:t>
            </a:r>
          </a:p>
          <a:p>
            <a:pPr algn="l"/>
            <a:r>
              <a:rPr sz="1300">
                <a:solidFill>
                  <a:srgbClr val="E8EEF1"/>
                </a:solidFill>
                <a:latin typeface="Consolas"/>
              </a:rPr>
              <a:t>  </a:t>
            </a:r>
            <a:r>
              <a:rPr sz="1300" b="1">
                <a:solidFill>
                  <a:srgbClr val="5DD8C3"/>
                </a:solidFill>
                <a:latin typeface="Consolas"/>
              </a:rPr>
              <a:t>if</a:t>
            </a:r>
            <a:r>
              <a:rPr sz="1300">
                <a:solidFill>
                  <a:srgbClr val="E8EEF1"/>
                </a:solidFill>
                <a:latin typeface="Consolas"/>
              </a:rPr>
              <a:t> (!user) </a:t>
            </a:r>
            <a:r>
              <a:rPr sz="1300" b="1">
                <a:solidFill>
                  <a:srgbClr val="5DD8C3"/>
                </a:solidFill>
                <a:latin typeface="Consolas"/>
              </a:rPr>
              <a:t>return</a:t>
            </a:r>
            <a:r>
              <a:rPr sz="1300">
                <a:solidFill>
                  <a:srgbClr val="E8EEF1"/>
                </a:solidFill>
                <a:latin typeface="Consolas"/>
              </a:rPr>
              <a:t> res.status(404)</a:t>
            </a:r>
          </a:p>
          <a:p>
            <a:pPr algn="l"/>
            <a:r>
              <a:rPr sz="1300">
                <a:solidFill>
                  <a:srgbClr val="E8EEF1"/>
                </a:solidFill>
                <a:latin typeface="Consolas"/>
              </a:rPr>
              <a:t>    .json({ errore: </a:t>
            </a:r>
            <a:r>
              <a:rPr sz="1300">
                <a:solidFill>
                  <a:srgbClr val="FFD27F"/>
                </a:solidFill>
                <a:latin typeface="Consolas"/>
              </a:rPr>
              <a:t>'Non trovato'</a:t>
            </a:r>
            <a:r>
              <a:rPr sz="1300">
                <a:solidFill>
                  <a:srgbClr val="E8EEF1"/>
                </a:solidFill>
                <a:latin typeface="Consolas"/>
              </a:rPr>
              <a:t> });</a:t>
            </a:r>
          </a:p>
          <a:p>
            <a:pPr algn="l"/>
            <a:r>
              <a:rPr sz="1300">
                <a:solidFill>
                  <a:srgbClr val="E8EEF1"/>
                </a:solidFill>
                <a:latin typeface="Consolas"/>
              </a:rPr>
              <a:t>  res.json(user);</a:t>
            </a:r>
          </a:p>
          <a:p>
            <a:pPr algn="l"/>
            <a:r>
              <a:rPr sz="1300">
                <a:solidFill>
                  <a:srgbClr val="E8EEF1"/>
                </a:solidFill>
                <a:latin typeface="Consolas"/>
              </a:rPr>
              <a:t>});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63640" y="1828800"/>
            <a:ext cx="51206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>
                <a:solidFill>
                  <a:srgbClr val="00A69D"/>
                </a:solidFill>
                <a:latin typeface="Open Sans"/>
              </a:rPr>
              <a:t>DOPO (SQLite via repository)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63640" y="2148840"/>
            <a:ext cx="5120640" cy="2377440"/>
          </a:xfrm>
          <a:prstGeom prst="rect">
            <a:avLst/>
          </a:prstGeom>
          <a:solidFill>
            <a:srgbClr val="0F25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428232" y="2258568"/>
            <a:ext cx="4791456" cy="2157984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300" b="1">
                <a:solidFill>
                  <a:srgbClr val="5DD8C3"/>
                </a:solidFill>
                <a:latin typeface="Consolas"/>
              </a:rPr>
              <a:t>import</a:t>
            </a:r>
            <a:r>
              <a:rPr sz="1300">
                <a:solidFill>
                  <a:srgbClr val="E8EEF1"/>
                </a:solidFill>
                <a:latin typeface="Consolas"/>
              </a:rPr>
              <a:t> * </a:t>
            </a:r>
            <a:r>
              <a:rPr sz="1300" b="1">
                <a:solidFill>
                  <a:srgbClr val="5DD8C3"/>
                </a:solidFill>
                <a:latin typeface="Consolas"/>
              </a:rPr>
              <a:t>as</a:t>
            </a:r>
            <a:r>
              <a:rPr sz="1300">
                <a:solidFill>
                  <a:srgbClr val="E8EEF1"/>
                </a:solidFill>
                <a:latin typeface="Consolas"/>
              </a:rPr>
              <a:t> userRepository</a:t>
            </a:r>
          </a:p>
          <a:p>
            <a:pPr algn="l"/>
            <a:r>
              <a:rPr sz="1300">
                <a:solidFill>
                  <a:srgbClr val="E8EEF1"/>
                </a:solidFill>
                <a:latin typeface="Consolas"/>
              </a:rPr>
              <a:t>  </a:t>
            </a:r>
            <a:r>
              <a:rPr sz="1300" b="1">
                <a:solidFill>
                  <a:srgbClr val="5DD8C3"/>
                </a:solidFill>
                <a:latin typeface="Consolas"/>
              </a:rPr>
              <a:t>from</a:t>
            </a:r>
            <a:r>
              <a:rPr sz="1300">
                <a:solidFill>
                  <a:srgbClr val="E8EEF1"/>
                </a:solidFill>
                <a:latin typeface="Consolas"/>
              </a:rPr>
              <a:t> </a:t>
            </a:r>
            <a:r>
              <a:rPr sz="1300">
                <a:solidFill>
                  <a:srgbClr val="FFD27F"/>
                </a:solidFill>
                <a:latin typeface="Consolas"/>
              </a:rPr>
              <a:t>'../repositories/userRepository.js'</a:t>
            </a:r>
            <a:r>
              <a:rPr sz="1300">
                <a:solidFill>
                  <a:srgbClr val="E8EEF1"/>
                </a:solidFill>
                <a:latin typeface="Consolas"/>
              </a:rPr>
              <a:t>;</a:t>
            </a:r>
          </a:p>
          <a:p>
            <a:pPr algn="l"/>
            <a:r>
              <a:rPr sz="1300">
                <a:solidFill>
                  <a:srgbClr val="E8EEF1"/>
                </a:solidFill>
                <a:latin typeface="Consolas"/>
              </a:rPr>
              <a:t> </a:t>
            </a:r>
          </a:p>
          <a:p>
            <a:pPr algn="l"/>
            <a:r>
              <a:rPr sz="1300">
                <a:solidFill>
                  <a:srgbClr val="E8EEF1"/>
                </a:solidFill>
                <a:latin typeface="Consolas"/>
              </a:rPr>
              <a:t>router.get(</a:t>
            </a:r>
            <a:r>
              <a:rPr sz="1300">
                <a:solidFill>
                  <a:srgbClr val="FFD27F"/>
                </a:solidFill>
                <a:latin typeface="Consolas"/>
              </a:rPr>
              <a:t>'/:id'</a:t>
            </a:r>
            <a:r>
              <a:rPr sz="1300">
                <a:solidFill>
                  <a:srgbClr val="E8EEF1"/>
                </a:solidFill>
                <a:latin typeface="Consolas"/>
              </a:rPr>
              <a:t>, asyncHandler(</a:t>
            </a:r>
          </a:p>
          <a:p>
            <a:pPr algn="l"/>
            <a:r>
              <a:rPr sz="1300">
                <a:solidFill>
                  <a:srgbClr val="E8EEF1"/>
                </a:solidFill>
                <a:latin typeface="Consolas"/>
              </a:rPr>
              <a:t>  </a:t>
            </a:r>
            <a:r>
              <a:rPr sz="1300" b="1">
                <a:solidFill>
                  <a:srgbClr val="5DD8C3"/>
                </a:solidFill>
                <a:latin typeface="Consolas"/>
              </a:rPr>
              <a:t>async</a:t>
            </a:r>
            <a:r>
              <a:rPr sz="1300">
                <a:solidFill>
                  <a:srgbClr val="E8EEF1"/>
                </a:solidFill>
                <a:latin typeface="Consolas"/>
              </a:rPr>
              <a:t> (req, res) =&gt; {</a:t>
            </a:r>
          </a:p>
          <a:p>
            <a:pPr algn="l"/>
            <a:r>
              <a:rPr sz="1300">
                <a:solidFill>
                  <a:srgbClr val="E8EEF1"/>
                </a:solidFill>
                <a:latin typeface="Consolas"/>
              </a:rPr>
              <a:t>    </a:t>
            </a:r>
            <a:r>
              <a:rPr sz="1300" b="1">
                <a:solidFill>
                  <a:srgbClr val="5DD8C3"/>
                </a:solidFill>
                <a:latin typeface="Consolas"/>
              </a:rPr>
              <a:t>const</a:t>
            </a:r>
            <a:r>
              <a:rPr sz="1300">
                <a:solidFill>
                  <a:srgbClr val="E8EEF1"/>
                </a:solidFill>
                <a:latin typeface="Consolas"/>
              </a:rPr>
              <a:t> user = </a:t>
            </a:r>
            <a:r>
              <a:rPr sz="1300" b="1">
                <a:solidFill>
                  <a:srgbClr val="5DD8C3"/>
                </a:solidFill>
                <a:latin typeface="Consolas"/>
              </a:rPr>
              <a:t>await</a:t>
            </a:r>
            <a:r>
              <a:rPr sz="1300">
                <a:solidFill>
                  <a:srgbClr val="E8EEF1"/>
                </a:solidFill>
                <a:latin typeface="Consolas"/>
              </a:rPr>
              <a:t> userRepository.findById(</a:t>
            </a:r>
          </a:p>
          <a:p>
            <a:pPr algn="l"/>
            <a:r>
              <a:rPr sz="1300">
                <a:solidFill>
                  <a:srgbClr val="E8EEF1"/>
                </a:solidFill>
                <a:latin typeface="Consolas"/>
              </a:rPr>
              <a:t>      req.params.id);</a:t>
            </a:r>
          </a:p>
          <a:p>
            <a:pPr algn="l"/>
            <a:r>
              <a:rPr sz="1300">
                <a:solidFill>
                  <a:srgbClr val="E8EEF1"/>
                </a:solidFill>
                <a:latin typeface="Consolas"/>
              </a:rPr>
              <a:t>    </a:t>
            </a:r>
            <a:r>
              <a:rPr sz="1300" b="1">
                <a:solidFill>
                  <a:srgbClr val="5DD8C3"/>
                </a:solidFill>
                <a:latin typeface="Consolas"/>
              </a:rPr>
              <a:t>if</a:t>
            </a:r>
            <a:r>
              <a:rPr sz="1300">
                <a:solidFill>
                  <a:srgbClr val="E8EEF1"/>
                </a:solidFill>
                <a:latin typeface="Consolas"/>
              </a:rPr>
              <a:t> (!user) </a:t>
            </a:r>
            <a:r>
              <a:rPr sz="1300" b="1">
                <a:solidFill>
                  <a:srgbClr val="5DD8C3"/>
                </a:solidFill>
                <a:latin typeface="Consolas"/>
              </a:rPr>
              <a:t>throw</a:t>
            </a:r>
            <a:r>
              <a:rPr sz="1300">
                <a:solidFill>
                  <a:srgbClr val="E8EEF1"/>
                </a:solidFill>
                <a:latin typeface="Consolas"/>
              </a:rPr>
              <a:t> </a:t>
            </a:r>
            <a:r>
              <a:rPr sz="1300" b="1">
                <a:solidFill>
                  <a:srgbClr val="5DD8C3"/>
                </a:solidFill>
                <a:latin typeface="Consolas"/>
              </a:rPr>
              <a:t>new</a:t>
            </a:r>
            <a:r>
              <a:rPr sz="1300">
                <a:solidFill>
                  <a:srgbClr val="E8EEF1"/>
                </a:solidFill>
                <a:latin typeface="Consolas"/>
              </a:rPr>
              <a:t> AppError(</a:t>
            </a:r>
          </a:p>
          <a:p>
            <a:pPr algn="l"/>
            <a:r>
              <a:rPr sz="1300">
                <a:solidFill>
                  <a:srgbClr val="E8EEF1"/>
                </a:solidFill>
                <a:latin typeface="Consolas"/>
              </a:rPr>
              <a:t>      </a:t>
            </a:r>
            <a:r>
              <a:rPr sz="1300">
                <a:solidFill>
                  <a:srgbClr val="FFD27F"/>
                </a:solidFill>
                <a:latin typeface="Consolas"/>
              </a:rPr>
              <a:t>'Non trovato'</a:t>
            </a:r>
            <a:r>
              <a:rPr sz="1300">
                <a:solidFill>
                  <a:srgbClr val="E8EEF1"/>
                </a:solidFill>
                <a:latin typeface="Consolas"/>
              </a:rPr>
              <a:t>, 404);</a:t>
            </a:r>
          </a:p>
          <a:p>
            <a:pPr algn="l"/>
            <a:r>
              <a:rPr sz="1300">
                <a:solidFill>
                  <a:srgbClr val="E8EEF1"/>
                </a:solidFill>
                <a:latin typeface="Consolas"/>
              </a:rPr>
              <a:t>    res.json(user);</a:t>
            </a:r>
          </a:p>
          <a:p>
            <a:pPr algn="l"/>
            <a:r>
              <a:rPr sz="1300">
                <a:solidFill>
                  <a:srgbClr val="E8EEF1"/>
                </a:solidFill>
                <a:latin typeface="Consolas"/>
              </a:rPr>
              <a:t>}));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4754880"/>
            <a:ext cx="10515600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>
                <a:solidFill>
                  <a:srgbClr val="111820"/>
                </a:solidFill>
                <a:latin typeface="Open Sans"/>
              </a:rPr>
              <a:t>"Se domani cambiamo SQLite con Postgres,</a:t>
            </a:r>
          </a:p>
          <a:p>
            <a:pPr algn="l"/>
            <a:r>
              <a:rPr sz="1800" b="1">
                <a:solidFill>
                  <a:srgbClr val="111820"/>
                </a:solidFill>
                <a:latin typeface="Open Sans"/>
              </a:rPr>
              <a:t>l'UNICO file che riscrivo è userRepository.js."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6172200"/>
            <a:ext cx="10058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>
                <a:solidFill>
                  <a:srgbClr val="00A69D"/>
                </a:solidFill>
                <a:latin typeface="Open Sans"/>
              </a:rPr>
              <a:t>▸  CODICE: 05-user-repository/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329184"/>
          </a:xfrm>
          <a:prstGeom prst="rect">
            <a:avLst/>
          </a:prstGeom>
          <a:solidFill>
            <a:srgbClr val="111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822960" cy="164592"/>
          </a:xfrm>
          <a:prstGeom prst="rect">
            <a:avLst/>
          </a:prstGeom>
          <a:solidFill>
            <a:srgbClr val="33B8B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18288"/>
            <a:ext cx="82296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Open Sans"/>
              </a:rPr>
              <a:t>05 · REPOSITORY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418320" y="18288"/>
            <a:ext cx="26517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>
                <a:solidFill>
                  <a:srgbClr val="80D3CE"/>
                </a:solidFill>
                <a:latin typeface="Open Sans"/>
              </a:rPr>
              <a:t>CORSO NODE.JS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94360"/>
            <a:ext cx="109728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>
                <a:solidFill>
                  <a:srgbClr val="111820"/>
                </a:solidFill>
                <a:latin typeface="Open Sans"/>
              </a:rPr>
              <a:t>Esporre solo quello che serve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1325880"/>
            <a:ext cx="105156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>
                <a:solidFill>
                  <a:srgbClr val="555667"/>
                </a:solidFill>
                <a:latin typeface="Open Sans"/>
              </a:rPr>
              <a:t>Il repository dà tutto. Il layer sopra decide cosa è sicuro mostrare.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>
                <a:solidFill>
                  <a:srgbClr val="90909B"/>
                </a:solidFill>
                <a:latin typeface="Open Sans"/>
              </a:rPr>
              <a:t>Giorno 2 — Parte 1 / Middleware + SQLite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492240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0">
                <a:solidFill>
                  <a:srgbClr val="90909B"/>
                </a:solidFill>
                <a:latin typeface="Open Sans"/>
              </a:rPr>
              <a:t>24 / 28</a:t>
            </a:r>
          </a:p>
        </p:txBody>
      </p:sp>
      <p:sp>
        <p:nvSpPr>
          <p:cNvPr id="10" name="Rectangle 9"/>
          <p:cNvSpPr/>
          <p:nvPr/>
        </p:nvSpPr>
        <p:spPr>
          <a:xfrm>
            <a:off x="868680" y="1828800"/>
            <a:ext cx="10515600" cy="2743200"/>
          </a:xfrm>
          <a:prstGeom prst="rect">
            <a:avLst/>
          </a:prstGeom>
          <a:solidFill>
            <a:srgbClr val="0F25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033272" y="1938528"/>
            <a:ext cx="10186416" cy="2523744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300">
                <a:solidFill>
                  <a:srgbClr val="E8EEF1"/>
                </a:solidFill>
                <a:latin typeface="Consolas"/>
              </a:rPr>
              <a:t>router.get(</a:t>
            </a:r>
            <a:r>
              <a:rPr sz="1300">
                <a:solidFill>
                  <a:srgbClr val="FFD27F"/>
                </a:solidFill>
                <a:latin typeface="Consolas"/>
              </a:rPr>
              <a:t>'/:id'</a:t>
            </a:r>
            <a:r>
              <a:rPr sz="1300">
                <a:solidFill>
                  <a:srgbClr val="E8EEF1"/>
                </a:solidFill>
                <a:latin typeface="Consolas"/>
              </a:rPr>
              <a:t>, asyncHandler(</a:t>
            </a:r>
            <a:r>
              <a:rPr sz="1300" b="1">
                <a:solidFill>
                  <a:srgbClr val="5DD8C3"/>
                </a:solidFill>
                <a:latin typeface="Consolas"/>
              </a:rPr>
              <a:t>async</a:t>
            </a:r>
            <a:r>
              <a:rPr sz="1300">
                <a:solidFill>
                  <a:srgbClr val="E8EEF1"/>
                </a:solidFill>
                <a:latin typeface="Consolas"/>
              </a:rPr>
              <a:t> (req, res) =&gt; {</a:t>
            </a:r>
          </a:p>
          <a:p>
            <a:pPr algn="l"/>
            <a:r>
              <a:rPr sz="1300">
                <a:solidFill>
                  <a:srgbClr val="E8EEF1"/>
                </a:solidFill>
                <a:latin typeface="Consolas"/>
              </a:rPr>
              <a:t>  </a:t>
            </a:r>
            <a:r>
              <a:rPr sz="1300" b="1">
                <a:solidFill>
                  <a:srgbClr val="5DD8C3"/>
                </a:solidFill>
                <a:latin typeface="Consolas"/>
              </a:rPr>
              <a:t>const</a:t>
            </a:r>
            <a:r>
              <a:rPr sz="1300">
                <a:solidFill>
                  <a:srgbClr val="E8EEF1"/>
                </a:solidFill>
                <a:latin typeface="Consolas"/>
              </a:rPr>
              <a:t> user = </a:t>
            </a:r>
            <a:r>
              <a:rPr sz="1300" b="1">
                <a:solidFill>
                  <a:srgbClr val="5DD8C3"/>
                </a:solidFill>
                <a:latin typeface="Consolas"/>
              </a:rPr>
              <a:t>await</a:t>
            </a:r>
            <a:r>
              <a:rPr sz="1300">
                <a:solidFill>
                  <a:srgbClr val="E8EEF1"/>
                </a:solidFill>
                <a:latin typeface="Consolas"/>
              </a:rPr>
              <a:t> userRepository.findById(req.params.id);</a:t>
            </a:r>
          </a:p>
          <a:p>
            <a:pPr algn="l"/>
            <a:r>
              <a:rPr sz="1300">
                <a:solidFill>
                  <a:srgbClr val="E8EEF1"/>
                </a:solidFill>
                <a:latin typeface="Consolas"/>
              </a:rPr>
              <a:t>  </a:t>
            </a:r>
            <a:r>
              <a:rPr sz="1300" b="1">
                <a:solidFill>
                  <a:srgbClr val="5DD8C3"/>
                </a:solidFill>
                <a:latin typeface="Consolas"/>
              </a:rPr>
              <a:t>if</a:t>
            </a:r>
            <a:r>
              <a:rPr sz="1300">
                <a:solidFill>
                  <a:srgbClr val="E8EEF1"/>
                </a:solidFill>
                <a:latin typeface="Consolas"/>
              </a:rPr>
              <a:t> (!user) </a:t>
            </a:r>
            <a:r>
              <a:rPr sz="1300" b="1">
                <a:solidFill>
                  <a:srgbClr val="5DD8C3"/>
                </a:solidFill>
                <a:latin typeface="Consolas"/>
              </a:rPr>
              <a:t>throw</a:t>
            </a:r>
            <a:r>
              <a:rPr sz="1300">
                <a:solidFill>
                  <a:srgbClr val="E8EEF1"/>
                </a:solidFill>
                <a:latin typeface="Consolas"/>
              </a:rPr>
              <a:t> </a:t>
            </a:r>
            <a:r>
              <a:rPr sz="1300" b="1">
                <a:solidFill>
                  <a:srgbClr val="5DD8C3"/>
                </a:solidFill>
                <a:latin typeface="Consolas"/>
              </a:rPr>
              <a:t>new</a:t>
            </a:r>
            <a:r>
              <a:rPr sz="1300">
                <a:solidFill>
                  <a:srgbClr val="E8EEF1"/>
                </a:solidFill>
                <a:latin typeface="Consolas"/>
              </a:rPr>
              <a:t> AppError(</a:t>
            </a:r>
            <a:r>
              <a:rPr sz="1300">
                <a:solidFill>
                  <a:srgbClr val="FFD27F"/>
                </a:solidFill>
                <a:latin typeface="Consolas"/>
              </a:rPr>
              <a:t>'Utente non trovato'</a:t>
            </a:r>
            <a:r>
              <a:rPr sz="1300">
                <a:solidFill>
                  <a:srgbClr val="E8EEF1"/>
                </a:solidFill>
                <a:latin typeface="Consolas"/>
              </a:rPr>
              <a:t>, 404);</a:t>
            </a:r>
          </a:p>
          <a:p>
            <a:pPr algn="l"/>
            <a:r>
              <a:rPr sz="1300">
                <a:solidFill>
                  <a:srgbClr val="E8EEF1"/>
                </a:solidFill>
                <a:latin typeface="Consolas"/>
              </a:rPr>
              <a:t> </a:t>
            </a:r>
          </a:p>
          <a:p>
            <a:pPr algn="l"/>
            <a:r>
              <a:rPr sz="1300" i="1">
                <a:solidFill>
                  <a:srgbClr val="8893A0"/>
                </a:solidFill>
                <a:latin typeface="Consolas"/>
              </a:rPr>
              <a:t>  // tolgo password_hash prima di mandare al client</a:t>
            </a:r>
          </a:p>
          <a:p>
            <a:pPr algn="l"/>
            <a:r>
              <a:rPr sz="1300">
                <a:solidFill>
                  <a:srgbClr val="E8EEF1"/>
                </a:solidFill>
                <a:latin typeface="Consolas"/>
              </a:rPr>
              <a:t>  </a:t>
            </a:r>
            <a:r>
              <a:rPr sz="1300" b="1">
                <a:solidFill>
                  <a:srgbClr val="5DD8C3"/>
                </a:solidFill>
                <a:latin typeface="Consolas"/>
              </a:rPr>
              <a:t>const</a:t>
            </a:r>
            <a:r>
              <a:rPr sz="1300">
                <a:solidFill>
                  <a:srgbClr val="E8EEF1"/>
                </a:solidFill>
                <a:latin typeface="Consolas"/>
              </a:rPr>
              <a:t> { password_hash, ...safeUser } = user;</a:t>
            </a:r>
          </a:p>
          <a:p>
            <a:pPr algn="l"/>
            <a:r>
              <a:rPr sz="1300">
                <a:solidFill>
                  <a:srgbClr val="E8EEF1"/>
                </a:solidFill>
                <a:latin typeface="Consolas"/>
              </a:rPr>
              <a:t>  res.json(safeUser);</a:t>
            </a:r>
          </a:p>
          <a:p>
            <a:pPr algn="l"/>
            <a:r>
              <a:rPr sz="1300">
                <a:solidFill>
                  <a:srgbClr val="E8EEF1"/>
                </a:solidFill>
                <a:latin typeface="Consolas"/>
              </a:rPr>
              <a:t>}));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4846320"/>
            <a:ext cx="10515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>
                <a:solidFill>
                  <a:srgbClr val="00A69D"/>
                </a:solidFill>
                <a:latin typeface="Open Sans"/>
              </a:rPr>
              <a:t>ANTICIPAZIONE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5166360"/>
            <a:ext cx="10515600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>
                <a:solidFill>
                  <a:srgbClr val="555667"/>
                </a:solidFill>
                <a:latin typeface="Open Sans"/>
              </a:rPr>
              <a:t>Nel pomeriggio metteremo questa logica dentro un userService che la fa di default.</a:t>
            </a:r>
          </a:p>
          <a:p>
            <a:pPr algn="l"/>
            <a:r>
              <a:rPr sz="1500" b="0">
                <a:solidFill>
                  <a:srgbClr val="555667"/>
                </a:solidFill>
                <a:latin typeface="Open Sans"/>
              </a:rPr>
              <a:t>Il principio: il repository ti dà tutto, tu decidi cosa è sicuro esporre.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8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33B8B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1463040"/>
            <a:ext cx="6400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>
                <a:solidFill>
                  <a:srgbClr val="33B8B1"/>
                </a:solidFill>
                <a:latin typeface="Open Sans"/>
              </a:rPr>
              <a:t>SEZIONE  ·  06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194560"/>
            <a:ext cx="7863840" cy="2286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Open Sans"/>
              </a:rPr>
              <a:t>Struttura a layer completa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4617720"/>
            <a:ext cx="1371600" cy="54864"/>
          </a:xfrm>
          <a:prstGeom prst="rect">
            <a:avLst/>
          </a:prstGeom>
          <a:solidFill>
            <a:srgbClr val="33B8B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40080" y="4800600"/>
            <a:ext cx="82296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900" b="0">
                <a:solidFill>
                  <a:srgbClr val="80D3CE"/>
                </a:solidFill>
                <a:latin typeface="Open Sans"/>
              </a:rPr>
              <a:t>Cosa ogni layer NON deve sapere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0" y="1371600"/>
            <a:ext cx="4114800" cy="4114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20000" b="1">
                <a:solidFill>
                  <a:srgbClr val="303143"/>
                </a:solidFill>
                <a:latin typeface="Open Sans"/>
              </a:rPr>
              <a:t>06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9224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>
                <a:solidFill>
                  <a:srgbClr val="90909B"/>
                </a:solidFill>
                <a:latin typeface="Open Sans"/>
              </a:rPr>
              <a:t>Giorno 2 — Parte 1 / Middleware + SQLite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492240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0">
                <a:solidFill>
                  <a:srgbClr val="90909B"/>
                </a:solidFill>
                <a:latin typeface="Open Sans"/>
              </a:rPr>
              <a:t>25 / 28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329184"/>
          </a:xfrm>
          <a:prstGeom prst="rect">
            <a:avLst/>
          </a:prstGeom>
          <a:solidFill>
            <a:srgbClr val="111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822960" cy="164592"/>
          </a:xfrm>
          <a:prstGeom prst="rect">
            <a:avLst/>
          </a:prstGeom>
          <a:solidFill>
            <a:srgbClr val="33B8B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18288"/>
            <a:ext cx="82296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Open Sans"/>
              </a:rPr>
              <a:t>06 · LAYERS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418320" y="18288"/>
            <a:ext cx="26517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>
                <a:solidFill>
                  <a:srgbClr val="80D3CE"/>
                </a:solidFill>
                <a:latin typeface="Open Sans"/>
              </a:rPr>
              <a:t>CORSO NODE.JS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94360"/>
            <a:ext cx="109728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>
                <a:solidFill>
                  <a:srgbClr val="111820"/>
                </a:solidFill>
                <a:latin typeface="Open Sans"/>
              </a:rPr>
              <a:t>La struttura che useremo per tutto il corso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1325880"/>
            <a:ext cx="105156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>
                <a:solidFill>
                  <a:srgbClr val="555667"/>
                </a:solidFill>
                <a:latin typeface="Open Sans"/>
              </a:rPr>
              <a:t>Predisposta oggi, completata domani con services e middlewares di auth.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>
                <a:solidFill>
                  <a:srgbClr val="90909B"/>
                </a:solidFill>
                <a:latin typeface="Open Sans"/>
              </a:rPr>
              <a:t>Giorno 2 — Parte 1 / Middleware + SQLite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492240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0">
                <a:solidFill>
                  <a:srgbClr val="90909B"/>
                </a:solidFill>
                <a:latin typeface="Open Sans"/>
              </a:rPr>
              <a:t>26 / 28</a:t>
            </a:r>
          </a:p>
        </p:txBody>
      </p:sp>
      <p:sp>
        <p:nvSpPr>
          <p:cNvPr id="10" name="Rectangle 9"/>
          <p:cNvSpPr/>
          <p:nvPr/>
        </p:nvSpPr>
        <p:spPr>
          <a:xfrm>
            <a:off x="868680" y="1828800"/>
            <a:ext cx="6858000" cy="4023360"/>
          </a:xfrm>
          <a:prstGeom prst="rect">
            <a:avLst/>
          </a:prstGeom>
          <a:solidFill>
            <a:srgbClr val="0F25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033272" y="1938528"/>
            <a:ext cx="6528816" cy="3803904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300">
                <a:solidFill>
                  <a:srgbClr val="E8EEF1"/>
                </a:solidFill>
                <a:latin typeface="Consolas"/>
              </a:rPr>
              <a:t>src/</a:t>
            </a:r>
          </a:p>
          <a:p>
            <a:pPr algn="l"/>
            <a:r>
              <a:rPr sz="1300">
                <a:solidFill>
                  <a:srgbClr val="E8EEF1"/>
                </a:solidFill>
                <a:latin typeface="Consolas"/>
              </a:rPr>
              <a:t>├── db/</a:t>
            </a:r>
          </a:p>
          <a:p>
            <a:pPr algn="l"/>
            <a:r>
              <a:rPr sz="1300">
                <a:solidFill>
                  <a:srgbClr val="E8EEF1"/>
                </a:solidFill>
                <a:latin typeface="Consolas"/>
              </a:rPr>
              <a:t>│   ├── connection.js     ← apre il DB + bootstrap</a:t>
            </a:r>
          </a:p>
          <a:p>
            <a:pPr algn="l"/>
            <a:r>
              <a:rPr sz="1300">
                <a:solidFill>
                  <a:srgbClr val="E8EEF1"/>
                </a:solidFill>
                <a:latin typeface="Consolas"/>
              </a:rPr>
              <a:t>│   └── schema.sql        ← DDL tabella users</a:t>
            </a:r>
          </a:p>
          <a:p>
            <a:pPr algn="l"/>
            <a:r>
              <a:rPr sz="1300">
                <a:solidFill>
                  <a:srgbClr val="E8EEF1"/>
                </a:solidFill>
                <a:latin typeface="Consolas"/>
              </a:rPr>
              <a:t>├── repositories/</a:t>
            </a:r>
          </a:p>
          <a:p>
            <a:pPr algn="l"/>
            <a:r>
              <a:rPr sz="1300">
                <a:solidFill>
                  <a:srgbClr val="E8EEF1"/>
                </a:solidFill>
                <a:latin typeface="Consolas"/>
              </a:rPr>
              <a:t>│   └── userRepository.js ← UNICO punto col DB</a:t>
            </a:r>
          </a:p>
          <a:p>
            <a:pPr algn="l"/>
            <a:r>
              <a:rPr sz="1300">
                <a:solidFill>
                  <a:srgbClr val="E8EEF1"/>
                </a:solidFill>
                <a:latin typeface="Consolas"/>
              </a:rPr>
              <a:t>├── routes/</a:t>
            </a:r>
          </a:p>
          <a:p>
            <a:pPr algn="l"/>
            <a:r>
              <a:rPr sz="1300">
                <a:solidFill>
                  <a:srgbClr val="E8EEF1"/>
                </a:solidFill>
                <a:latin typeface="Consolas"/>
              </a:rPr>
              <a:t>│   └── userRoutes.js     ← /api/users/*</a:t>
            </a:r>
          </a:p>
          <a:p>
            <a:pPr algn="l"/>
            <a:r>
              <a:rPr sz="1300">
                <a:solidFill>
                  <a:srgbClr val="E8EEF1"/>
                </a:solidFill>
                <a:latin typeface="Consolas"/>
              </a:rPr>
              <a:t>├── middlewares/</a:t>
            </a:r>
          </a:p>
          <a:p>
            <a:pPr algn="l"/>
            <a:r>
              <a:rPr sz="1300">
                <a:solidFill>
                  <a:srgbClr val="E8EEF1"/>
                </a:solidFill>
                <a:latin typeface="Consolas"/>
              </a:rPr>
              <a:t>│   └── errorHandler.js   ← gestione centralizzata</a:t>
            </a:r>
          </a:p>
          <a:p>
            <a:pPr algn="l"/>
            <a:r>
              <a:rPr sz="1300">
                <a:solidFill>
                  <a:srgbClr val="E8EEF1"/>
                </a:solidFill>
                <a:latin typeface="Consolas"/>
              </a:rPr>
              <a:t>├── utils/</a:t>
            </a:r>
          </a:p>
          <a:p>
            <a:pPr algn="l"/>
            <a:r>
              <a:rPr sz="1300">
                <a:solidFill>
                  <a:srgbClr val="E8EEF1"/>
                </a:solidFill>
                <a:latin typeface="Consolas"/>
              </a:rPr>
              <a:t>│   ├── AppError.js       ← classe errore custom</a:t>
            </a:r>
          </a:p>
          <a:p>
            <a:pPr algn="l"/>
            <a:r>
              <a:rPr sz="1300">
                <a:solidFill>
                  <a:srgbClr val="E8EEF1"/>
                </a:solidFill>
                <a:latin typeface="Consolas"/>
              </a:rPr>
              <a:t>│   └── asyncHandler.js   ← wrapper </a:t>
            </a:r>
            <a:r>
              <a:rPr sz="1300" b="1">
                <a:solidFill>
                  <a:srgbClr val="5DD8C3"/>
                </a:solidFill>
                <a:latin typeface="Consolas"/>
              </a:rPr>
              <a:t>async</a:t>
            </a:r>
          </a:p>
          <a:p>
            <a:pPr algn="l"/>
            <a:r>
              <a:rPr sz="1300">
                <a:solidFill>
                  <a:srgbClr val="E8EEF1"/>
                </a:solidFill>
                <a:latin typeface="Consolas"/>
              </a:rPr>
              <a:t>├── app.js</a:t>
            </a:r>
          </a:p>
          <a:p>
            <a:pPr algn="l"/>
            <a:r>
              <a:rPr sz="1300">
                <a:solidFill>
                  <a:srgbClr val="E8EEF1"/>
                </a:solidFill>
                <a:latin typeface="Consolas"/>
              </a:rPr>
              <a:t>└── server.js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55279" y="1828800"/>
            <a:ext cx="3657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>
                <a:solidFill>
                  <a:srgbClr val="00A69D"/>
                </a:solidFill>
                <a:latin typeface="Open Sans"/>
              </a:rPr>
              <a:t>OGGI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55279" y="2148840"/>
            <a:ext cx="3657600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>
                <a:solidFill>
                  <a:srgbClr val="555667"/>
                </a:solidFill>
                <a:latin typeface="Open Sans"/>
              </a:rPr>
              <a:t>db/, repositories/,</a:t>
            </a:r>
          </a:p>
          <a:p>
            <a:pPr algn="l"/>
            <a:r>
              <a:rPr sz="1400" b="0">
                <a:solidFill>
                  <a:srgbClr val="555667"/>
                </a:solidFill>
                <a:latin typeface="Open Sans"/>
              </a:rPr>
              <a:t>middlewares/, utils/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55279" y="3383280"/>
            <a:ext cx="3657600" cy="1692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it-IT" sz="1100" b="1">
                <a:solidFill>
                  <a:srgbClr val="00A69D"/>
                </a:solidFill>
                <a:latin typeface="Open Sans"/>
              </a:rPr>
              <a:t>PARTE 2</a:t>
            </a:r>
            <a:endParaRPr sz="1100" b="1" dirty="0">
              <a:solidFill>
                <a:srgbClr val="00A69D"/>
              </a:solidFill>
              <a:latin typeface="Open Sans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7955279" y="3703320"/>
            <a:ext cx="3657600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>
                <a:solidFill>
                  <a:srgbClr val="555667"/>
                </a:solidFill>
                <a:latin typeface="Open Sans"/>
              </a:rPr>
              <a:t>validators/, services/,</a:t>
            </a:r>
          </a:p>
          <a:p>
            <a:pPr algn="l"/>
            <a:r>
              <a:rPr sz="1400" b="0">
                <a:solidFill>
                  <a:srgbClr val="555667"/>
                </a:solidFill>
                <a:latin typeface="Open Sans"/>
              </a:rPr>
              <a:t>config/env.js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55279" y="4846320"/>
            <a:ext cx="3657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>
                <a:solidFill>
                  <a:srgbClr val="00A69D"/>
                </a:solidFill>
                <a:latin typeface="Open Sans"/>
              </a:rPr>
              <a:t>GIORNO 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55279" y="5166360"/>
            <a:ext cx="3657600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>
                <a:solidFill>
                  <a:srgbClr val="555667"/>
                </a:solidFill>
                <a:latin typeface="Open Sans"/>
              </a:rPr>
              <a:t>authMiddleware,</a:t>
            </a:r>
          </a:p>
          <a:p>
            <a:pPr algn="l"/>
            <a:r>
              <a:rPr sz="1400" b="0">
                <a:solidFill>
                  <a:srgbClr val="555667"/>
                </a:solidFill>
                <a:latin typeface="Open Sans"/>
              </a:rPr>
              <a:t>hashPassword,</a:t>
            </a:r>
          </a:p>
          <a:p>
            <a:pPr algn="l"/>
            <a:r>
              <a:rPr sz="1400" b="0">
                <a:solidFill>
                  <a:srgbClr val="555667"/>
                </a:solidFill>
                <a:latin typeface="Open Sans"/>
              </a:rPr>
              <a:t>generateToken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329184"/>
          </a:xfrm>
          <a:prstGeom prst="rect">
            <a:avLst/>
          </a:prstGeom>
          <a:solidFill>
            <a:srgbClr val="111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822960" cy="164592"/>
          </a:xfrm>
          <a:prstGeom prst="rect">
            <a:avLst/>
          </a:prstGeom>
          <a:solidFill>
            <a:srgbClr val="33B8B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18288"/>
            <a:ext cx="82296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Open Sans"/>
              </a:rPr>
              <a:t>06 · LAYERS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418320" y="18288"/>
            <a:ext cx="26517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>
                <a:solidFill>
                  <a:srgbClr val="80D3CE"/>
                </a:solidFill>
                <a:latin typeface="Open Sans"/>
              </a:rPr>
              <a:t>CORSO NODE.JS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94360"/>
            <a:ext cx="109728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>
                <a:solidFill>
                  <a:srgbClr val="111820"/>
                </a:solidFill>
                <a:latin typeface="Open Sans"/>
              </a:rPr>
              <a:t>Cosa ogni layer NON deve sapere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1325880"/>
            <a:ext cx="10515600" cy="2308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dirty="0">
                <a:solidFill>
                  <a:srgbClr val="555667"/>
                </a:solidFill>
                <a:latin typeface="Open Sans"/>
              </a:rPr>
              <a:t>La </a:t>
            </a:r>
            <a:r>
              <a:rPr sz="1500" b="0" dirty="0" err="1">
                <a:solidFill>
                  <a:srgbClr val="555667"/>
                </a:solidFill>
                <a:latin typeface="Open Sans"/>
              </a:rPr>
              <a:t>tabella</a:t>
            </a:r>
            <a:r>
              <a:rPr sz="1500" b="0" dirty="0">
                <a:solidFill>
                  <a:srgbClr val="555667"/>
                </a:solidFill>
                <a:latin typeface="Open Sans"/>
              </a:rPr>
              <a:t> </a:t>
            </a:r>
            <a:r>
              <a:rPr lang="it-IT" sz="1500" b="0" dirty="0">
                <a:solidFill>
                  <a:srgbClr val="555667"/>
                </a:solidFill>
                <a:latin typeface="Open Sans"/>
              </a:rPr>
              <a:t>delle cose </a:t>
            </a:r>
            <a:r>
              <a:rPr sz="1500" b="0" dirty="0" err="1">
                <a:solidFill>
                  <a:srgbClr val="555667"/>
                </a:solidFill>
                <a:latin typeface="Open Sans"/>
              </a:rPr>
              <a:t>che</a:t>
            </a:r>
            <a:r>
              <a:rPr sz="1500" b="0" dirty="0">
                <a:solidFill>
                  <a:srgbClr val="555667"/>
                </a:solidFill>
                <a:latin typeface="Open Sans"/>
              </a:rPr>
              <a:t> </a:t>
            </a:r>
            <a:r>
              <a:rPr sz="1500" b="0" dirty="0" err="1">
                <a:solidFill>
                  <a:srgbClr val="555667"/>
                </a:solidFill>
                <a:latin typeface="Open Sans"/>
              </a:rPr>
              <a:t>porti</a:t>
            </a:r>
            <a:r>
              <a:rPr sz="1500" b="0" dirty="0">
                <a:solidFill>
                  <a:srgbClr val="555667"/>
                </a:solidFill>
                <a:latin typeface="Open Sans"/>
              </a:rPr>
              <a:t> a casa </a:t>
            </a:r>
            <a:r>
              <a:rPr sz="1500" b="0" dirty="0" err="1">
                <a:solidFill>
                  <a:srgbClr val="555667"/>
                </a:solidFill>
                <a:latin typeface="Open Sans"/>
              </a:rPr>
              <a:t>oggi</a:t>
            </a:r>
            <a:r>
              <a:rPr sz="1500" b="0" dirty="0">
                <a:solidFill>
                  <a:srgbClr val="555667"/>
                </a:solidFill>
                <a:latin typeface="Open Sans"/>
              </a:rPr>
              <a:t>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>
                <a:solidFill>
                  <a:srgbClr val="90909B"/>
                </a:solidFill>
                <a:latin typeface="Open Sans"/>
              </a:rPr>
              <a:t>Giorno 2 — Parte 1 / Middleware + SQLite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492240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0">
                <a:solidFill>
                  <a:srgbClr val="90909B"/>
                </a:solidFill>
                <a:latin typeface="Open Sans"/>
              </a:rPr>
              <a:t>27 / 28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1828800"/>
            <a:ext cx="2743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>
                <a:solidFill>
                  <a:srgbClr val="00A69D"/>
                </a:solidFill>
                <a:latin typeface="Open Sans"/>
              </a:rPr>
              <a:t>LAYER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0" y="1828800"/>
            <a:ext cx="4114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>
                <a:solidFill>
                  <a:srgbClr val="00A69D"/>
                </a:solidFill>
                <a:latin typeface="Open Sans"/>
              </a:rPr>
              <a:t>COSA SA / FA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63840" y="1828800"/>
            <a:ext cx="4114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>
                <a:solidFill>
                  <a:srgbClr val="00A69D"/>
                </a:solidFill>
                <a:latin typeface="Open Sans"/>
              </a:rPr>
              <a:t>COSA NON DEVE SAPERE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286000"/>
            <a:ext cx="27432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>
                <a:solidFill>
                  <a:srgbClr val="111820"/>
                </a:solidFill>
                <a:latin typeface="Open Sans"/>
              </a:rPr>
              <a:t>Routes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0" y="2331720"/>
            <a:ext cx="41148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>
                <a:solidFill>
                  <a:srgbClr val="555667"/>
                </a:solidFill>
                <a:latin typeface="Open Sans"/>
              </a:rPr>
              <a:t>Mappano URL ai controller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63840" y="2331720"/>
            <a:ext cx="41148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>
                <a:solidFill>
                  <a:srgbClr val="555667"/>
                </a:solidFill>
                <a:latin typeface="Open Sans"/>
              </a:rPr>
              <a:t>Logica di business né DB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063240"/>
            <a:ext cx="27432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>
                <a:solidFill>
                  <a:srgbClr val="111820"/>
                </a:solidFill>
                <a:latin typeface="Open Sans"/>
              </a:rPr>
              <a:t>Controllers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0" y="3108960"/>
            <a:ext cx="41148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>
                <a:solidFill>
                  <a:srgbClr val="555667"/>
                </a:solidFill>
                <a:latin typeface="Open Sans"/>
              </a:rPr>
              <a:t>Leggono req, chiamano service, scrivono res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63840" y="3108960"/>
            <a:ext cx="41148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>
                <a:solidFill>
                  <a:srgbClr val="555667"/>
                </a:solidFill>
                <a:latin typeface="Open Sans"/>
              </a:rPr>
              <a:t>Come funziona il DB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3840480"/>
            <a:ext cx="27432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>
                <a:solidFill>
                  <a:srgbClr val="111820"/>
                </a:solidFill>
                <a:latin typeface="Open Sans"/>
              </a:rPr>
              <a:t>Services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0" y="3886200"/>
            <a:ext cx="41148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>
                <a:solidFill>
                  <a:srgbClr val="555667"/>
                </a:solidFill>
                <a:latin typeface="Open Sans"/>
              </a:rPr>
              <a:t>Logica di business (hash, regole, token)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63840" y="3886200"/>
            <a:ext cx="41148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>
                <a:solidFill>
                  <a:srgbClr val="555667"/>
                </a:solidFill>
                <a:latin typeface="Open Sans"/>
              </a:rPr>
              <a:t>Express (no req/res)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" y="4617720"/>
            <a:ext cx="27432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>
                <a:solidFill>
                  <a:srgbClr val="111820"/>
                </a:solidFill>
                <a:latin typeface="Open Sans"/>
              </a:rPr>
              <a:t>Repositories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0" y="4663440"/>
            <a:ext cx="41148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>
                <a:solidFill>
                  <a:srgbClr val="555667"/>
                </a:solidFill>
                <a:latin typeface="Open Sans"/>
              </a:rPr>
              <a:t>Query SQL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863840" y="4663440"/>
            <a:ext cx="41148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>
                <a:solidFill>
                  <a:srgbClr val="555667"/>
                </a:solidFill>
                <a:latin typeface="Open Sans"/>
              </a:rPr>
              <a:t>Esistenza di JWT o bcrypt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8680" y="5394960"/>
            <a:ext cx="27432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>
                <a:solidFill>
                  <a:srgbClr val="111820"/>
                </a:solidFill>
                <a:latin typeface="Open Sans"/>
              </a:rPr>
              <a:t>Middlewares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57600" y="5440680"/>
            <a:ext cx="41148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>
                <a:solidFill>
                  <a:srgbClr val="555667"/>
                </a:solidFill>
                <a:latin typeface="Open Sans"/>
              </a:rPr>
              <a:t>Cross-cutting: auth, errori, log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863840" y="5440680"/>
            <a:ext cx="41148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>
                <a:solidFill>
                  <a:srgbClr val="555667"/>
                </a:solidFill>
                <a:latin typeface="Open Sans"/>
              </a:rPr>
              <a:t>Logica di business specifica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329184"/>
          </a:xfrm>
          <a:prstGeom prst="rect">
            <a:avLst/>
          </a:prstGeom>
          <a:solidFill>
            <a:srgbClr val="111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822960" cy="164592"/>
          </a:xfrm>
          <a:prstGeom prst="rect">
            <a:avLst/>
          </a:prstGeom>
          <a:solidFill>
            <a:srgbClr val="33B8B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18288"/>
            <a:ext cx="82296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Open Sans"/>
              </a:rPr>
              <a:t>WRAP-UP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418320" y="18288"/>
            <a:ext cx="26517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>
                <a:solidFill>
                  <a:srgbClr val="80D3CE"/>
                </a:solidFill>
                <a:latin typeface="Open Sans"/>
              </a:rPr>
              <a:t>CORSO NODE.JS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94360"/>
            <a:ext cx="109728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>
                <a:solidFill>
                  <a:srgbClr val="111820"/>
                </a:solidFill>
                <a:latin typeface="Open Sans"/>
              </a:rPr>
              <a:t>Cosa ci portiamo a casa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1325880"/>
            <a:ext cx="105156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>
                <a:solidFill>
                  <a:srgbClr val="555667"/>
                </a:solidFill>
                <a:latin typeface="Open Sans"/>
              </a:rPr>
              <a:t>Le fondamenta su cui costruiremo l'autenticazione nel pomeriggio.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>
                <a:solidFill>
                  <a:srgbClr val="90909B"/>
                </a:solidFill>
                <a:latin typeface="Open Sans"/>
              </a:rPr>
              <a:t>Giorno 2 — Parte 1 / Middleware + SQLite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492240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0">
                <a:solidFill>
                  <a:srgbClr val="90909B"/>
                </a:solidFill>
                <a:latin typeface="Open Sans"/>
              </a:rPr>
              <a:t>28 / 28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1828800"/>
            <a:ext cx="51206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>
                <a:solidFill>
                  <a:srgbClr val="00A69D"/>
                </a:solidFill>
                <a:latin typeface="Open Sans"/>
              </a:rPr>
              <a:t>OGGI ABBIAMO COSTRUITO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148840"/>
            <a:ext cx="5120640" cy="3657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dirty="0">
                <a:solidFill>
                  <a:srgbClr val="555667"/>
                </a:solidFill>
                <a:latin typeface="Open Sans"/>
              </a:rPr>
              <a:t>Tre tipi di middleware</a:t>
            </a:r>
          </a:p>
          <a:p>
            <a:pPr algn="l"/>
            <a:r>
              <a:rPr sz="1400" b="0" dirty="0">
                <a:solidFill>
                  <a:srgbClr val="555667"/>
                </a:solidFill>
                <a:latin typeface="Open Sans"/>
              </a:rPr>
              <a:t>Error handler </a:t>
            </a:r>
            <a:r>
              <a:rPr sz="1400" b="0" dirty="0" err="1">
                <a:solidFill>
                  <a:srgbClr val="555667"/>
                </a:solidFill>
                <a:latin typeface="Open Sans"/>
              </a:rPr>
              <a:t>centralizzato</a:t>
            </a:r>
            <a:r>
              <a:rPr sz="1400" b="0" dirty="0">
                <a:solidFill>
                  <a:srgbClr val="555667"/>
                </a:solidFill>
                <a:latin typeface="Open Sans"/>
              </a:rPr>
              <a:t> + </a:t>
            </a:r>
            <a:r>
              <a:rPr sz="1400" b="0" dirty="0" err="1">
                <a:solidFill>
                  <a:srgbClr val="555667"/>
                </a:solidFill>
                <a:latin typeface="Open Sans"/>
              </a:rPr>
              <a:t>AppError</a:t>
            </a:r>
            <a:endParaRPr sz="1400" b="0" dirty="0">
              <a:solidFill>
                <a:srgbClr val="555667"/>
              </a:solidFill>
              <a:latin typeface="Open Sans"/>
            </a:endParaRPr>
          </a:p>
          <a:p>
            <a:pPr algn="l"/>
            <a:r>
              <a:rPr sz="1400" b="0" dirty="0" err="1">
                <a:solidFill>
                  <a:srgbClr val="555667"/>
                </a:solidFill>
                <a:latin typeface="Open Sans"/>
              </a:rPr>
              <a:t>asyncHandler</a:t>
            </a:r>
            <a:r>
              <a:rPr sz="1400" b="0" dirty="0">
                <a:solidFill>
                  <a:srgbClr val="555667"/>
                </a:solidFill>
                <a:latin typeface="Open Sans"/>
              </a:rPr>
              <a:t> per route async</a:t>
            </a:r>
          </a:p>
          <a:p>
            <a:pPr algn="l"/>
            <a:r>
              <a:rPr sz="1400" b="0" dirty="0">
                <a:solidFill>
                  <a:srgbClr val="555667"/>
                </a:solidFill>
                <a:latin typeface="Open Sans"/>
              </a:rPr>
              <a:t>SQLite con sqlite3 + </a:t>
            </a:r>
            <a:r>
              <a:rPr sz="1400" b="0" dirty="0" err="1">
                <a:solidFill>
                  <a:srgbClr val="555667"/>
                </a:solidFill>
                <a:latin typeface="Open Sans"/>
              </a:rPr>
              <a:t>sqlite</a:t>
            </a:r>
            <a:r>
              <a:rPr sz="1400" b="0" dirty="0">
                <a:solidFill>
                  <a:srgbClr val="555667"/>
                </a:solidFill>
                <a:latin typeface="Open Sans"/>
              </a:rPr>
              <a:t> (async/await)</a:t>
            </a:r>
          </a:p>
          <a:p>
            <a:pPr algn="l"/>
            <a:r>
              <a:rPr sz="1400" b="0" dirty="0">
                <a:solidFill>
                  <a:srgbClr val="555667"/>
                </a:solidFill>
                <a:latin typeface="Open Sans"/>
              </a:rPr>
              <a:t>Schema users con UNIQUE </a:t>
            </a:r>
            <a:r>
              <a:rPr sz="1400" b="0" dirty="0" err="1">
                <a:solidFill>
                  <a:srgbClr val="555667"/>
                </a:solidFill>
                <a:latin typeface="Open Sans"/>
              </a:rPr>
              <a:t>su</a:t>
            </a:r>
            <a:r>
              <a:rPr sz="1400" b="0" dirty="0">
                <a:solidFill>
                  <a:srgbClr val="555667"/>
                </a:solidFill>
                <a:latin typeface="Open Sans"/>
              </a:rPr>
              <a:t> email</a:t>
            </a:r>
          </a:p>
          <a:p>
            <a:pPr algn="l"/>
            <a:r>
              <a:rPr sz="1400" b="0" dirty="0" err="1">
                <a:solidFill>
                  <a:srgbClr val="555667"/>
                </a:solidFill>
                <a:latin typeface="Open Sans"/>
              </a:rPr>
              <a:t>UserRepository</a:t>
            </a:r>
            <a:r>
              <a:rPr sz="1400" b="0" dirty="0">
                <a:solidFill>
                  <a:srgbClr val="555667"/>
                </a:solidFill>
                <a:latin typeface="Open Sans"/>
              </a:rPr>
              <a:t> (find/create/update/delete)</a:t>
            </a:r>
          </a:p>
          <a:p>
            <a:pPr algn="l"/>
            <a:r>
              <a:rPr sz="1400" b="0" dirty="0" err="1">
                <a:solidFill>
                  <a:srgbClr val="555667"/>
                </a:solidFill>
                <a:latin typeface="Open Sans"/>
              </a:rPr>
              <a:t>Struttura</a:t>
            </a:r>
            <a:r>
              <a:rPr sz="1400" b="0" dirty="0">
                <a:solidFill>
                  <a:srgbClr val="555667"/>
                </a:solidFill>
                <a:latin typeface="Open Sans"/>
              </a:rPr>
              <a:t> a layer completa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5080" y="1828800"/>
            <a:ext cx="5212080" cy="1692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dirty="0">
                <a:solidFill>
                  <a:srgbClr val="00A69D"/>
                </a:solidFill>
                <a:latin typeface="Open Sans"/>
              </a:rPr>
              <a:t>PARTE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55080" y="2148840"/>
            <a:ext cx="5212080" cy="3657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>
                <a:solidFill>
                  <a:srgbClr val="555667"/>
                </a:solidFill>
                <a:latin typeface="Open Sans"/>
              </a:rPr>
              <a:t>Validazione con express-validator</a:t>
            </a:r>
          </a:p>
          <a:p>
            <a:pPr algn="l"/>
            <a:r>
              <a:rPr sz="1400" b="0">
                <a:solidFill>
                  <a:srgbClr val="555667"/>
                </a:solidFill>
                <a:latin typeface="Open Sans"/>
              </a:rPr>
              <a:t>dotenv e gestione segreti</a:t>
            </a:r>
          </a:p>
          <a:p>
            <a:pPr algn="l"/>
            <a:r>
              <a:rPr sz="1400" b="0">
                <a:solidFill>
                  <a:srgbClr val="555667"/>
                </a:solidFill>
                <a:latin typeface="Open Sans"/>
              </a:rPr>
              <a:t>bcrypt: hashing password</a:t>
            </a:r>
          </a:p>
          <a:p>
            <a:pPr algn="l"/>
            <a:r>
              <a:rPr sz="1400" b="0">
                <a:solidFill>
                  <a:srgbClr val="555667"/>
                </a:solidFill>
                <a:latin typeface="Open Sans"/>
              </a:rPr>
              <a:t>Service layer (authService)</a:t>
            </a:r>
          </a:p>
          <a:p>
            <a:pPr algn="l"/>
            <a:r>
              <a:rPr sz="1400" b="0">
                <a:solidFill>
                  <a:srgbClr val="555667"/>
                </a:solidFill>
                <a:latin typeface="Open Sans"/>
              </a:rPr>
              <a:t>POST /api/auth/register end-to-end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5852160"/>
            <a:ext cx="105156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>
                <a:solidFill>
                  <a:srgbClr val="00A69D"/>
                </a:solidFill>
                <a:latin typeface="Open Sans"/>
              </a:rPr>
              <a:t>▸ CODICE: codice-esempi/giorno-2-parte-1/  ·  6 mini-progetti pronti da eseguire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51</TotalTime>
  <Words>3276</Words>
  <Application>Microsoft Office PowerPoint</Application>
  <PresentationFormat>Widescreen</PresentationFormat>
  <Paragraphs>501</Paragraphs>
  <Slides>29</Slides>
  <Notes>0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5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29</vt:i4>
      </vt:variant>
    </vt:vector>
  </HeadingPairs>
  <TitlesOfParts>
    <vt:vector size="35" baseType="lpstr">
      <vt:lpstr>Albert Sans ExtraBold</vt:lpstr>
      <vt:lpstr>Arial</vt:lpstr>
      <vt:lpstr>Calibri</vt:lpstr>
      <vt:lpstr>Consolas</vt:lpstr>
      <vt:lpstr>Open Sans</vt:lpstr>
      <vt:lpstr>Office Theme</vt:lpstr>
      <vt:lpstr>Massimo Petrolati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Massimo Petrolati</cp:lastModifiedBy>
  <cp:revision>1</cp:revision>
  <dcterms:created xsi:type="dcterms:W3CDTF">2013-01-27T09:14:16Z</dcterms:created>
  <dcterms:modified xsi:type="dcterms:W3CDTF">2026-05-24T23:38:42Z</dcterms:modified>
  <cp:category/>
</cp:coreProperties>
</file>