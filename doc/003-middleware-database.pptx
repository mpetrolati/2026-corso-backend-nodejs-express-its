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5024F2-F5A5-484E-BD7B-BE86A19306A6}" v="1" dt="2026-05-16T13:10:40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simo Petrolati" userId="e7daa978-26e3-4c4e-8847-ea9e36559ae5" providerId="ADAL" clId="{A7182F9C-EEA7-476B-8E0E-53730D456657}"/>
    <pc:docChg chg="addSld modSld sldOrd">
      <pc:chgData name="Massimo Petrolati" userId="e7daa978-26e3-4c4e-8847-ea9e36559ae5" providerId="ADAL" clId="{A7182F9C-EEA7-476B-8E0E-53730D456657}" dt="2026-05-16T13:11:10.498" v="53" actId="404"/>
      <pc:docMkLst>
        <pc:docMk/>
      </pc:docMkLst>
      <pc:sldChg chg="modSp add mod ord modTransition">
        <pc:chgData name="Massimo Petrolati" userId="e7daa978-26e3-4c4e-8847-ea9e36559ae5" providerId="ADAL" clId="{A7182F9C-EEA7-476B-8E0E-53730D456657}" dt="2026-05-16T13:11:10.498" v="53" actId="404"/>
        <pc:sldMkLst>
          <pc:docMk/>
          <pc:sldMk cId="2685233201" sldId="284"/>
        </pc:sldMkLst>
        <pc:spChg chg="mod">
          <ac:chgData name="Massimo Petrolati" userId="e7daa978-26e3-4c4e-8847-ea9e36559ae5" providerId="ADAL" clId="{A7182F9C-EEA7-476B-8E0E-53730D456657}" dt="2026-05-16T13:11:10.498" v="53" actId="404"/>
          <ac:spMkLst>
            <pc:docMk/>
            <pc:sldMk cId="2685233201" sldId="284"/>
            <ac:spMk id="17" creationId="{E660CF5B-BDDE-A2B6-465D-1938C343BA0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09C6A910-B62B-D5C1-D10E-82D425941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1632072-FBA4-DEF6-3FF9-6E3E001DD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5811443"/>
            <a:ext cx="7035800" cy="98751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B183F8F2-7E4B-0C63-41FC-E499C02BE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824" y="2932044"/>
            <a:ext cx="8216348" cy="112824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6DD2E793-D920-63C5-B636-69383566E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141" y="1988220"/>
            <a:ext cx="4727713" cy="1202635"/>
          </a:xfrm>
          <a:prstGeom prst="rect">
            <a:avLst/>
          </a:prstGeom>
        </p:spPr>
      </p:pic>
      <p:sp>
        <p:nvSpPr>
          <p:cNvPr id="16" name="Titolo 1">
            <a:extLst>
              <a:ext uri="{FF2B5EF4-FFF2-40B4-BE49-F238E27FC236}">
                <a16:creationId xmlns:a16="http://schemas.microsoft.com/office/drawing/2014/main" id="{3A271565-6D7D-D77C-24F3-78367CF1C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60000">
            <a:off x="1523975" y="1978908"/>
            <a:ext cx="9144000" cy="96830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4400" b="1" dirty="0">
                <a:solidFill>
                  <a:srgbClr val="3C3C3B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Massimo Petrolati</a:t>
            </a:r>
            <a:endParaRPr lang="it-IT" b="1" dirty="0">
              <a:solidFill>
                <a:schemeClr val="bg1"/>
              </a:solidFill>
              <a:latin typeface="Albert Sans ExtraBold" pitchFamily="2" charset="77"/>
              <a:cs typeface="Trade Gothic Inline" panose="020F050202020403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660CF5B-BDDE-A2B6-465D-1938C343BA01}"/>
              </a:ext>
            </a:extLst>
          </p:cNvPr>
          <p:cNvSpPr txBox="1"/>
          <p:nvPr/>
        </p:nvSpPr>
        <p:spPr>
          <a:xfrm rot="-60000">
            <a:off x="1969688" y="3330356"/>
            <a:ext cx="8233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200" b="1" dirty="0">
                <a:solidFill>
                  <a:schemeClr val="bg1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Middleware avanzati e </a:t>
            </a:r>
            <a:r>
              <a:rPr lang="it-IT" sz="3200" b="1" dirty="0" err="1">
                <a:solidFill>
                  <a:schemeClr val="bg1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persistanza</a:t>
            </a:r>
            <a:r>
              <a:rPr lang="it-IT" sz="3200" b="1" dirty="0">
                <a:solidFill>
                  <a:schemeClr val="bg1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 con </a:t>
            </a:r>
            <a:r>
              <a:rPr lang="it-IT" sz="3200" b="1" dirty="0" err="1">
                <a:solidFill>
                  <a:schemeClr val="bg1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SQLite</a:t>
            </a:r>
            <a:endParaRPr lang="it-IT" sz="4000" dirty="0"/>
          </a:p>
        </p:txBody>
      </p:sp>
    </p:spTree>
    <p:extLst>
      <p:ext uri="{BB962C8B-B14F-4D97-AF65-F5344CB8AC3E}">
        <p14:creationId xmlns:p14="http://schemas.microsoft.com/office/powerpoint/2010/main" val="268523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80D3CE"/>
                </a:solidFill>
                <a:latin typeface="Open Sans"/>
              </a:rPr>
              <a:t>CORSO NODE.JS + EXPRESS +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pen Sans"/>
              </a:rPr>
              <a:t>Middleware avanzati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pen Sans"/>
              </a:rPr>
              <a:t>e persistenza con SQLite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80D3CE"/>
                </a:solidFill>
                <a:latin typeface="Open Sans"/>
              </a:rPr>
              <a:t>Dal CRUD giocattolo a un'applicazione vera:</a:t>
            </a:r>
          </a:p>
          <a:p>
            <a:pPr algn="l"/>
            <a:r>
              <a:rPr sz="2200" b="0">
                <a:solidFill>
                  <a:srgbClr val="80D3CE"/>
                </a:solidFill>
                <a:latin typeface="Open Sans"/>
              </a:rPr>
              <a:t>middleware, error handler, SQLite, repository pattern.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109728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Open Sans"/>
              </a:rPr>
              <a:t>Giorno 2 — Parte 1 / 2 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0909B"/>
                </a:solidFill>
                <a:latin typeface="Open Sans"/>
              </a:rPr>
              <a:t>Livello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5778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3B8B1"/>
                </a:solidFill>
                <a:latin typeface="Open Sans"/>
              </a:rPr>
              <a:t>DOCENTE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58978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Open Sans"/>
              </a:rPr>
              <a:t>Massimo Petrolati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2636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0D3CE"/>
                </a:solidFill>
                <a:latin typeface="Open Sans"/>
              </a:rPr>
              <a:t>Product Manager · Namirial SpA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11820"/>
                </a:solidFill>
                <a:latin typeface="Open Sans"/>
              </a:rPr>
              <a:t>Cosa vedremo oggi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3736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Approfondimento middleware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7830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04872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50591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Error handler centralizzato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49631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18104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163824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Introduzione a SQLite + sqlite3 + 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209544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≈20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31335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877055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Schema della tabella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922775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≈15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44568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590288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Il Repository Pattern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4636008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≈25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5780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30352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Struttura a layer completa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534924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≈10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Approfondimento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I tre tipi e l'ordine di esecuzione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3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01 ·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I tre tipi di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Express ne distingue tre famiglie, ciascuna con uno scope diverso.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4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01  APPLICATION-LEVEL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11820"/>
                </a:solidFill>
                <a:latin typeface="Open Sans"/>
              </a:rPr>
              <a:t>app.use(...)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34640"/>
            <a:ext cx="35204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Vale per tutte le richieste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(o per tutte sotto un path).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Logger, parsing, CORS, helmet.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02  ROUTER-LEVEL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24028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11820"/>
                </a:solidFill>
                <a:latin typeface="Open Sans"/>
              </a:rPr>
              <a:t>router.use(...)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834640"/>
            <a:ext cx="35204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Vale solo per le route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di quel router.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Auth specifica, logging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per area, validatori.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92024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03  ERROR-HANDLING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240280"/>
            <a:ext cx="3520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(err, req, res, next)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834640"/>
            <a:ext cx="35204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Firma a 4 parametri.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Va in coda, dopo tutte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le route. Cattura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ogni next(err).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120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11820"/>
                </a:solidFill>
                <a:latin typeface="Open Sans"/>
              </a:rPr>
              <a:t>L'ordine di registrazione conta: parsing in cima, error handler in coda.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01 ·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L'ordine di registrazione conta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La causa numero uno di "ma perché non funziona?".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5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201168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17922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app.use(express.json());        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1) parsing body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app.use(durata);                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2) logger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</a:t>
            </a:r>
            <a:r>
              <a:rPr sz="1300">
                <a:solidFill>
                  <a:srgbClr val="FFD27F"/>
                </a:solidFill>
                <a:latin typeface="Consolas"/>
              </a:rPr>
              <a:t>'/api'</a:t>
            </a:r>
            <a:r>
              <a:rPr sz="1300">
                <a:solidFill>
                  <a:srgbClr val="E8EEF1"/>
                </a:solidFill>
                <a:latin typeface="Consolas"/>
              </a:rPr>
              <a:t>, autentica);     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3) auth su /api/*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</a:t>
            </a:r>
            <a:r>
              <a:rPr sz="1300">
                <a:solidFill>
                  <a:srgbClr val="FFD27F"/>
                </a:solidFill>
                <a:latin typeface="Consolas"/>
              </a:rPr>
              <a:t>'/api/users'</a:t>
            </a:r>
            <a:r>
              <a:rPr sz="1300">
                <a:solidFill>
                  <a:srgbClr val="E8EEF1"/>
                </a:solidFill>
                <a:latin typeface="Consolas"/>
              </a:rPr>
              <a:t>, userRoutes);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4) route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app.use(errorHandler);          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5) error handler IN FONDO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TRE REGOLE PRATICHE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Parsing (json, urlencoded, cors, helmet) → in CIMA, prima delle route.</a:t>
            </a:r>
          </a:p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Auth → PRIMA delle route che protegge.</a:t>
            </a:r>
          </a:p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Error handler → IN CODA, dopo tutte le route.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01 ·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Middleware utili: durata e factory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Logger del tempo di risposta + middleware parametrizzati.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6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durata.js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521208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258568"/>
            <a:ext cx="488289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durata(req, res, next)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inizio = Date.now();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res.on(</a:t>
            </a:r>
            <a:r>
              <a:rPr sz="1300">
                <a:solidFill>
                  <a:srgbClr val="FFD27F"/>
                </a:solidFill>
                <a:latin typeface="Consolas"/>
              </a:rPr>
              <a:t>'finish'</a:t>
            </a:r>
            <a:r>
              <a:rPr sz="1300">
                <a:solidFill>
                  <a:srgbClr val="E8EEF1"/>
                </a:solidFill>
                <a:latin typeface="Consolas"/>
              </a:rPr>
              <a:t>, ()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ms = Date.now() - inizio;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console.log(</a:t>
            </a:r>
            <a:r>
              <a:rPr sz="1300">
                <a:solidFill>
                  <a:srgbClr val="FFD27F"/>
                </a:solidFill>
                <a:latin typeface="Consolas"/>
              </a:rPr>
              <a:t>`</a:t>
            </a:r>
            <a:r>
              <a:rPr sz="1300">
                <a:solidFill>
                  <a:srgbClr val="E8EEF1"/>
                </a:solidFill>
                <a:latin typeface="Consolas"/>
              </a:rPr>
              <a:t>${req.method} ${req.url}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    -&gt; ${res.statusCode} (${ms}ms)</a:t>
            </a:r>
            <a:r>
              <a:rPr sz="1300">
                <a:solidFill>
                  <a:srgbClr val="FFD27F"/>
                </a:solidFill>
                <a:latin typeface="Consolas"/>
              </a:rPr>
              <a:t>`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next();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factory: richiediHeader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148840"/>
            <a:ext cx="512064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258568"/>
            <a:ext cx="479145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richiediHeader(nome)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(req, res, next)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(!req.headers[nome.toLowerCase()])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res.status(400).json({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    errore: </a:t>
            </a:r>
            <a:r>
              <a:rPr sz="1300">
                <a:solidFill>
                  <a:srgbClr val="FFD27F"/>
                </a:solidFill>
                <a:latin typeface="Consolas"/>
              </a:rPr>
              <a:t>`Manca header ${nome}`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 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next();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};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5364A"/>
                </a:solidFill>
                <a:latin typeface="Open Sans"/>
              </a:rPr>
              <a:t>Il factory pattern è esattamente quello che useremo nel Giorno 3</a:t>
            </a:r>
          </a:p>
          <a:p>
            <a:pPr algn="l"/>
            <a:r>
              <a:rPr sz="1400" b="1">
                <a:solidFill>
                  <a:srgbClr val="35364A"/>
                </a:solidFill>
                <a:latin typeface="Open Sans"/>
              </a:rPr>
              <a:t>per il middleware verifyToken(secret) di JWT.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172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01-middleware-tipi/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Error handler centralizzato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Un solo middleware per tutti gli errori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7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02 · ERROR HANDLER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Il problema da risolvere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Errori sparsi in ogni controller, formati JSON inconsistenti.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8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256032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23408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Controller A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(!user)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res.status(404).json({ errore: </a:t>
            </a:r>
            <a:r>
              <a:rPr sz="1300">
                <a:solidFill>
                  <a:srgbClr val="FFD27F"/>
                </a:solidFill>
                <a:latin typeface="Consolas"/>
              </a:rPr>
              <a:t>'Non trovato'</a:t>
            </a:r>
            <a:r>
              <a:rPr sz="1300">
                <a:solidFill>
                  <a:srgbClr val="E8EEF1"/>
                </a:solidFill>
                <a:latin typeface="Consolas"/>
              </a:rPr>
              <a:t>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Controller B (un collega)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(!user)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res.status(404).json({ message: </a:t>
            </a:r>
            <a:r>
              <a:rPr sz="1300">
                <a:solidFill>
                  <a:srgbClr val="FFD27F"/>
                </a:solidFill>
                <a:latin typeface="Consolas"/>
              </a:rPr>
              <a:t>'Not found'</a:t>
            </a:r>
            <a:r>
              <a:rPr sz="1300">
                <a:solidFill>
                  <a:srgbClr val="E8EEF1"/>
                </a:solidFill>
                <a:latin typeface="Consolas"/>
              </a:rPr>
              <a:t>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Controller C (altro collega)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(!user)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res.status(404).send(</a:t>
            </a:r>
            <a:r>
              <a:rPr sz="1300">
                <a:solidFill>
                  <a:srgbClr val="FFD27F"/>
                </a:solidFill>
                <a:latin typeface="Consolas"/>
              </a:rPr>
              <a:t>'Utente inesistente'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63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RISULTATO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83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Il client non sa cosa aspettarsi. La gestione errori è duplicata in N posti.</a:t>
            </a:r>
          </a:p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E quando un controller async lancia un'eccezione non catturata,</a:t>
            </a:r>
          </a:p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Express manda HTML brutto al client. Soluzione: centralizzare.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02 · ERROR HANDLER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Il middleware error handler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Firma a 4 parametri (err, req, res, next), registrato per ultimo.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9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201168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17922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src/middlewares/errorHandler.js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errorHandler(err, req, res, next)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console.error(err);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status = err.statusCode || 500;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message = err.message || </a:t>
            </a:r>
            <a:r>
              <a:rPr sz="1300">
                <a:solidFill>
                  <a:srgbClr val="FFD27F"/>
                </a:solidFill>
                <a:latin typeface="Consolas"/>
              </a:rPr>
              <a:t>'Errore interno'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res.status(status).json({ errore: message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REGISTRAZIONE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343400"/>
            <a:ext cx="10515600" cy="155448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2" y="4453128"/>
            <a:ext cx="1018641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</a:t>
            </a:r>
            <a:r>
              <a:rPr sz="1300">
                <a:solidFill>
                  <a:srgbClr val="FFD27F"/>
                </a:solidFill>
                <a:latin typeface="Consolas"/>
              </a:rPr>
              <a:t>'/api/users'</a:t>
            </a:r>
            <a:r>
              <a:rPr sz="1300">
                <a:solidFill>
                  <a:srgbClr val="E8EEF1"/>
                </a:solidFill>
                <a:latin typeface="Consolas"/>
              </a:rPr>
              <a:t>, userRoutes);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app.use((req, res) =&gt; res.status(404).json({ errore: </a:t>
            </a:r>
            <a:r>
              <a:rPr sz="1300">
                <a:solidFill>
                  <a:srgbClr val="FFD27F"/>
                </a:solidFill>
                <a:latin typeface="Consolas"/>
              </a:rPr>
              <a:t>'Route non trovata'</a:t>
            </a:r>
            <a:r>
              <a:rPr sz="1300">
                <a:solidFill>
                  <a:srgbClr val="E8EEF1"/>
                </a:solidFill>
                <a:latin typeface="Consolas"/>
              </a:rPr>
              <a:t> }));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app.use(errorHandler);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&lt;-- in fondo a tutto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02 · ERROR HANDLER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Classe AppError + asyncHandler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Costruire errori in una riga, catturare le promise rifiutate.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10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AppError.js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5212080" cy="18288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258568"/>
            <a:ext cx="4882896" cy="1609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class</a:t>
            </a:r>
            <a:r>
              <a:rPr sz="1300">
                <a:solidFill>
                  <a:srgbClr val="E8EEF1"/>
                </a:solidFill>
                <a:latin typeface="Consolas"/>
              </a:rPr>
              <a:t> AppError </a:t>
            </a:r>
            <a:r>
              <a:rPr sz="1300" b="1">
                <a:solidFill>
                  <a:srgbClr val="5DD8C3"/>
                </a:solidFill>
                <a:latin typeface="Consolas"/>
              </a:rPr>
              <a:t>extends</a:t>
            </a:r>
            <a:r>
              <a:rPr sz="1300">
                <a:solidFill>
                  <a:srgbClr val="E8EEF1"/>
                </a:solidFill>
                <a:latin typeface="Consolas"/>
              </a:rPr>
              <a:t> Error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constructor(message, statusCode = 500)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super</a:t>
            </a:r>
            <a:r>
              <a:rPr sz="1300">
                <a:solidFill>
                  <a:srgbClr val="E8EEF1"/>
                </a:solidFill>
                <a:latin typeface="Consolas"/>
              </a:rPr>
              <a:t>(message);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this</a:t>
            </a:r>
            <a:r>
              <a:rPr sz="1300">
                <a:solidFill>
                  <a:srgbClr val="E8EEF1"/>
                </a:solidFill>
                <a:latin typeface="Consolas"/>
              </a:rPr>
              <a:t>.statusCode = statusCode;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this</a:t>
            </a:r>
            <a:r>
              <a:rPr sz="1300">
                <a:solidFill>
                  <a:srgbClr val="E8EEF1"/>
                </a:solidFill>
                <a:latin typeface="Consolas"/>
              </a:rPr>
              <a:t>.name = </a:t>
            </a:r>
            <a:r>
              <a:rPr sz="1300">
                <a:solidFill>
                  <a:srgbClr val="FFD27F"/>
                </a:solidFill>
                <a:latin typeface="Consolas"/>
              </a:rPr>
              <a:t>'AppError'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asyncHandler.js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148840"/>
            <a:ext cx="5120640" cy="18288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258568"/>
            <a:ext cx="4791456" cy="1609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asyncHandler = (fn) =&gt;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(req, res, next) =&gt;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Promise.resolve(fn(req, res, next))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  .</a:t>
            </a:r>
            <a:r>
              <a:rPr sz="1300" b="1">
                <a:solidFill>
                  <a:srgbClr val="5DD8C3"/>
                </a:solidFill>
                <a:latin typeface="Consolas"/>
              </a:rPr>
              <a:t>catch</a:t>
            </a:r>
            <a:r>
              <a:rPr sz="1300">
                <a:solidFill>
                  <a:srgbClr val="E8EEF1"/>
                </a:solidFill>
                <a:latin typeface="Consolas"/>
              </a:rPr>
              <a:t>(next);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NEI CONTROLLER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480560"/>
            <a:ext cx="10515600" cy="155448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" y="4590288"/>
            <a:ext cx="10186416" cy="1335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router.get(</a:t>
            </a:r>
            <a:r>
              <a:rPr sz="1300">
                <a:solidFill>
                  <a:srgbClr val="FFD27F"/>
                </a:solidFill>
                <a:latin typeface="Consolas"/>
              </a:rPr>
              <a:t>'/:id'</a:t>
            </a:r>
            <a:r>
              <a:rPr sz="1300">
                <a:solidFill>
                  <a:srgbClr val="E8EEF1"/>
                </a:solidFill>
                <a:latin typeface="Consolas"/>
              </a:rPr>
              <a:t>, asyncHandler(</a:t>
            </a:r>
            <a:r>
              <a:rPr sz="1300" b="1">
                <a:solidFill>
                  <a:srgbClr val="5DD8C3"/>
                </a:solidFill>
                <a:latin typeface="Consolas"/>
              </a:rPr>
              <a:t>async</a:t>
            </a:r>
            <a:r>
              <a:rPr sz="1300">
                <a:solidFill>
                  <a:srgbClr val="E8EEF1"/>
                </a:solidFill>
                <a:latin typeface="Consolas"/>
              </a:rPr>
              <a:t>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user = </a:t>
            </a:r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userRepository.findById(req.params.id);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(!user) </a:t>
            </a:r>
            <a:r>
              <a:rPr sz="1300" b="1">
                <a:solidFill>
                  <a:srgbClr val="5DD8C3"/>
                </a:solidFill>
                <a:latin typeface="Consolas"/>
              </a:rPr>
              <a:t>throw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new</a:t>
            </a:r>
            <a:r>
              <a:rPr sz="1300">
                <a:solidFill>
                  <a:srgbClr val="E8EEF1"/>
                </a:solidFill>
                <a:latin typeface="Consolas"/>
              </a:rPr>
              <a:t> AppError(</a:t>
            </a:r>
            <a:r>
              <a:rPr sz="1300">
                <a:solidFill>
                  <a:srgbClr val="FFD27F"/>
                </a:solidFill>
                <a:latin typeface="Consolas"/>
              </a:rPr>
              <a:t>'Utente non trovato'</a:t>
            </a:r>
            <a:r>
              <a:rPr sz="1300">
                <a:solidFill>
                  <a:srgbClr val="E8EEF1"/>
                </a:solidFill>
                <a:latin typeface="Consolas"/>
              </a:rPr>
              <a:t>, 404);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res.json(user);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172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02-error-handler/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SQLite + sqlite3 + sqlite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Un database vero, niente compilatori, async/await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11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03 ·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Perché SQLite (e sqlite3 + sqlite)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Zero configurazione, file unico, binari precompilati per Windows.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12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PERCHÉ SQLITE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Zero config: niente demone, niente utenti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Tutto in un file .db sul disco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SQL standard (90% portabile a Postgres)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iOS, Chrome, Firefox lo usano in produzione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DRIVER: SQLITE3 +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sqlite3: binari precompilati per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Windows/macOS/Linux.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Niente Visual Studio Build Tools.</a:t>
            </a:r>
          </a:p>
          <a:p>
            <a:pPr algn="l"/>
            <a:endParaRPr sz="1400" b="0">
              <a:solidFill>
                <a:srgbClr val="555667"/>
              </a:solidFill>
              <a:latin typeface="Open Sans"/>
            </a:endParaRP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sqlite: wrapper a Promise sopra sqlite3.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Codice async/await pulito.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074920"/>
            <a:ext cx="10515600" cy="10058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" y="5184648"/>
            <a:ext cx="10186416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$ npm install sqlite3 sqlite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03 ·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Le tre operazioni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db.get / db.all / db.run — tutte async, tutte con await.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13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384048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36210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sqlite3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'sqlite3'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{ open }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'sqlite'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db = </a:t>
            </a:r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open({ filename: </a:t>
            </a:r>
            <a:r>
              <a:rPr sz="1300">
                <a:solidFill>
                  <a:srgbClr val="FFD27F"/>
                </a:solidFill>
                <a:latin typeface="Consolas"/>
              </a:rPr>
              <a:t>'./data/app.db'</a:t>
            </a:r>
            <a:r>
              <a:rPr sz="1300">
                <a:solidFill>
                  <a:srgbClr val="E8EEF1"/>
                </a:solidFill>
                <a:latin typeface="Consolas"/>
              </a:rPr>
              <a:t>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                    driver: sqlite3.Database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.get(...) → UNA riga o undefined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user = </a:t>
            </a:r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db.get(</a:t>
            </a:r>
            <a:r>
              <a:rPr sz="1300">
                <a:solidFill>
                  <a:srgbClr val="FFD27F"/>
                </a:solidFill>
                <a:latin typeface="Consolas"/>
              </a:rPr>
              <a:t>'SELECT * FROM users WHERE id = ?'</a:t>
            </a:r>
            <a:r>
              <a:rPr sz="1300">
                <a:solidFill>
                  <a:srgbClr val="E8EEF1"/>
                </a:solidFill>
                <a:latin typeface="Consolas"/>
              </a:rPr>
              <a:t>, 1);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.all(...) → TUTTE le righe come array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users = </a:t>
            </a:r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db.all(</a:t>
            </a:r>
            <a:r>
              <a:rPr sz="1300">
                <a:solidFill>
                  <a:srgbClr val="FFD27F"/>
                </a:solidFill>
                <a:latin typeface="Consolas"/>
              </a:rPr>
              <a:t>'SELECT * FROM users'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.run(...) → INSERT / UPDATE / DELETE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info = </a:t>
            </a:r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db.run(</a:t>
            </a:r>
            <a:r>
              <a:rPr sz="1300">
                <a:solidFill>
                  <a:srgbClr val="FFD27F"/>
                </a:solidFill>
                <a:latin typeface="Consolas"/>
              </a:rPr>
              <a:t>'INSERT INTO users (email,...) VALUES (?,...)'</a:t>
            </a:r>
            <a:r>
              <a:rPr sz="1300">
                <a:solidFill>
                  <a:srgbClr val="E8EEF1"/>
                </a:solidFill>
                <a:latin typeface="Consolas"/>
              </a:rPr>
              <a:t>, email);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console.log(</a:t>
            </a:r>
            <a:r>
              <a:rPr sz="1300">
                <a:solidFill>
                  <a:srgbClr val="FFD27F"/>
                </a:solidFill>
                <a:latin typeface="Consolas"/>
              </a:rPr>
              <a:t>'Inserito id:'</a:t>
            </a:r>
            <a:r>
              <a:rPr sz="1300">
                <a:solidFill>
                  <a:srgbClr val="E8EEF1"/>
                </a:solidFill>
                <a:latin typeface="Consolas"/>
              </a:rPr>
              <a:t>, info.lastID);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03-sqlite-base/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03 · SQLITE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Query parametrizzate: il `?` è obbligatorio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Mai concatenare valori in una query SQL. È vulnerabilità 1 nel web.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14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14630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1243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SBAGLIATISSIMO — non fare MAI questo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db.get(</a:t>
            </a:r>
            <a:r>
              <a:rPr sz="1300">
                <a:solidFill>
                  <a:srgbClr val="FFD27F"/>
                </a:solidFill>
                <a:latin typeface="Consolas"/>
              </a:rPr>
              <a:t>`SELECT * FROM users WHERE email = '${email}'`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474720"/>
            <a:ext cx="10515600" cy="128016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2" y="3584448"/>
            <a:ext cx="10186416" cy="10607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GIUSTO — la libreria sanitizza i valori per te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db.get(</a:t>
            </a:r>
            <a:r>
              <a:rPr sz="1300">
                <a:solidFill>
                  <a:srgbClr val="FFD27F"/>
                </a:solidFill>
                <a:latin typeface="Consolas"/>
              </a:rPr>
              <a:t>'SELECT * FROM users WHERE email = ?'</a:t>
            </a:r>
            <a:r>
              <a:rPr sz="1300">
                <a:solidFill>
                  <a:srgbClr val="E8EEF1"/>
                </a:solidFill>
                <a:latin typeface="Consolas"/>
              </a:rPr>
              <a:t>, email);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37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IL PRINCIPIO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2578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Ogni valore che viene dall'utente passa SEMPRE attraverso un placeholder ?.</a:t>
            </a:r>
          </a:p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Fallo diventare un riflesso: ti salverà da bug e da vulnerabilità.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Schema della tabella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DDL, scelte di progetto, bootstrap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15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04 · SCHEMA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La DDL 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Una tabella semplice oggi, estendibile domani.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16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402336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38039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CREATE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TABLE</a:t>
            </a:r>
            <a:r>
              <a:rPr sz="1300">
                <a:solidFill>
                  <a:srgbClr val="E8EEF1"/>
                </a:solidFill>
                <a:latin typeface="Consolas"/>
              </a:rPr>
              <a:t> IF </a:t>
            </a:r>
            <a:r>
              <a:rPr sz="1300" b="1">
                <a:solidFill>
                  <a:srgbClr val="5DD8C3"/>
                </a:solidFill>
                <a:latin typeface="Consolas"/>
              </a:rPr>
              <a:t>NOT</a:t>
            </a:r>
            <a:r>
              <a:rPr sz="1300">
                <a:solidFill>
                  <a:srgbClr val="E8EEF1"/>
                </a:solidFill>
                <a:latin typeface="Consolas"/>
              </a:rPr>
              <a:t> EXISTS users (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id            INTEGER </a:t>
            </a:r>
            <a:r>
              <a:rPr sz="1300" b="1">
                <a:solidFill>
                  <a:srgbClr val="5DD8C3"/>
                </a:solidFill>
                <a:latin typeface="Consolas"/>
              </a:rPr>
              <a:t>PRIMARY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KEY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AUTOINCREMENT</a:t>
            </a:r>
            <a:r>
              <a:rPr sz="1300">
                <a:solidFill>
                  <a:srgbClr val="E8EEF1"/>
                </a:solidFill>
                <a:latin typeface="Consolas"/>
              </a:rPr>
              <a:t>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email         TEXT </a:t>
            </a:r>
            <a:r>
              <a:rPr sz="1300" b="1">
                <a:solidFill>
                  <a:srgbClr val="5DD8C3"/>
                </a:solidFill>
                <a:latin typeface="Consolas"/>
              </a:rPr>
              <a:t>NOT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NULL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UNIQUE</a:t>
            </a:r>
            <a:r>
              <a:rPr sz="1300">
                <a:solidFill>
                  <a:srgbClr val="E8EEF1"/>
                </a:solidFill>
                <a:latin typeface="Consolas"/>
              </a:rPr>
              <a:t>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password_hash TEXT </a:t>
            </a:r>
            <a:r>
              <a:rPr sz="1300" b="1">
                <a:solidFill>
                  <a:srgbClr val="5DD8C3"/>
                </a:solidFill>
                <a:latin typeface="Consolas"/>
              </a:rPr>
              <a:t>NOT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NULL</a:t>
            </a:r>
            <a:r>
              <a:rPr sz="1300">
                <a:solidFill>
                  <a:srgbClr val="E8EEF1"/>
                </a:solidFill>
                <a:latin typeface="Consolas"/>
              </a:rPr>
              <a:t>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name          TEXT,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role          TEXT </a:t>
            </a:r>
            <a:r>
              <a:rPr sz="1300" b="1">
                <a:solidFill>
                  <a:srgbClr val="5DD8C3"/>
                </a:solidFill>
                <a:latin typeface="Consolas"/>
              </a:rPr>
              <a:t>NOT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NULL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DEFAULT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'user'</a:t>
            </a:r>
            <a:r>
              <a:rPr sz="1300">
                <a:solidFill>
                  <a:srgbClr val="E8EEF1"/>
                </a:solidFill>
                <a:latin typeface="Consolas"/>
              </a:rPr>
              <a:t>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created_at    DATETIME </a:t>
            </a:r>
            <a:r>
              <a:rPr sz="1300" b="1">
                <a:solidFill>
                  <a:srgbClr val="5DD8C3"/>
                </a:solidFill>
                <a:latin typeface="Consolas"/>
              </a:rPr>
              <a:t>NOT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NULL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DEFAULT</a:t>
            </a:r>
            <a:r>
              <a:rPr sz="1300">
                <a:solidFill>
                  <a:srgbClr val="E8EEF1"/>
                </a:solidFill>
                <a:latin typeface="Consolas"/>
              </a:rPr>
              <a:t> CURRENT_TIMESTAMP,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updated_at    DATETIME </a:t>
            </a:r>
            <a:r>
              <a:rPr sz="1300" b="1">
                <a:solidFill>
                  <a:srgbClr val="5DD8C3"/>
                </a:solidFill>
                <a:latin typeface="Consolas"/>
              </a:rPr>
              <a:t>NOT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NULL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DEFAULT</a:t>
            </a:r>
            <a:r>
              <a:rPr sz="1300">
                <a:solidFill>
                  <a:srgbClr val="E8EEF1"/>
                </a:solidFill>
                <a:latin typeface="Consolas"/>
              </a:rPr>
              <a:t> CURRENT_TIMESTAMP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CREATE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INDEX</a:t>
            </a:r>
            <a:r>
              <a:rPr sz="1300">
                <a:solidFill>
                  <a:srgbClr val="E8EEF1"/>
                </a:solidFill>
                <a:latin typeface="Consolas"/>
              </a:rPr>
              <a:t> IF </a:t>
            </a:r>
            <a:r>
              <a:rPr sz="1300" b="1">
                <a:solidFill>
                  <a:srgbClr val="5DD8C3"/>
                </a:solidFill>
                <a:latin typeface="Consolas"/>
              </a:rPr>
              <a:t>NOT</a:t>
            </a:r>
            <a:r>
              <a:rPr sz="1300">
                <a:solidFill>
                  <a:srgbClr val="E8EEF1"/>
                </a:solidFill>
                <a:latin typeface="Consolas"/>
              </a:rPr>
              <a:t> EXISTS idx_users_email ON users(email);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04 · SCHEMA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Ogni colonna, ogni scelta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Ricordati di queste motivazioni: te le porterai in ogni progetto.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17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email TEXT NOT NULL UNIQUE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UNIQUE a livello DB: ultima difesa anche se il check applicativo fallisce.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password_hash TEXT NOT 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Il nome del campo ti ricorda visivamente: qui dentro non c'è la password in chiaro.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role TEXT NOT NULL DEFAULT 'user'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77639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Predisposto per gestione permessi futura. Costa zero metterlo ora, molto aggiungerlo dopo.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created_at / updated_at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Audit, ordinamento, debugging. Always-on in ogni tabella, da abitudine.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INDEX idx_users_email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Ogni login farà WHERE email = ?. L'indice rende la lookup O(log n).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04 · SCHEMA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Bootstrap della connessione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src/db/connection.js — apertura DB + esecuzione schema all'avvio.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18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402336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38039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sqlite3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'sqlite3'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{ open }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'sqlite'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{ readFileSync, mkdirSync }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'fs'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path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'path'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{ fileURLToPath }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'url'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__dirname = path.dirname(fileURLToPath(</a:t>
            </a:r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.meta.url));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dataDir = path.join(__dirname, </a:t>
            </a:r>
            <a:r>
              <a:rPr sz="1300">
                <a:solidFill>
                  <a:srgbClr val="FFD27F"/>
                </a:solidFill>
                <a:latin typeface="Consolas"/>
              </a:rPr>
              <a:t>'../../data'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mkdirSync(dataDir, { recursive: </a:t>
            </a:r>
            <a:r>
              <a:rPr sz="1300" b="1">
                <a:solidFill>
                  <a:srgbClr val="5DD8C3"/>
                </a:solidFill>
                <a:latin typeface="Consolas"/>
              </a:rPr>
              <a:t>true</a:t>
            </a:r>
            <a:r>
              <a:rPr sz="1300">
                <a:solidFill>
                  <a:srgbClr val="E8EEF1"/>
                </a:solidFill>
                <a:latin typeface="Consolas"/>
              </a:rPr>
              <a:t>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top-level await: il modulo espone db gia' pronto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db = </a:t>
            </a:r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open({ filename: path.join(dataDir, </a:t>
            </a:r>
            <a:r>
              <a:rPr sz="1300">
                <a:solidFill>
                  <a:srgbClr val="FFD27F"/>
                </a:solidFill>
                <a:latin typeface="Consolas"/>
              </a:rPr>
              <a:t>'app.db'</a:t>
            </a:r>
            <a:r>
              <a:rPr sz="1300">
                <a:solidFill>
                  <a:srgbClr val="E8EEF1"/>
                </a:solidFill>
                <a:latin typeface="Consolas"/>
              </a:rPr>
              <a:t>),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                    driver: sqlite3.Database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schema = readFileSync(path.join(__dirname, </a:t>
            </a:r>
            <a:r>
              <a:rPr sz="1300">
                <a:solidFill>
                  <a:srgbClr val="FFD27F"/>
                </a:solidFill>
                <a:latin typeface="Consolas"/>
              </a:rPr>
              <a:t>'schema.sql'</a:t>
            </a:r>
            <a:r>
              <a:rPr sz="1300">
                <a:solidFill>
                  <a:srgbClr val="E8EEF1"/>
                </a:solidFill>
                <a:latin typeface="Consolas"/>
              </a:rPr>
              <a:t>), </a:t>
            </a:r>
            <a:r>
              <a:rPr sz="1300">
                <a:solidFill>
                  <a:srgbClr val="FFD27F"/>
                </a:solidFill>
                <a:latin typeface="Consolas"/>
              </a:rPr>
              <a:t>'utf-8'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db.exec(schema);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default</a:t>
            </a:r>
            <a:r>
              <a:rPr sz="1300">
                <a:solidFill>
                  <a:srgbClr val="E8EEF1"/>
                </a:solidFill>
                <a:latin typeface="Consolas"/>
              </a:rPr>
              <a:t> db;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89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04-schema-users/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Il Repository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Tutto il DB in un file solo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19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Il principio: chi conosce il DB?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Il database lo conosce solo il repository. Tutto il resto chiama funzioni neutre.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20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DUE VANTAGGI CONCRETI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9456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Manutenibilità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Cambiare DB significa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riscrivere SOLO il repository.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Route, controller, service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restano intatti.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9456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Testabilità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743200"/>
            <a:ext cx="521208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In test si sostituisce il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repository con un mock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che ritorna dati hard-coded.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Niente DB vero nei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5364A"/>
                </a:solidFill>
                <a:latin typeface="Open Sans"/>
              </a:rPr>
              <a:t>Non è inventato qui: è un pattern architetturale presente</a:t>
            </a:r>
          </a:p>
          <a:p>
            <a:pPr algn="l"/>
            <a:r>
              <a:rPr sz="1500" b="1">
                <a:solidFill>
                  <a:srgbClr val="35364A"/>
                </a:solidFill>
                <a:latin typeface="Open Sans"/>
              </a:rPr>
              <a:t>in qualsiasi linguaggio (Spring, .NET, Django). Imparato qui, lo userai sempre.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userRepository.js — find e 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Le funzioni essenziali per la nostra Auth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21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42062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3986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db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'../db/connection.js'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async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findByEmail(email)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db.get(</a:t>
            </a:r>
            <a:r>
              <a:rPr sz="1300">
                <a:solidFill>
                  <a:srgbClr val="FFD27F"/>
                </a:solidFill>
                <a:latin typeface="Consolas"/>
              </a:rPr>
              <a:t>'SELECT * FROM users WHERE email = ?'</a:t>
            </a:r>
            <a:r>
              <a:rPr sz="1300">
                <a:solidFill>
                  <a:srgbClr val="E8EEF1"/>
                </a:solidFill>
                <a:latin typeface="Consolas"/>
              </a:rPr>
              <a:t>, email);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async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findById(id)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db.get(</a:t>
            </a:r>
            <a:r>
              <a:rPr sz="1300">
                <a:solidFill>
                  <a:srgbClr val="FFD27F"/>
                </a:solidFill>
                <a:latin typeface="Consolas"/>
              </a:rPr>
              <a:t>'SELECT * FROM users WHERE id = ?'</a:t>
            </a:r>
            <a:r>
              <a:rPr sz="1300">
                <a:solidFill>
                  <a:srgbClr val="E8EEF1"/>
                </a:solidFill>
                <a:latin typeface="Consolas"/>
              </a:rPr>
              <a:t>, id);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async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create({ email, passwordHash, name = </a:t>
            </a:r>
            <a:r>
              <a:rPr sz="1300" b="1">
                <a:solidFill>
                  <a:srgbClr val="5DD8C3"/>
                </a:solidFill>
                <a:latin typeface="Consolas"/>
              </a:rPr>
              <a:t>null</a:t>
            </a:r>
            <a:r>
              <a:rPr sz="1300">
                <a:solidFill>
                  <a:srgbClr val="E8EEF1"/>
                </a:solidFill>
                <a:latin typeface="Consolas"/>
              </a:rPr>
              <a:t>, role = </a:t>
            </a:r>
            <a:r>
              <a:rPr sz="1300">
                <a:solidFill>
                  <a:srgbClr val="FFD27F"/>
                </a:solidFill>
                <a:latin typeface="Consolas"/>
              </a:rPr>
              <a:t>'user'</a:t>
            </a:r>
            <a:r>
              <a:rPr sz="1300">
                <a:solidFill>
                  <a:srgbClr val="E8EEF1"/>
                </a:solidFill>
                <a:latin typeface="Consolas"/>
              </a:rPr>
              <a:t> })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info = </a:t>
            </a:r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db.run(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>
                <a:solidFill>
                  <a:srgbClr val="FFD27F"/>
                </a:solidFill>
                <a:latin typeface="Consolas"/>
              </a:rPr>
              <a:t>`</a:t>
            </a:r>
            <a:r>
              <a:rPr sz="1300" b="1">
                <a:solidFill>
                  <a:srgbClr val="5DD8C3"/>
                </a:solidFill>
                <a:latin typeface="Consolas"/>
              </a:rPr>
              <a:t>INSERT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INTO</a:t>
            </a:r>
            <a:r>
              <a:rPr sz="1300">
                <a:solidFill>
                  <a:srgbClr val="E8EEF1"/>
                </a:solidFill>
                <a:latin typeface="Consolas"/>
              </a:rPr>
              <a:t> users (email, password_hash, name, role)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VALUES</a:t>
            </a:r>
            <a:r>
              <a:rPr sz="1300">
                <a:solidFill>
                  <a:srgbClr val="E8EEF1"/>
                </a:solidFill>
                <a:latin typeface="Consolas"/>
              </a:rPr>
              <a:t> (?, ?, ?, ?)</a:t>
            </a:r>
            <a:r>
              <a:rPr sz="1300">
                <a:solidFill>
                  <a:srgbClr val="FFD27F"/>
                </a:solidFill>
                <a:latin typeface="Consolas"/>
              </a:rPr>
              <a:t>`</a:t>
            </a:r>
            <a:r>
              <a:rPr sz="1300">
                <a:solidFill>
                  <a:srgbClr val="E8EEF1"/>
                </a:solidFill>
                <a:latin typeface="Consolas"/>
              </a:rPr>
              <a:t>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email, passwordHash, name, role);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findById(info.lastID);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sqlite usa lastID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userRepository.js — update e delete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Update parziale costruito dinamicamente, delete con conferma.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22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42062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3986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async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update(id, data)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fields = [];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values = [];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(data.name !== </a:t>
            </a:r>
            <a:r>
              <a:rPr sz="1300" b="1">
                <a:solidFill>
                  <a:srgbClr val="5DD8C3"/>
                </a:solidFill>
                <a:latin typeface="Consolas"/>
              </a:rPr>
              <a:t>undefined</a:t>
            </a:r>
            <a:r>
              <a:rPr sz="1300">
                <a:solidFill>
                  <a:srgbClr val="E8EEF1"/>
                </a:solidFill>
                <a:latin typeface="Consolas"/>
              </a:rPr>
              <a:t>) { fields.push(</a:t>
            </a:r>
            <a:r>
              <a:rPr sz="1300">
                <a:solidFill>
                  <a:srgbClr val="FFD27F"/>
                </a:solidFill>
                <a:latin typeface="Consolas"/>
              </a:rPr>
              <a:t>'name = ?'</a:t>
            </a:r>
            <a:r>
              <a:rPr sz="1300">
                <a:solidFill>
                  <a:srgbClr val="E8EEF1"/>
                </a:solidFill>
                <a:latin typeface="Consolas"/>
              </a:rPr>
              <a:t>);          values.push(data.name); 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(data.passwordHash      ) { fields.push(</a:t>
            </a:r>
            <a:r>
              <a:rPr sz="1300">
                <a:solidFill>
                  <a:srgbClr val="FFD27F"/>
                </a:solidFill>
                <a:latin typeface="Consolas"/>
              </a:rPr>
              <a:t>'password_hash = ?'</a:t>
            </a:r>
            <a:r>
              <a:rPr sz="1300">
                <a:solidFill>
                  <a:srgbClr val="E8EEF1"/>
                </a:solidFill>
                <a:latin typeface="Consolas"/>
              </a:rPr>
              <a:t>); values.push(data.passwordHash); 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(data.role              ) { fields.push(</a:t>
            </a:r>
            <a:r>
              <a:rPr sz="1300">
                <a:solidFill>
                  <a:srgbClr val="FFD27F"/>
                </a:solidFill>
                <a:latin typeface="Consolas"/>
              </a:rPr>
              <a:t>'role = ?'</a:t>
            </a:r>
            <a:r>
              <a:rPr sz="1300">
                <a:solidFill>
                  <a:srgbClr val="E8EEF1"/>
                </a:solidFill>
                <a:latin typeface="Consolas"/>
              </a:rPr>
              <a:t>);          values.push(data.role); 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(fields.length === 0)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findById(id);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fields.push(</a:t>
            </a:r>
            <a:r>
              <a:rPr sz="1300">
                <a:solidFill>
                  <a:srgbClr val="FFD27F"/>
                </a:solidFill>
                <a:latin typeface="Consolas"/>
              </a:rPr>
              <a:t>"updated_at = CURRENT_TIMESTAMP"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values.push(id);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db.run(</a:t>
            </a:r>
            <a:r>
              <a:rPr sz="1300">
                <a:solidFill>
                  <a:srgbClr val="FFD27F"/>
                </a:solidFill>
                <a:latin typeface="Consolas"/>
              </a:rPr>
              <a:t>`UPDATE users SET ${fields.join(', ')} WHERE id = ?`</a:t>
            </a:r>
            <a:r>
              <a:rPr sz="1300">
                <a:solidFill>
                  <a:srgbClr val="E8EEF1"/>
                </a:solidFill>
                <a:latin typeface="Consolas"/>
              </a:rPr>
              <a:t>, ...values);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findById(id);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Refactor: dal CRUD in-memory a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La route è praticamente identica. Cambia solo l'import.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23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PRIMA (in-memory)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521208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258568"/>
            <a:ext cx="488289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* </a:t>
            </a:r>
            <a:r>
              <a:rPr sz="1300" b="1">
                <a:solidFill>
                  <a:srgbClr val="5DD8C3"/>
                </a:solidFill>
                <a:latin typeface="Consolas"/>
              </a:rPr>
              <a:t>as</a:t>
            </a:r>
            <a:r>
              <a:rPr sz="1300">
                <a:solidFill>
                  <a:srgbClr val="E8EEF1"/>
                </a:solidFill>
                <a:latin typeface="Consolas"/>
              </a:rPr>
              <a:t> store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'../data/userStore.js'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router.get(</a:t>
            </a:r>
            <a:r>
              <a:rPr sz="1300">
                <a:solidFill>
                  <a:srgbClr val="FFD27F"/>
                </a:solidFill>
                <a:latin typeface="Consolas"/>
              </a:rPr>
              <a:t>'/:id'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user = store.findById(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req.params.id);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(!user)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res.status(404)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.json({ errore: </a:t>
            </a:r>
            <a:r>
              <a:rPr sz="1300">
                <a:solidFill>
                  <a:srgbClr val="FFD27F"/>
                </a:solidFill>
                <a:latin typeface="Consolas"/>
              </a:rPr>
              <a:t>'Non trovato'</a:t>
            </a:r>
            <a:r>
              <a:rPr sz="1300">
                <a:solidFill>
                  <a:srgbClr val="E8EEF1"/>
                </a:solidFill>
                <a:latin typeface="Consolas"/>
              </a:rPr>
              <a:t>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res.json(user);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DOPO (SQLite via repository)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148840"/>
            <a:ext cx="512064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258568"/>
            <a:ext cx="479145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* </a:t>
            </a:r>
            <a:r>
              <a:rPr sz="1300" b="1">
                <a:solidFill>
                  <a:srgbClr val="5DD8C3"/>
                </a:solidFill>
                <a:latin typeface="Consolas"/>
              </a:rPr>
              <a:t>as</a:t>
            </a:r>
            <a:r>
              <a:rPr sz="1300">
                <a:solidFill>
                  <a:srgbClr val="E8EEF1"/>
                </a:solidFill>
                <a:latin typeface="Consolas"/>
              </a:rPr>
              <a:t> userRepository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'../repositories/userRepository.js'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router.get(</a:t>
            </a:r>
            <a:r>
              <a:rPr sz="1300">
                <a:solidFill>
                  <a:srgbClr val="FFD27F"/>
                </a:solidFill>
                <a:latin typeface="Consolas"/>
              </a:rPr>
              <a:t>'/:id'</a:t>
            </a:r>
            <a:r>
              <a:rPr sz="1300">
                <a:solidFill>
                  <a:srgbClr val="E8EEF1"/>
                </a:solidFill>
                <a:latin typeface="Consolas"/>
              </a:rPr>
              <a:t>, asyncHandler(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async</a:t>
            </a:r>
            <a:r>
              <a:rPr sz="1300">
                <a:solidFill>
                  <a:srgbClr val="E8EEF1"/>
                </a:solidFill>
                <a:latin typeface="Consolas"/>
              </a:rPr>
              <a:t>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user = </a:t>
            </a:r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userRepository.findById(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  req.params.id);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(!user) </a:t>
            </a:r>
            <a:r>
              <a:rPr sz="1300" b="1">
                <a:solidFill>
                  <a:srgbClr val="5DD8C3"/>
                </a:solidFill>
                <a:latin typeface="Consolas"/>
              </a:rPr>
              <a:t>throw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new</a:t>
            </a:r>
            <a:r>
              <a:rPr sz="1300">
                <a:solidFill>
                  <a:srgbClr val="E8EEF1"/>
                </a:solidFill>
                <a:latin typeface="Consolas"/>
              </a:rPr>
              <a:t> AppError(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  </a:t>
            </a:r>
            <a:r>
              <a:rPr sz="1300">
                <a:solidFill>
                  <a:srgbClr val="FFD27F"/>
                </a:solidFill>
                <a:latin typeface="Consolas"/>
              </a:rPr>
              <a:t>'Non trovato'</a:t>
            </a:r>
            <a:r>
              <a:rPr sz="1300">
                <a:solidFill>
                  <a:srgbClr val="E8EEF1"/>
                </a:solidFill>
                <a:latin typeface="Consolas"/>
              </a:rPr>
              <a:t>, 404);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res.json(user);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"Se domani cambiamo SQLite con Postgres,</a:t>
            </a:r>
          </a:p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l'UNICO file che riscrivo è userRepository.js."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172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05-user-repository/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Esporre solo quello che 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Il repository dà tutto. Il layer sopra decide cosa è sicuro mostrare.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24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27432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2523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router.get(</a:t>
            </a:r>
            <a:r>
              <a:rPr sz="1300">
                <a:solidFill>
                  <a:srgbClr val="FFD27F"/>
                </a:solidFill>
                <a:latin typeface="Consolas"/>
              </a:rPr>
              <a:t>'/:id'</a:t>
            </a:r>
            <a:r>
              <a:rPr sz="1300">
                <a:solidFill>
                  <a:srgbClr val="E8EEF1"/>
                </a:solidFill>
                <a:latin typeface="Consolas"/>
              </a:rPr>
              <a:t>, asyncHandler(</a:t>
            </a:r>
            <a:r>
              <a:rPr sz="1300" b="1">
                <a:solidFill>
                  <a:srgbClr val="5DD8C3"/>
                </a:solidFill>
                <a:latin typeface="Consolas"/>
              </a:rPr>
              <a:t>async</a:t>
            </a:r>
            <a:r>
              <a:rPr sz="1300">
                <a:solidFill>
                  <a:srgbClr val="E8EEF1"/>
                </a:solidFill>
                <a:latin typeface="Consolas"/>
              </a:rPr>
              <a:t>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user = </a:t>
            </a:r>
            <a:r>
              <a:rPr sz="1300" b="1">
                <a:solidFill>
                  <a:srgbClr val="5DD8C3"/>
                </a:solidFill>
                <a:latin typeface="Consolas"/>
              </a:rPr>
              <a:t>await</a:t>
            </a:r>
            <a:r>
              <a:rPr sz="1300">
                <a:solidFill>
                  <a:srgbClr val="E8EEF1"/>
                </a:solidFill>
                <a:latin typeface="Consolas"/>
              </a:rPr>
              <a:t> userRepository.findById(req.params.id);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(!user) </a:t>
            </a:r>
            <a:r>
              <a:rPr sz="1300" b="1">
                <a:solidFill>
                  <a:srgbClr val="5DD8C3"/>
                </a:solidFill>
                <a:latin typeface="Consolas"/>
              </a:rPr>
              <a:t>throw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new</a:t>
            </a:r>
            <a:r>
              <a:rPr sz="1300">
                <a:solidFill>
                  <a:srgbClr val="E8EEF1"/>
                </a:solidFill>
                <a:latin typeface="Consolas"/>
              </a:rPr>
              <a:t> AppError(</a:t>
            </a:r>
            <a:r>
              <a:rPr sz="1300">
                <a:solidFill>
                  <a:srgbClr val="FFD27F"/>
                </a:solidFill>
                <a:latin typeface="Consolas"/>
              </a:rPr>
              <a:t>'Utente non trovato'</a:t>
            </a:r>
            <a:r>
              <a:rPr sz="1300">
                <a:solidFill>
                  <a:srgbClr val="E8EEF1"/>
                </a:solidFill>
                <a:latin typeface="Consolas"/>
              </a:rPr>
              <a:t>, 404);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  // tolgo password_hash prima di mandare al client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{ password_hash, ...safeUser } = user;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res.json(safeUser);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46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ANTICIPAZIONE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Nel pomeriggio metteremo questa logica dentro un userService che la fa di default.</a:t>
            </a:r>
          </a:p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Il principio: il repository ti dà tutto, tu decidi cosa è sicuro esporre.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Struttura a layer completa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Cosa ogni layer NON deve sapere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25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06 ·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La struttura che useremo per tutto il corso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Predisposta oggi, completata domani con services e middlewares di auth.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26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6858000" cy="402336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6528816" cy="38039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src/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db/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│   ├── connection.js     ← apre il DB + bootstrap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│   └── schema.sql        ← DDL tabella users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repositories/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│   └── userRepository.js ← UNICO punto col DB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routes/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│   └── userRoutes.js     ← /api/users/*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middlewares/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│   └── errorHandler.js   ← gestione centralizzata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utils/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│   ├── AppError.js       ← classe errore custom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│   └── asyncHandler.js   ← wrapper </a:t>
            </a:r>
            <a:r>
              <a:rPr sz="1300" b="1">
                <a:solidFill>
                  <a:srgbClr val="5DD8C3"/>
                </a:solidFill>
                <a:latin typeface="Consolas"/>
              </a:rPr>
              <a:t>async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app.js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└── server.js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828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OGGI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14884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db/, repositories/,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middlewares/, utils/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3832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POMERIGGIO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70332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validators/, services/,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config/env.js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846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GIORNO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5166360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authMiddleware,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hashPassword,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generateToken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06 ·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Cosa ogni layer NON deve sapere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La tabella più importante che porti a casa oggi.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27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COSA SA / 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8288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COSA NON DEVE SAPERE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3172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Mappano URL ai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33172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Logica di business né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63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Controllers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10896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Leggono req, chiamano service, scrivono 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10896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Come funziona il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4048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88620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Logica di business (hash, regole, token)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88620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Express (no req/res)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61772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Repositories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66344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Query 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66344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Esistenza di JWT o bcrypt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949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Middlewares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44068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Cross-cutting: auth, errori,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44068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555667"/>
                </a:solidFill>
                <a:latin typeface="Open Sans"/>
              </a:rPr>
              <a:t>Logica di business specifica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11820"/>
                </a:solidFill>
                <a:latin typeface="Open Sans"/>
              </a:rPr>
              <a:t>Cosa ci portiamo a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Le fondamenta su cui costruiremo l'autenticazione nel pomeriggio.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2 — Parte 1 / Middleware +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28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OGGI ABBIAMO COSTRUITO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Tre tipi di middleware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Error handler centralizzato + AppError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asyncHandler per route async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SQLite con sqlite3 + sqlite (async/await)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Schema users con UNIQUE su email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UserRepository (find/create/update/delete)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Struttura a layer completa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POMERIGGIO (PARTE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52120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Validazione con express-validator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dotenv e gestione segreti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bcrypt: hashing password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Service layer (authService)</a:t>
            </a:r>
          </a:p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POST /api/auth/register end-to-end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A69D"/>
                </a:solidFill>
                <a:latin typeface="Open Sans"/>
              </a:rPr>
              <a:t>▸ CODICE: codice-esempi/giorno-2-parte-1/  ·  6 mini-progetti pronti da eseguire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3281</Words>
  <Application>Microsoft Office PowerPoint</Application>
  <PresentationFormat>Widescreen</PresentationFormat>
  <Paragraphs>501</Paragraphs>
  <Slides>29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5" baseType="lpstr">
      <vt:lpstr>Albert Sans ExtraBold</vt:lpstr>
      <vt:lpstr>Arial</vt:lpstr>
      <vt:lpstr>Calibri</vt:lpstr>
      <vt:lpstr>Consolas</vt:lpstr>
      <vt:lpstr>Open Sans</vt:lpstr>
      <vt:lpstr>Office Theme</vt:lpstr>
      <vt:lpstr>Massimo Petrolati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Massimo Petrolati</cp:lastModifiedBy>
  <cp:revision>1</cp:revision>
  <dcterms:created xsi:type="dcterms:W3CDTF">2013-01-27T09:14:16Z</dcterms:created>
  <dcterms:modified xsi:type="dcterms:W3CDTF">2026-05-16T13:11:13Z</dcterms:modified>
  <cp:category/>
</cp:coreProperties>
</file>