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8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5E8CDC-DA6B-407A-8BF5-2158CA0645E7}" v="1" dt="2026-05-16T13:07:57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simo Petrolati" userId="e7daa978-26e3-4c4e-8847-ea9e36559ae5" providerId="ADAL" clId="{A7182F9C-EEA7-476B-8E0E-53730D456657}"/>
    <pc:docChg chg="addSld modSld sldOrd">
      <pc:chgData name="Massimo Petrolati" userId="e7daa978-26e3-4c4e-8847-ea9e36559ae5" providerId="ADAL" clId="{A7182F9C-EEA7-476B-8E0E-53730D456657}" dt="2026-05-16T13:07:59.522" v="2"/>
      <pc:docMkLst>
        <pc:docMk/>
      </pc:docMkLst>
      <pc:sldChg chg="add ord">
        <pc:chgData name="Massimo Petrolati" userId="e7daa978-26e3-4c4e-8847-ea9e36559ae5" providerId="ADAL" clId="{A7182F9C-EEA7-476B-8E0E-53730D456657}" dt="2026-05-16T13:07:59.522" v="2"/>
        <pc:sldMkLst>
          <pc:docMk/>
          <pc:sldMk cId="2685233201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387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E10DDB-AF49-A701-6D0B-A12941C6B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9EA4870-6DA7-E7BC-5336-DA749105A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F4E2BA-2C63-595E-B513-CF7F44250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1788-122F-8F40-A37F-566D1600D3E5}" type="datetimeFigureOut">
              <a:rPr lang="it-IT" smtClean="0"/>
              <a:t>16/05/2026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31B9F16-EE81-8B9B-E905-32DA2CA01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57D27B4-019F-6BE0-158B-E18CBCCEC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7481F-5486-40E1-9E5B-828CF397E1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7297908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09C6A910-B62B-D5C1-D10E-82D425941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01632072-FBA4-DEF6-3FF9-6E3E001DD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200" y="5811443"/>
            <a:ext cx="7035800" cy="987517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B183F8F2-7E4B-0C63-41FC-E499C02BE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824" y="2932044"/>
            <a:ext cx="8216348" cy="1128248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6DD2E793-D920-63C5-B636-69383566E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2141" y="1988220"/>
            <a:ext cx="4727713" cy="1202635"/>
          </a:xfrm>
          <a:prstGeom prst="rect">
            <a:avLst/>
          </a:prstGeom>
        </p:spPr>
      </p:pic>
      <p:sp>
        <p:nvSpPr>
          <p:cNvPr id="16" name="Titolo 1">
            <a:extLst>
              <a:ext uri="{FF2B5EF4-FFF2-40B4-BE49-F238E27FC236}">
                <a16:creationId xmlns:a16="http://schemas.microsoft.com/office/drawing/2014/main" id="{3A271565-6D7D-D77C-24F3-78367CF1C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60000">
            <a:off x="1523975" y="1978908"/>
            <a:ext cx="9144000" cy="96830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4400" b="1" dirty="0">
                <a:solidFill>
                  <a:srgbClr val="3C3C3B"/>
                </a:solidFill>
                <a:latin typeface="Albert Sans ExtraBold" pitchFamily="2" charset="77"/>
                <a:cs typeface="Trade Gothic Inline" panose="020F0502020204030204" pitchFamily="34" charset="0"/>
              </a:rPr>
              <a:t>Massimo Petrolati</a:t>
            </a:r>
            <a:endParaRPr lang="it-IT" b="1" dirty="0">
              <a:solidFill>
                <a:schemeClr val="bg1"/>
              </a:solidFill>
              <a:latin typeface="Albert Sans ExtraBold" pitchFamily="2" charset="77"/>
              <a:cs typeface="Trade Gothic Inline" panose="020F050202020403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660CF5B-BDDE-A2B6-465D-1938C343BA01}"/>
              </a:ext>
            </a:extLst>
          </p:cNvPr>
          <p:cNvSpPr txBox="1"/>
          <p:nvPr/>
        </p:nvSpPr>
        <p:spPr>
          <a:xfrm rot="-60000">
            <a:off x="1969688" y="3268800"/>
            <a:ext cx="82331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b="1" dirty="0">
                <a:solidFill>
                  <a:schemeClr val="bg1"/>
                </a:solidFill>
                <a:latin typeface="Albert Sans ExtraBold" pitchFamily="2" charset="77"/>
                <a:cs typeface="Trade Gothic Inline" panose="020F0502020204030204" pitchFamily="34" charset="0"/>
              </a:rPr>
              <a:t>Fondamenti di NODEJS</a:t>
            </a:r>
            <a:endParaRPr lang="it-IT" sz="4000" dirty="0"/>
          </a:p>
        </p:txBody>
      </p:sp>
    </p:spTree>
    <p:extLst>
      <p:ext uri="{BB962C8B-B14F-4D97-AF65-F5344CB8AC3E}">
        <p14:creationId xmlns:p14="http://schemas.microsoft.com/office/powerpoint/2010/main" val="268523320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 + EXPRESS + JWT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Fondamenti di Node.js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Runtime JavaScript lato server: come funziona,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perché esiste, e il primo server HTTP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4846320"/>
            <a:ext cx="1097280" cy="54864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31520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2 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Livello 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06640" y="5577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33B8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DOCENTE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06640" y="5897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Massimo Petrolati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0" y="6263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Manager · Namirial SpA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Cosa vedremo oggi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73152" cy="7315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68680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B8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011680" y="1828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Cos'è Node.js e perché esiste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875520" y="1828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≈25 min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73152" cy="7315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68680" y="26974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B8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011680" y="2697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Sotto il cofano: V8 ed Event Loop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875520" y="2697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≈25 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73152" cy="7315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868680" y="35661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B8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2011680" y="3566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Installazione e primi passi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875520" y="35661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≈15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73152" cy="7315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868680" y="4434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B8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2011680" y="4434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Moduli e npm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875520" y="44348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≈25 min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548640" y="5303520"/>
            <a:ext cx="73152" cy="7315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868680" y="5303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B8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2011680" y="5303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modulo http: il primo server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875520" y="5303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≈30 min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/ 29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33B8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SEZIONE  · 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Cos'è Node.js e perché esiste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914400" cy="64008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Storia, casi d'uso e limiti del runtime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3031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20000" dirty="0"/>
          </a:p>
        </p:txBody>
      </p:sp>
      <p:sp>
        <p:nvSpPr>
          <p:cNvPr id="8" name="Text 6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 · COS'È NODE.JS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Cos'è Node.js, in una frase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73152" cy="1463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runtime JavaScript lato server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basato sul motore V8 di Chrome.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68680" y="3383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 è un linguaggio. Non è un framework. È un ambiente di esecuzione che permette di lanciare JavaScript fuori dal browser.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1064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73152" cy="155448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6868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Origine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Creato da Ryan Dahl — JSConf EU, 2009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868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L'idea: usare V8 fuori dal browser per scrivere server di rete altamente concorrenti, con un'API non bloccante basata sugli eventi.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/ 29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 · COS'È NODE.JS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Perché è nato Node.js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440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440680" cy="457200"/>
          </a:xfrm>
          <a:prstGeom prst="rect">
            <a:avLst/>
          </a:prstGeom>
          <a:solidFill>
            <a:srgbClr val="35364A"/>
          </a:solidFill>
          <a:ln w="12700">
            <a:solidFill>
              <a:srgbClr val="3536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PROBLEMA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Server tradizionali (Apache)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thread per ogni connessione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Memoria sprecata per richieste in attesa di I/O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Difficile gestire migliaia di client concorrenti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Context-switch costoso per il kernel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5440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6172200" y="1828800"/>
            <a:ext cx="5440680" cy="457200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SOLUZIONE NODE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I/O non bloccante + Event Loop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01752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solo thread per il codice JS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Operazioni I/O delegate al kernel/thread pool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Migliaia di connessioni con poche risorse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Casi d'uso: API REST, chat real-time, microservizi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/ 29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 · COS'È NODE.JS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NON usare Node.js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 è ottimizzato per I/O concorrente. Per task CPU-intensive il single-thread diventa un collo di bottiglia.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5440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73152" cy="1600200"/>
          </a:xfrm>
          <a:prstGeom prst="rect">
            <a:avLst/>
          </a:prstGeom>
          <a:solidFill>
            <a:srgbClr val="C65015"/>
          </a:solidFill>
          <a:ln w="12700">
            <a:solidFill>
              <a:srgbClr val="C6501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Elaborazione video/immagini pesante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Encoding, transcoding, rendering. Usa servizi dedicati (ffmpeg in worker, GPU).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514600"/>
            <a:ext cx="5440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6172200" y="2514600"/>
            <a:ext cx="73152" cy="1600200"/>
          </a:xfrm>
          <a:prstGeom prst="rect">
            <a:avLst/>
          </a:prstGeom>
          <a:solidFill>
            <a:srgbClr val="C65015"/>
          </a:solidFill>
          <a:ln w="12700">
            <a:solidFill>
              <a:srgbClr val="C6501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446520" y="26517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Learning training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31546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Calcoli matriciali enormi. Usa Python con NumPy/TensorFlow/PyTorch.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5440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73152" cy="1600200"/>
          </a:xfrm>
          <a:prstGeom prst="rect">
            <a:avLst/>
          </a:prstGeom>
          <a:solidFill>
            <a:srgbClr val="C65015"/>
          </a:solidFill>
          <a:ln w="12700">
            <a:solidFill>
              <a:srgbClr val="C6501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822960" y="44348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Calcoli scientifici intensivi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Simulazioni numeriche, algoritmi pesanti. Meglio C++, Rust o Go.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4297680"/>
            <a:ext cx="5440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6172200" y="4297680"/>
            <a:ext cx="73152" cy="1600200"/>
          </a:xfrm>
          <a:prstGeom prst="rect">
            <a:avLst/>
          </a:prstGeom>
          <a:solidFill>
            <a:srgbClr val="C65015"/>
          </a:solidFill>
          <a:ln w="12700">
            <a:solidFill>
              <a:srgbClr val="C6501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6446520" y="44348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CPU al 100% per richieste lunghe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493776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Blocca l'event loop e fa cadere tutti gli altri client.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/ 29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33B8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SEZIONE  · 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Sotto il cofano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914400" cy="64008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V8, libuv e l'Event Loop spiegati con calma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3031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20000" dirty="0"/>
          </a:p>
        </p:txBody>
      </p:sp>
      <p:sp>
        <p:nvSpPr>
          <p:cNvPr id="8" name="Text 6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 · SOTTO IL COFANO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motore V8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motore JavaScript open-source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sviluppato da Google per Chrome.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Scritto in C++, compila JavaScript in codice macchina nativo tramite JIT (Just-In-Time compilation). È ciò che rende JS veloce.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V8 viene usato da: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Google Chrome / Edge / Brave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Node.js — il nostro runtime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Deno e Bun usano altri motori, ma il concetto è simile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0" y="1783080"/>
            <a:ext cx="4114800" cy="429768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7498080" y="1783080"/>
            <a:ext cx="4114800" cy="73152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68096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0" y="2377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68096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3B8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COMPILATORE JIT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80960" y="3429000"/>
            <a:ext cx="91440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680960" y="36118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L'interprete legge ed esegue una riga alla volta.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0" y="44348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JIT compila il codice in linguaggio macchina al volo, ottimizzando quello eseguito più spesso.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/ 29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 · SOTTO IL COFANO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Architettura di Node.js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1371600" y="1828800"/>
            <a:ext cx="9418320" cy="7772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645920" y="18745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tuo codice JavaScript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22402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app.js, route, controller, business logic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2743200"/>
            <a:ext cx="9418320" cy="777240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645920" y="27889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di Node.js (http, fs, path, ...)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1546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Moduli built-in scritti in JS che interfacciano con la parte nativa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3657600"/>
            <a:ext cx="9418320" cy="777240"/>
          </a:xfrm>
          <a:prstGeom prst="rect">
            <a:avLst/>
          </a:prstGeom>
          <a:solidFill>
            <a:srgbClr val="35364A"/>
          </a:solidFill>
          <a:ln w="12700">
            <a:solidFill>
              <a:srgbClr val="3536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645920" y="37033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Bindings (C++)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40690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Ponte tra il mondo JS e le librerie native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572000"/>
            <a:ext cx="9418320" cy="7772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645920" y="461772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V8  +  libuv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49834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Motore JS (V8) + Event Loop e Thread Pool (libuv)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libuv è la libreria C che fornisce l'event loop e il pool di thread per le operazioni I/O bloccanti (file system, DNS, alcune crypto).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 / 29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 · SOTTO IL COFANO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Single-thread, ma asincrono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64240" cy="137160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109728" cy="137160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tuo codice JavaScript gira su un solo thread.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2423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operazioni I/O (file, rete, DB) vengono delegate al kernel o al thread pool di libuv. I risultati tornano sotto forma di callback gestite dall'event loop.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611880" cy="45720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Codice JS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tuo codice gira sul main thread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43400" y="365760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343400" y="3657600"/>
            <a:ext cx="3611880" cy="457200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526280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I/O delegato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26280" y="42976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Lettura file, query DB, richiesta rete: gestite da libuv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3657600"/>
            <a:ext cx="3611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138160" y="3657600"/>
            <a:ext cx="3611880" cy="457200"/>
          </a:xfrm>
          <a:prstGeom prst="rect">
            <a:avLst/>
          </a:prstGeom>
          <a:solidFill>
            <a:srgbClr val="35364A"/>
          </a:solidFill>
          <a:ln w="12700">
            <a:solidFill>
              <a:srgbClr val="3536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321040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Callback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21040" y="42976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l'I/O finisce, la callback torna nella event queue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/ 29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 · SOTTO IL COFANO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Capire l'Event Loop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1064240" cy="105156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109728" cy="105156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68680" y="18105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tuo codice NON viene sempre eseguito nell'ordine in cui lo scrivi.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26771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 esegue prima tutto il codice sincrono, poi smaltisce le "code" di task in attesa secondo una precisa priorità. Questo lavoro lo fa l'Event Loop.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CODICE SCRITTO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760720" cy="2194560"/>
          </a:xfrm>
          <a:prstGeom prst="roundRect">
            <a:avLst>
              <a:gd name="adj" fmla="val 3333"/>
            </a:avLst>
          </a:prstGeom>
          <a:solidFill>
            <a:srgbClr val="1E1F2E"/>
          </a:solidFill>
          <a:ln w="12700">
            <a:solidFill>
              <a:srgbClr val="2020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console.log('1');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setTimeout(() =&gt; console.log('2'), 0);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setImmediate(() =&gt; console.log('3'));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process.nextTick(() =&gt; console.log('4'));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Promise.resolve().then(() =&gt; console.log('5'));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console.log('6');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ORDINE DI ESECUZIONE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3246120"/>
            <a:ext cx="5120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492240" y="3246120"/>
            <a:ext cx="45720" cy="347472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629400" y="3246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32320" y="329184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132320" y="32918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SYNC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01000" y="32461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sincrono — esegue subito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3621024"/>
            <a:ext cx="5120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6492240" y="3621024"/>
            <a:ext cx="45720" cy="347472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629400" y="36210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132320" y="3666744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132320" y="36667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SYNC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01000" y="36210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sincrono — esegue subito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3995928"/>
            <a:ext cx="5120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6492240" y="3995928"/>
            <a:ext cx="45720" cy="347472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629400" y="39959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132320" y="4041648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7132320" y="40416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01000" y="39959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nextTick — microtask prioritaria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92240" y="4370832"/>
            <a:ext cx="5120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6492240" y="4370832"/>
            <a:ext cx="45720" cy="347472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629400" y="43708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132320" y="4416552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7132320" y="4416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01000" y="43708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Promise.then — microtask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4745736"/>
            <a:ext cx="5120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Shape 39"/>
          <p:cNvSpPr/>
          <p:nvPr/>
        </p:nvSpPr>
        <p:spPr>
          <a:xfrm>
            <a:off x="6492240" y="4745736"/>
            <a:ext cx="45720" cy="347472"/>
          </a:xfrm>
          <a:prstGeom prst="rect">
            <a:avLst/>
          </a:prstGeom>
          <a:solidFill>
            <a:srgbClr val="35364A"/>
          </a:solidFill>
          <a:ln w="12700">
            <a:solidFill>
              <a:srgbClr val="3536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6629400" y="47457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132320" y="4791456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35364A"/>
          </a:solidFill>
          <a:ln w="12700">
            <a:solidFill>
              <a:srgbClr val="3536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7132320" y="47914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MACRO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01000" y="474573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setTimeout — macrotask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92240" y="5120640"/>
            <a:ext cx="5120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Shape 45"/>
          <p:cNvSpPr/>
          <p:nvPr/>
        </p:nvSpPr>
        <p:spPr>
          <a:xfrm>
            <a:off x="6492240" y="5120640"/>
            <a:ext cx="45720" cy="347472"/>
          </a:xfrm>
          <a:prstGeom prst="rect">
            <a:avLst/>
          </a:prstGeom>
          <a:solidFill>
            <a:srgbClr val="35364A"/>
          </a:solidFill>
          <a:ln w="12700">
            <a:solidFill>
              <a:srgbClr val="3536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6629400" y="51206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132320" y="516636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35364A"/>
          </a:solidFill>
          <a:ln w="12700">
            <a:solidFill>
              <a:srgbClr val="3536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7132320" y="51663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MACRO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01000" y="51206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setImmediate — macrotask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solidFill>
            <a:srgbClr val="E6EEEE"/>
          </a:solidFill>
          <a:ln w="12700">
            <a:solidFill>
              <a:srgbClr val="E6EE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777240" y="55778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REGOLA: </a:t>
            </a:r>
            <a:r>
              <a:rPr lang="en-US" sz="1200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 tutto il </a:t>
            </a:r>
            <a:r>
              <a:rPr lang="en-US" sz="1200" b="1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sincrono</a:t>
            </a:r>
            <a:r>
              <a:rPr lang="en-US" sz="1200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poi le </a:t>
            </a:r>
            <a:r>
              <a:rPr lang="en-US" sz="1200" b="1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microtask </a:t>
            </a:r>
            <a:r>
              <a:rPr lang="en-US" sz="1200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(nextTick, Promise), infine le </a:t>
            </a:r>
            <a:r>
              <a:rPr lang="en-US" sz="1200" b="1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macrotask </a:t>
            </a:r>
            <a:r>
              <a:rPr lang="en-US" sz="1200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(setTimeout, setImmediate).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48640" y="6080760"/>
            <a:ext cx="6583680" cy="411480"/>
          </a:xfrm>
          <a:prstGeom prst="roundRect">
            <a:avLst>
              <a:gd name="adj" fmla="val 13333"/>
            </a:avLst>
          </a:prstGeom>
          <a:solidFill>
            <a:srgbClr val="E6EEEE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/>
          <p:nvPr/>
        </p:nvSpPr>
        <p:spPr>
          <a:xfrm>
            <a:off x="685800" y="60807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CODICE: </a:t>
            </a:r>
            <a:r>
              <a:rPr lang="en-US" sz="1200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02-event-loop/event-loop-demo.js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 / 29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33B8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SEZIONE  · 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Installazione e primi passi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914400" cy="64008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Setup del runtime, REPL e primo script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3031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20000" dirty="0"/>
          </a:p>
        </p:txBody>
      </p:sp>
      <p:sp>
        <p:nvSpPr>
          <p:cNvPr id="8" name="Text 6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 · INSTALLAZIONE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Installazione di Node.js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Scarica l'installer dal sito ufficiale: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6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https://nodejs.org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5440680" cy="45720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 — consigliata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 Term Support, stabile e supportata per anni. Versione 20.x o 22.x. La useremo nel corso.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2743200"/>
            <a:ext cx="5440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172200" y="2743200"/>
            <a:ext cx="5440680" cy="457200"/>
          </a:xfrm>
          <a:prstGeom prst="rect">
            <a:avLst/>
          </a:prstGeom>
          <a:solidFill>
            <a:srgbClr val="C65015"/>
          </a:solidFill>
          <a:ln w="12700">
            <a:solidFill>
              <a:srgbClr val="C6501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35508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 — sperimentale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33375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Ultima versione con feature più recenti, ma non consigliata in produzione.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11064240" cy="132588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7724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3B8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PIATTAFORME SUPPORTATE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Windows </a:t>
            </a:r>
            <a:r>
              <a:rPr lang="en-US" sz="16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.msi  ·  </a:t>
            </a: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macOS </a:t>
            </a:r>
            <a:r>
              <a:rPr lang="en-US" sz="16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.pkg  ·  </a:t>
            </a: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Linux </a:t>
            </a:r>
            <a:r>
              <a:rPr lang="en-US" sz="16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binari o package manager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 Windows: spunta "Add to PATH". npm si installa automaticamente con Node.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/ 29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 · INSTALLAZIONE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 e REPL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Verificare l'installazione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E1F2E"/>
          </a:solidFill>
          <a:ln w="12700">
            <a:solidFill>
              <a:srgbClr val="2020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-v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v22.0.0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-v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10.5.0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REPL di Node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0" y="228600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1E1F2E"/>
          </a:solidFill>
          <a:ln w="12700">
            <a:solidFill>
              <a:srgbClr val="2020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583680" y="242316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2 + 2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Math.sqrt(144)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.exit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4434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Read-Eval-Print Loop: ambiente interattivo per provare velocemente snippet JS.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1064240" cy="1143000"/>
          </a:xfrm>
          <a:prstGeom prst="rect">
            <a:avLst/>
          </a:prstGeom>
          <a:solidFill>
            <a:srgbClr val="E6EEEE"/>
          </a:solidFill>
          <a:ln w="12700">
            <a:solidFill>
              <a:srgbClr val="E6EEE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73152" cy="114300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7724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Suggerimento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i comandi non funzionano, apri un NUOVO terminale: le variabili d'ambiente si aggiornano all'apertura di una nuova shell.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 / 29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 · INSTALLAZIONE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primo script Node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hello.js, scrivi del codice, esegui con node.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6400800" cy="2377440"/>
          </a:xfrm>
          <a:prstGeom prst="roundRect">
            <a:avLst>
              <a:gd name="adj" fmla="val 3077"/>
            </a:avLst>
          </a:prstGeom>
          <a:solidFill>
            <a:srgbClr val="1E1F2E"/>
          </a:solidFill>
          <a:ln w="12700">
            <a:solidFill>
              <a:srgbClr val="2020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hello.js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console.log('Hello Node!');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console.log('File:', __filename);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console.log('Versione:', process.version);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B8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hello.js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8040" y="2286000"/>
            <a:ext cx="4434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7178040" y="2286000"/>
            <a:ext cx="73152" cy="23774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40664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GLOBALI IN NODE (NON NEL BROWSER)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06640" y="274320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— info su runtime + argv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global — al posto di window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__dirname / __filename — path corrente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Buffer — gestione binaria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64240" cy="960120"/>
          </a:xfrm>
          <a:prstGeom prst="rect">
            <a:avLst/>
          </a:prstGeom>
          <a:solidFill>
            <a:srgbClr val="35364A"/>
          </a:solidFill>
          <a:ln w="12700">
            <a:solidFill>
              <a:srgbClr val="3536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73152" cy="960120"/>
          </a:xfrm>
          <a:prstGeom prst="rect">
            <a:avLst/>
          </a:prstGeom>
          <a:solidFill>
            <a:srgbClr val="C65015"/>
          </a:solidFill>
          <a:ln w="12700">
            <a:solidFill>
              <a:srgbClr val="C6501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7724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3B8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Attenzione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Node NON esistono window, document, alert, fetch (prima di Node 18). Stiamo fuori dal browser!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943600"/>
            <a:ext cx="6400800" cy="411480"/>
          </a:xfrm>
          <a:prstGeom prst="roundRect">
            <a:avLst>
              <a:gd name="adj" fmla="val 13333"/>
            </a:avLst>
          </a:prstGeom>
          <a:solidFill>
            <a:srgbClr val="E6EEEE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85800" y="59436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CODICE: </a:t>
            </a:r>
            <a:r>
              <a:rPr lang="en-US" sz="1200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01-hello/hello.js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/ 29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33B8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SEZIONE  · 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Moduli e npm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914400" cy="64008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 Modules, moduli core e il package manager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3031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20000" dirty="0"/>
          </a:p>
        </p:txBody>
      </p:sp>
      <p:sp>
        <p:nvSpPr>
          <p:cNvPr id="8" name="Text 6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· MODULI E NPM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CommonJS vs ES Modules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Due sistemi di moduli convivono in Node. Nel corso usiamo lo standard moderno: ES Modules.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440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5440680" cy="502920"/>
          </a:xfrm>
          <a:prstGeom prst="rect">
            <a:avLst/>
          </a:prstGeom>
          <a:solidFill>
            <a:srgbClr val="90909B"/>
          </a:solidFill>
          <a:ln w="12700">
            <a:solidFill>
              <a:srgbClr val="90909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77240" y="2286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CommonJS — legacy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2926080"/>
            <a:ext cx="4983480" cy="2880360"/>
          </a:xfrm>
          <a:prstGeom prst="roundRect">
            <a:avLst>
              <a:gd name="adj" fmla="val 2540"/>
            </a:avLst>
          </a:prstGeom>
          <a:solidFill>
            <a:srgbClr val="1E1F2E"/>
          </a:solidFill>
          <a:ln w="12700">
            <a:solidFill>
              <a:srgbClr val="2020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960120" y="3063240"/>
            <a:ext cx="4617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math.js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somma(a,b)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B8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{ somma };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somma } =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B8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require('./math');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2286000"/>
            <a:ext cx="5440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172200" y="2286000"/>
            <a:ext cx="5440680" cy="5029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400800" y="2286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 Modules — il nostro standard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2926080"/>
            <a:ext cx="4983480" cy="2880360"/>
          </a:xfrm>
          <a:prstGeom prst="roundRect">
            <a:avLst>
              <a:gd name="adj" fmla="val 2540"/>
            </a:avLst>
          </a:prstGeom>
          <a:solidFill>
            <a:srgbClr val="1E1F2E"/>
          </a:solidFill>
          <a:ln w="12700">
            <a:solidFill>
              <a:srgbClr val="2020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583680" y="3063240"/>
            <a:ext cx="4617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math.js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B8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somma(a,b)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B8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somma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from './math.js';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console.log(somma(2, 3));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 / 29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· MODULI E NPM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 Modules in pratica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abilitare ESM basta una riga nel package.json.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 package.json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E1F2E"/>
          </a:solidFill>
          <a:ln w="12700">
            <a:solidFill>
              <a:srgbClr val="2020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"mio-progetto",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B8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"module"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 math.js — export named e default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E1F2E"/>
          </a:solidFill>
          <a:ln w="12700">
            <a:solidFill>
              <a:srgbClr val="2020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somma(a, b) { return a + b;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PI = 3.14159;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moltiplica(a, b) { return a * b; 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 app.js — import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26517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E1F2E"/>
          </a:solidFill>
          <a:ln w="12700">
            <a:solidFill>
              <a:srgbClr val="2020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446520" y="27889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somma, PI } from './math.js';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moltiplica from './math.js';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console.log(somma(2, 3));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852160"/>
            <a:ext cx="5943600" cy="411480"/>
          </a:xfrm>
          <a:prstGeom prst="roundRect">
            <a:avLst>
              <a:gd name="adj" fmla="val 13333"/>
            </a:avLst>
          </a:prstGeom>
          <a:solidFill>
            <a:srgbClr val="E6EEEE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85800" y="58521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CODICE: </a:t>
            </a:r>
            <a:r>
              <a:rPr lang="en-US" sz="1200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03-modules/  (math.js + app.js)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/ 29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· MODULI E NPM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5 trappole di ES Modules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73152" cy="7315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"type": "module"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2585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Senza, Node interpreta i .js come CommonJS.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715768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548640" y="2715768"/>
            <a:ext cx="73152" cy="7315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777240" y="2852928"/>
            <a:ext cx="457200" cy="457200"/>
          </a:xfrm>
          <a:prstGeom prst="ellipse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7724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2761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Estensione .js obbligatoria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30998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 './math.js' ✓ — import './math' ✗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57016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548640" y="3557016"/>
            <a:ext cx="73152" cy="7315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777240" y="3694176"/>
            <a:ext cx="457200" cy="457200"/>
          </a:xfrm>
          <a:prstGeom prst="ellipse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77724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36027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__dirname / __filename non esistono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39410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Serve fileURLToPath(import.meta.url).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398264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548640" y="4398264"/>
            <a:ext cx="73152" cy="7315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777240" y="4535424"/>
            <a:ext cx="457200" cy="457200"/>
          </a:xfrm>
          <a:prstGeom prst="ellipse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777240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17320" y="44439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 di JSON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17320" y="47823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 data from './x.json' with { type: 'json' }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239512"/>
            <a:ext cx="11064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548640" y="5239512"/>
            <a:ext cx="73152" cy="7315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777240" y="5376672"/>
            <a:ext cx="457200" cy="457200"/>
          </a:xfrm>
          <a:prstGeom prst="ellipse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777240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17320" y="5285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Top-level await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1732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Disponibile! Comodo per setup all'avvio.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 / 29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· MODULI E NPM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Moduli core più importanti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777240" y="20116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1E1F2E"/>
          </a:solidFill>
          <a:ln w="12700">
            <a:solidFill>
              <a:srgbClr val="1E1F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System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880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Leggere e scrivere file. Versione moderna: fs/promises con async/await.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82880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526280" y="20116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1E1F2E"/>
          </a:solidFill>
          <a:ln w="12700">
            <a:solidFill>
              <a:srgbClr val="1E1F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52628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628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Path cross-platform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2880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Costruire path con il separatore giusto su Windows/macOS/Linux.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182880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8275320" y="20116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1E1F2E"/>
          </a:solidFill>
          <a:ln w="12700">
            <a:solidFill>
              <a:srgbClr val="1E1F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827532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 operativo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75320" y="2880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 su CPU, RAM, utente, hostname, piattaforma.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76472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777240" y="3959352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1E1F2E"/>
          </a:solidFill>
          <a:ln w="12700">
            <a:solidFill>
              <a:srgbClr val="1E1F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777240" y="39593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462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EventEmitter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48280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Pattern degli eventi. Base di http.Server e di tantissimi oggetti Node.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3776472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4526280" y="3959352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1E1F2E"/>
          </a:solidFill>
          <a:ln w="12700">
            <a:solidFill>
              <a:srgbClr val="1E1F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526280" y="39593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26280" y="4462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URL parsing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26280" y="48280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Smontare e analizzare URL. Utile per leggere query string.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46720" y="3776472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8275320" y="3959352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1E1F2E"/>
          </a:solidFill>
          <a:ln w="12700">
            <a:solidFill>
              <a:srgbClr val="1E1F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8275320" y="39593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75320" y="4462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Server HTTP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75320" y="48280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Creare server e fare richieste HTTP. Il prossimo argomento!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806440"/>
            <a:ext cx="7315200" cy="411480"/>
          </a:xfrm>
          <a:prstGeom prst="roundRect">
            <a:avLst>
              <a:gd name="adj" fmla="val 13333"/>
            </a:avLst>
          </a:prstGeom>
          <a:solidFill>
            <a:srgbClr val="E6EEEE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685800" y="580644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CODICE: </a:t>
            </a:r>
            <a:r>
              <a:rPr lang="en-US" sz="1200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04-core-modules/  (fs, path, os, events)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/ 29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· MODULI E NPM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npm — Node Package Manager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registro pubblico di pacchetti JavaScript + la CLI per gestirli.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6400800" cy="3383280"/>
          </a:xfrm>
          <a:prstGeom prst="roundRect">
            <a:avLst>
              <a:gd name="adj" fmla="val 2162"/>
            </a:avLst>
          </a:prstGeom>
          <a:solidFill>
            <a:srgbClr val="1E1F2E"/>
          </a:solidFill>
          <a:ln w="12700">
            <a:solidFill>
              <a:srgbClr val="2020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 un nuovo progetto (genera package.json)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B8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init -y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Installa una dipendenza (la mette in dependencies)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B8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dayjs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Installa una dipendenza solo per sviluppo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B8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--save-dev nodemon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Esegui uno script definito in package.json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B8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start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2286000"/>
            <a:ext cx="4434840" cy="338328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7178040" y="2286000"/>
            <a:ext cx="73152" cy="338328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40664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3B8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E CARTELLE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06640" y="278892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package.json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manifest del progetto e dipendenze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package-lock.json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versioni esatte — SI committa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node_modules/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codice delle dipendenze — NON si committa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852160"/>
            <a:ext cx="6400800" cy="411480"/>
          </a:xfrm>
          <a:prstGeom prst="roundRect">
            <a:avLst>
              <a:gd name="adj" fmla="val 13333"/>
            </a:avLst>
          </a:prstGeom>
          <a:solidFill>
            <a:srgbClr val="E6EEEE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85800" y="585216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CODICE: </a:t>
            </a:r>
            <a:r>
              <a:rPr lang="en-US" sz="1200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05-npm-intro/  (esempio con dayjs)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 / 29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33B8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SEZIONE  · 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modulo http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914400" cy="64008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primo server, route, parametri GET e body POST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3031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20000" dirty="0"/>
          </a:p>
        </p:txBody>
      </p:sp>
      <p:sp>
        <p:nvSpPr>
          <p:cNvPr id="8" name="Text 6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 · IL MODULO HTTP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Cosa significa "fare un server"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 è il protocollo del web: domanda → risposta. Il server resta in ascolto, accetta richieste e risponde.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Browser · App · curl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Postman · altro server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Manda una richiesta HTTP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3108960"/>
            <a:ext cx="3566160" cy="13716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297680" y="2788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REQUEST  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4206240"/>
            <a:ext cx="3566160" cy="137160"/>
          </a:xfrm>
          <a:prstGeom prst="rect">
            <a:avLst/>
          </a:prstGeom>
          <a:solidFill>
            <a:srgbClr val="35364A"/>
          </a:solidFill>
          <a:ln w="12700">
            <a:solidFill>
              <a:srgbClr val="3536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297680" y="4389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◀  RESPONSE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0" y="2606040"/>
            <a:ext cx="3657600" cy="23774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95528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33B8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SERVER NODE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0" y="3108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http.createServer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95528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Riceve, elabora, risponde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Una richiesta HTTP contiene: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METODO </a:t>
            </a: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(GET, POST, PUT, DELETE)  ·  URL  ·  HEADERS  ·  BODY </a:t>
            </a:r>
            <a:r>
              <a:rPr lang="en-US" sz="14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(solo POST/PUT/PATCH)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risposta contiene: STATUS CODE (200, 404, 500) · HEADERS · BODY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 / 29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 · IL MODULO HTTP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Hello World server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primo server HTTP, senza framework. Solo Node nudo e crudo.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7315200" cy="3383280"/>
          </a:xfrm>
          <a:prstGeom prst="roundRect">
            <a:avLst>
              <a:gd name="adj" fmla="val 2162"/>
            </a:avLst>
          </a:prstGeom>
          <a:solidFill>
            <a:srgbClr val="1E1F2E"/>
          </a:solidFill>
          <a:ln w="12700">
            <a:solidFill>
              <a:srgbClr val="2020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6949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3B8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http from 'http';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server = http.createServer((req, res) =&gt;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res.statusCode = 200;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res.setHeader('Content-Type', 'text/plain');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res.end('Hello world!');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server.listen(3000, () =&gt;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console.log('Server su http://localhost:3000');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5661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8046720" y="2286000"/>
            <a:ext cx="73152" cy="338328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27532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COSA SUCCEDE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75320" y="274320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createServer riceve req e 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Impostiamo status e header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res.end() chiude la risposta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listen avvia il server sulla porta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processo resta vivo (event loop)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852160"/>
            <a:ext cx="7315200" cy="411480"/>
          </a:xfrm>
          <a:prstGeom prst="roundRect">
            <a:avLst>
              <a:gd name="adj" fmla="val 13333"/>
            </a:avLst>
          </a:prstGeom>
          <a:solidFill>
            <a:srgbClr val="E6EEEE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85800" y="585216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CODICE: </a:t>
            </a:r>
            <a:r>
              <a:rPr lang="en-US" sz="1200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06-http-hello/server.js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 / 29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 · IL MODULO HTTP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Routing manuale — perché Express?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 il modulo http puro, ogni route va distinta a mano con if/else.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064240" cy="2743200"/>
          </a:xfrm>
          <a:prstGeom prst="roundRect">
            <a:avLst>
              <a:gd name="adj" fmla="val 2667"/>
            </a:avLst>
          </a:prstGeom>
          <a:solidFill>
            <a:srgbClr val="1E1F2E"/>
          </a:solidFill>
          <a:ln w="12700">
            <a:solidFill>
              <a:srgbClr val="2020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10698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server = http.createServer((req, res) =&gt; {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B8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(req.url === '/' &amp;&amp; req.method === 'GET')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res.end('Home');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B8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if (req.url === '/about' &amp;&amp; req.method === 'GET')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res.end('About');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B8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res.statusCode = 404;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res.end('Not Found');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solidFill>
            <a:srgbClr val="35364A"/>
          </a:solidFill>
          <a:ln w="12700">
            <a:solidFill>
              <a:srgbClr val="3536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73152" cy="822960"/>
          </a:xfrm>
          <a:prstGeom prst="rect">
            <a:avLst/>
          </a:prstGeom>
          <a:solidFill>
            <a:srgbClr val="C65015"/>
          </a:solidFill>
          <a:ln w="12700">
            <a:solidFill>
              <a:srgbClr val="C6501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7724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Problema:  con 20 endpoint diventa un incubo da mantenere.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5486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 risolve esattamente questo: app.get(), app.post(), middleware, router modulari.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989320"/>
            <a:ext cx="7315200" cy="411480"/>
          </a:xfrm>
          <a:prstGeom prst="roundRect">
            <a:avLst>
              <a:gd name="adj" fmla="val 13333"/>
            </a:avLst>
          </a:prstGeom>
          <a:solidFill>
            <a:srgbClr val="E6EEEE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85800" y="59893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CODICE: </a:t>
            </a:r>
            <a:r>
              <a:rPr lang="en-US" sz="1200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07-http-routing/server.js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 / 29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 · IL MODULO HTTP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Leggere parametri GET (query string)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Usiamo l'oggetto URL globale per estrarre pathname e parametri.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1E1F2E"/>
          </a:solidFill>
          <a:ln w="12700">
            <a:solidFill>
              <a:srgbClr val="2020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server = http.createServer((req, res) =&gt; {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B8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url = new URL(req.url, `http://${req.headers.host}`);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(url.pathname === '/saluta') {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B8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nome = url.searchParams.get('nome') || 'sconosciuto';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res.end(`Ciao ${nome}!`);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11064240" cy="1097280"/>
          </a:xfrm>
          <a:prstGeom prst="rect">
            <a:avLst/>
          </a:prstGeom>
          <a:solidFill>
            <a:srgbClr val="1E1F2E"/>
          </a:solidFill>
          <a:ln w="12700">
            <a:solidFill>
              <a:srgbClr val="1E1F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77240" y="4846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3B8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PROVA QUESTE URL: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51663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http://localhost:3000/saluta?nome=Mario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0D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http://localhost:3000/saluta?nome=Anna&amp;cognome=Rossi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989320"/>
            <a:ext cx="7315200" cy="411480"/>
          </a:xfrm>
          <a:prstGeom prst="roundRect">
            <a:avLst>
              <a:gd name="adj" fmla="val 13333"/>
            </a:avLst>
          </a:prstGeom>
          <a:solidFill>
            <a:srgbClr val="E6EEEE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85800" y="59893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CODICE: </a:t>
            </a:r>
            <a:r>
              <a:rPr lang="en-US" sz="1200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08-http-get-params/server.js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26 / 29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 · IL MODULO HTTP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Leggere il body POST (stream)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body arriva a "chunk" via stream. Va accumulato e poi processato.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7315200" cy="2468880"/>
          </a:xfrm>
          <a:prstGeom prst="roundRect">
            <a:avLst>
              <a:gd name="adj" fmla="val 2963"/>
            </a:avLst>
          </a:prstGeom>
          <a:solidFill>
            <a:srgbClr val="1E1F2E"/>
          </a:solidFill>
          <a:ln w="12700">
            <a:solidFill>
              <a:srgbClr val="2020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(req.method === 'POST' &amp;&amp; req.url === '/echo')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body = '';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B8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req.on('data', chunk =&gt; { body += chunk.toString(); });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B8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req.on('end', () =&gt;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dati = JSON.parse(body);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res.end(JSON.stringify({ ricevuto: dati }));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E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566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8046720" y="2286000"/>
            <a:ext cx="73152" cy="246888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27532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TESTARE CON CURL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278892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53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53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localhost:3000/echo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53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"Content-Type: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53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application/json" 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536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'{"nome":"Mario"}'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11064240" cy="10058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7724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Express tutto questo diventa: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349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app.use(express.json()); app.post('/echo', (req, res) =&gt; res.json(req.body));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989320"/>
            <a:ext cx="7315200" cy="411480"/>
          </a:xfrm>
          <a:prstGeom prst="roundRect">
            <a:avLst>
              <a:gd name="adj" fmla="val 13333"/>
            </a:avLst>
          </a:prstGeom>
          <a:solidFill>
            <a:srgbClr val="E6EEEE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85800" y="598932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69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CODICE: </a:t>
            </a:r>
            <a:r>
              <a:rPr lang="en-US" sz="1200" dirty="0">
                <a:solidFill>
                  <a:srgbClr val="3536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09-http-post-body/server.js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 / 29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32004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 · IL MODULO HTTP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6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CORSO NODE.JS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Pronti per Express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0" cy="457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Abbiamo visto che già con poche route il codice esplode. Express prende tutta questa fatica e la nasconde sotto un'API semplice ed elegante.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440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5440680" cy="457200"/>
          </a:xfrm>
          <a:prstGeom prst="rect">
            <a:avLst/>
          </a:prstGeom>
          <a:solidFill>
            <a:srgbClr val="35364A"/>
          </a:solidFill>
          <a:ln w="12700">
            <a:solidFill>
              <a:srgbClr val="3536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 http PURO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383280"/>
            <a:ext cx="5029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If/else per ogni route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Body parsing manuale a chunk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Niente helper per JSON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Errori da gestire ovunque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Tanto codice ripetitivo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2788920"/>
            <a:ext cx="5440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BE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6172200" y="2788920"/>
            <a:ext cx="5440680" cy="457200"/>
          </a:xfrm>
          <a:prstGeom prst="rect">
            <a:avLst/>
          </a:prstGeom>
          <a:solidFill>
            <a:srgbClr val="00A69D"/>
          </a:solidFill>
          <a:ln w="12700">
            <a:solidFill>
              <a:srgbClr val="00A69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40080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 EXPRESS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3383280"/>
            <a:ext cx="5029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app.get / app.post / app.put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express.json() per il body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res.json() per la risposta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Middleware per logica trasversale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5566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Router modulari per file separati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77240" y="5989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1182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PROSSIMA TAPPA  ▶  Express: setup, prime route, refactor del nostro server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 / 29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90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Giorno 1 — Parte 1 / Fondamenti di Node.js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80D3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FINE PARTE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Pausa, poi: Express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1097280" cy="54864"/>
          </a:xfrm>
          <a:prstGeom prst="rect">
            <a:avLst/>
          </a:prstGeom>
          <a:solidFill>
            <a:srgbClr val="33B8B1"/>
          </a:solidFill>
          <a:ln w="12700">
            <a:solidFill>
              <a:srgbClr val="33B8B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33B8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Cosa ci portiamo a casa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10698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Node.js è un runtime JS lato server basato su V8 + libuv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Single-thread + event loop = I/O asincrono ad alta concorrenza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 Modules è il nostro standard: ricordare estensione .js negli import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npm gestisce dipendenze e script di progetto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modulo http permette di fare server, ma è verboso → arriva Express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5989320"/>
            <a:ext cx="10698480" cy="502920"/>
          </a:xfrm>
          <a:prstGeom prst="rect">
            <a:avLst/>
          </a:prstGeom>
          <a:solidFill>
            <a:srgbClr val="303143"/>
          </a:solidFill>
          <a:ln w="12700">
            <a:solidFill>
              <a:srgbClr val="30314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B8B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▸ CODICE: </a:t>
            </a: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codice-esempi/giorno-1/  ·  9 mini-progetti pronti da eseguire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3200</Words>
  <Application>Microsoft Office PowerPoint</Application>
  <PresentationFormat>Widescreen</PresentationFormat>
  <Paragraphs>509</Paragraphs>
  <Slides>30</Slides>
  <Notes>29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5" baseType="lpstr">
      <vt:lpstr>Albert Sans ExtraBold</vt:lpstr>
      <vt:lpstr>Arial</vt:lpstr>
      <vt:lpstr>Courier New</vt:lpstr>
      <vt:lpstr>Open Sans</vt:lpstr>
      <vt:lpstr>Office Theme</vt:lpstr>
      <vt:lpstr>Massimo Petrolati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Namirial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Corso Node.js + Express + JWT — Giorno 1 Parte 1</dc:title>
  <dc:subject>Introduzione a Node.js</dc:subject>
  <dc:creator>Massimo Petrolati — Namirial</dc:creator>
  <cp:lastModifiedBy>Massimo Petrolati</cp:lastModifiedBy>
  <cp:revision>1</cp:revision>
  <dcterms:created xsi:type="dcterms:W3CDTF">2026-05-15T14:07:03Z</dcterms:created>
  <dcterms:modified xsi:type="dcterms:W3CDTF">2026-05-16T13:08:07Z</dcterms:modified>
</cp:coreProperties>
</file>